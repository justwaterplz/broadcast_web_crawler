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4a4da453e6408f" /><Relationship Type="http://schemas.openxmlformats.org/officeDocument/2006/relationships/extended-properties" Target="/docProps/app.xml" Id="R704b6acba5f84c0a" /><Relationship Type="http://schemas.openxmlformats.org/officeDocument/2006/relationships/officeDocument" Target="/ppt/presentation.xml" Id="Rc4df1e1ab2cd40ac" /></Relationships>
</file>

<file path=ppt/presentation.xml><?xml version="1.0" encoding="utf-8"?>
<p:presentation xmlns:p="http://schemas.openxmlformats.org/presentationml/2006/main">
  <p:sldMasterIdLst>
    <p:sldMasterId xmlns:r="http://schemas.openxmlformats.org/officeDocument/2006/relationships" id="2147483648" r:id="R9491e236917a495e"/>
  </p:sldMasterIdLst>
  <p:notesMasterIdLst>
    <p:notesMasterId xmlns:r="http://schemas.openxmlformats.org/officeDocument/2006/relationships" r:id="Ra768c86bac42452e"/>
  </p:notesMasterIdLst>
  <p:sldIdLst>
    <p:sldId xmlns:r="http://schemas.openxmlformats.org/officeDocument/2006/relationships" id="256" r:id="Rf93dc1313805492f"/>
    <p:sldId xmlns:r="http://schemas.openxmlformats.org/officeDocument/2006/relationships" id="257" r:id="Rd5312dfe7d124e4a"/>
    <p:sldId xmlns:r="http://schemas.openxmlformats.org/officeDocument/2006/relationships" id="258" r:id="R355624385bba49f3"/>
    <p:sldId xmlns:r="http://schemas.openxmlformats.org/officeDocument/2006/relationships" id="259" r:id="R8efbbade64bd451e"/>
    <p:sldId xmlns:r="http://schemas.openxmlformats.org/officeDocument/2006/relationships" id="260" r:id="R40df54e40b1c442d"/>
    <p:sldId xmlns:r="http://schemas.openxmlformats.org/officeDocument/2006/relationships" id="261" r:id="Rfbaa2094d4de42ba"/>
    <p:sldId xmlns:r="http://schemas.openxmlformats.org/officeDocument/2006/relationships" id="262" r:id="Rf62567e56cda4c79"/>
    <p:sldId xmlns:r="http://schemas.openxmlformats.org/officeDocument/2006/relationships" id="263" r:id="Rd619f575ac074d2b"/>
    <p:sldId xmlns:r="http://schemas.openxmlformats.org/officeDocument/2006/relationships" id="264" r:id="R78774ca51bff47ad"/>
    <p:sldId xmlns:r="http://schemas.openxmlformats.org/officeDocument/2006/relationships" id="265" r:id="R21e3b04701544354"/>
    <p:sldId xmlns:r="http://schemas.openxmlformats.org/officeDocument/2006/relationships" id="266" r:id="R2d46c75ccd2a4570"/>
    <p:sldId xmlns:r="http://schemas.openxmlformats.org/officeDocument/2006/relationships" id="267" r:id="R517c3cc6e2e44582"/>
    <p:sldId xmlns:r="http://schemas.openxmlformats.org/officeDocument/2006/relationships" id="268" r:id="R5d9e77ff10e94f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a2fa6909564a70" /><Relationship Type="http://schemas.openxmlformats.org/officeDocument/2006/relationships/slideMaster" Target="/ppt/slideMasters/slideMaster1.xml" Id="R9491e236917a495e" /><Relationship Type="http://schemas.openxmlformats.org/officeDocument/2006/relationships/notesMaster" Target="/ppt/notesMasters/notesMaster1.xml" Id="Ra768c86bac42452e" /><Relationship Type="http://schemas.openxmlformats.org/officeDocument/2006/relationships/presProps" Target="/ppt/presProps.xml" Id="Rca9404060c454eb2" /><Relationship Type="http://schemas.openxmlformats.org/officeDocument/2006/relationships/tableStyles" Target="/ppt/tableStyles.xml" Id="R13cb4d96afb147f1" /><Relationship Type="http://schemas.openxmlformats.org/officeDocument/2006/relationships/slide" Target="/ppt/slides/slide1.xml" Id="Rf93dc1313805492f" /><Relationship Type="http://schemas.openxmlformats.org/officeDocument/2006/relationships/slide" Target="/ppt/slides/slide2.xml" Id="Rd5312dfe7d124e4a" /><Relationship Type="http://schemas.openxmlformats.org/officeDocument/2006/relationships/slide" Target="/ppt/slides/slide3.xml" Id="R355624385bba49f3" /><Relationship Type="http://schemas.openxmlformats.org/officeDocument/2006/relationships/slide" Target="/ppt/slides/slide4.xml" Id="R8efbbade64bd451e" /><Relationship Type="http://schemas.openxmlformats.org/officeDocument/2006/relationships/slide" Target="/ppt/slides/slide5.xml" Id="R40df54e40b1c442d" /><Relationship Type="http://schemas.openxmlformats.org/officeDocument/2006/relationships/slide" Target="/ppt/slides/slide6.xml" Id="Rfbaa2094d4de42ba" /><Relationship Type="http://schemas.openxmlformats.org/officeDocument/2006/relationships/slide" Target="/ppt/slides/slide7.xml" Id="Rf62567e56cda4c79" /><Relationship Type="http://schemas.openxmlformats.org/officeDocument/2006/relationships/slide" Target="/ppt/slides/slide8.xml" Id="Rd619f575ac074d2b" /><Relationship Type="http://schemas.openxmlformats.org/officeDocument/2006/relationships/slide" Target="/ppt/slides/slide9.xml" Id="R78774ca51bff47ad" /><Relationship Type="http://schemas.openxmlformats.org/officeDocument/2006/relationships/slide" Target="/ppt/slides/slide10.xml" Id="R21e3b04701544354" /><Relationship Type="http://schemas.openxmlformats.org/officeDocument/2006/relationships/slide" Target="/ppt/slides/slide11.xml" Id="R2d46c75ccd2a4570" /><Relationship Type="http://schemas.openxmlformats.org/officeDocument/2006/relationships/slide" Target="/ppt/slides/slide12.xml" Id="R517c3cc6e2e44582" /><Relationship Type="http://schemas.openxmlformats.org/officeDocument/2006/relationships/slide" Target="/ppt/slides/slide13.xml" Id="R5d9e77ff10e94f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09a7ab573048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5dc7a5d4b24a0d" /><Relationship Type="http://schemas.openxmlformats.org/officeDocument/2006/relationships/notesMaster" Target="/ppt/notesMasters/notesMaster1.xml" Id="R97ad4d7e3bb74f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53e1dc3369462a" /><Relationship Type="http://schemas.openxmlformats.org/officeDocument/2006/relationships/notesMaster" Target="/ppt/notesMasters/notesMaster1.xml" Id="Rba64671a6f3b46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f7b9c5ef464d87" /><Relationship Type="http://schemas.openxmlformats.org/officeDocument/2006/relationships/notesMaster" Target="/ppt/notesMasters/notesMaster1.xml" Id="R3ef0444255a445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fabe07628944e6" /><Relationship Type="http://schemas.openxmlformats.org/officeDocument/2006/relationships/notesMaster" Target="/ppt/notesMasters/notesMaster1.xml" Id="R1e82b296b58249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1406e30a6f407a" /><Relationship Type="http://schemas.openxmlformats.org/officeDocument/2006/relationships/notesMaster" Target="/ppt/notesMasters/notesMaster1.xml" Id="R4c6d22e1ba5a49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036039cbec4e15" /><Relationship Type="http://schemas.openxmlformats.org/officeDocument/2006/relationships/notesMaster" Target="/ppt/notesMasters/notesMaster1.xml" Id="Red97b1e8ba6d40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10eb0d30ab43b6" /><Relationship Type="http://schemas.openxmlformats.org/officeDocument/2006/relationships/notesMaster" Target="/ppt/notesMasters/notesMaster1.xml" Id="R55ddc19057434d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d8f042c1d84110" /><Relationship Type="http://schemas.openxmlformats.org/officeDocument/2006/relationships/notesMaster" Target="/ppt/notesMasters/notesMaster1.xml" Id="Rf722360c59ee49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0f1f3cc2ff4e8b" /><Relationship Type="http://schemas.openxmlformats.org/officeDocument/2006/relationships/notesMaster" Target="/ppt/notesMasters/notesMaster1.xml" Id="R8cfe2ba64ae341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bbd89a80814505" /><Relationship Type="http://schemas.openxmlformats.org/officeDocument/2006/relationships/notesMaster" Target="/ppt/notesMasters/notesMaster1.xml" Id="R4ad5ea6e66044b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fd6692573b4de5" /><Relationship Type="http://schemas.openxmlformats.org/officeDocument/2006/relationships/notesMaster" Target="/ppt/notesMasters/notesMaster1.xml" Id="R9f56711b34284f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d343086ae74caa" /><Relationship Type="http://schemas.openxmlformats.org/officeDocument/2006/relationships/notesMaster" Target="/ppt/notesMasters/notesMaster1.xml" Id="Rc7732b3c184d42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81532d52e44ada" /><Relationship Type="http://schemas.openxmlformats.org/officeDocument/2006/relationships/notesMaster" Target="/ppt/notesMasters/notesMaster1.xml" Id="Rbc535a9ccec540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화면: D:/MMLAB/projects/broadcast_web_crawler/reports/1/tving_drama1.png</a:t>
            </a:r>
          </a:p>
          <a:p xmlns:a="http://schemas.openxmlformats.org/drawingml/2006/main">
            <a:r>
              <a:t>원문: https://www.tving.com/more/genre/PCA</a:t>
            </a:r>
          </a:p>
          <a:p xmlns:a="http://schemas.openxmlformats.org/drawingml/2006/main">
            <a:r>
              <a:t>실제 집계: D:/MMLAB/projects/broadcast_web_crawler/data/tving/20261007_210908_251349_드라마_전체/collection-report.json</a:t>
            </a:r>
          </a:p>
          <a:p xmlns:a="http://schemas.openxmlformats.org/drawingml/2006/main">
            <a:r>
              <a:t>2026-10-07 저장 배치의 성공 작품 20, 수집 회차 341, 시놉시스 있는 회차 341. 화면 캡처의 작품 순서는 해당 과거 배치 순서를 증명하지 않습니다. 작품별 전체 시즌의 완전성을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수집 근거: D:/MMLAB/projects/broadcast_web_crawler/data/namuwiki/20261008_144044_283930_나무위키_냉장고를 부탁해/contents.json</a:t>
            </a:r>
          </a:p>
          <a:p xmlns:a="http://schemas.openxmlformats.org/drawingml/2006/main">
            <a:r>
              <a:t>위키 포핸즈 URL: https://namu.wiki/w/%ED%8F%AC%ED%95%B8%EC%A6%88</a:t>
            </a:r>
          </a:p>
          <a:p xmlns:a="http://schemas.openxmlformats.org/drawingml/2006/main">
            <a:r>
              <a:t>포핸즈 본문 및 하위 문서 존재는 사용자 직접 확인 근거입니다. 도구 조회는 실패했으므로 구체적 하위 문서 목록이나 수집 결과는 검증 완료로 제시하지 않습니다. 현재 namuwiki.py는 관련 문서 링크 저장까지 지원하며 선택 문서 추가 수집 UI는 후속 구현입니다. 폴더 reports/1에는 나무위키 캡처가 없습니다. 냉장고를 부탁해의 254회는 시즌 1 정보이고 episodes 배열은 비어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d9133d5ded40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6823a51ca948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a9607f0dfc43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3294988f7244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2e795ed11c48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4c18b4b7f44c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4fcd025c9c4873" /><Relationship Type="http://schemas.openxmlformats.org/officeDocument/2006/relationships/slideLayout" Target="/ppt/slideLayouts/slideLayout1.xml" Id="R83f434352f594b89" /><Relationship Type="http://schemas.openxmlformats.org/officeDocument/2006/relationships/slideLayout" Target="/ppt/slideLayouts/slideLayout2.xml" Id="R83b97a7b4e8f4126" /><Relationship Type="http://schemas.openxmlformats.org/officeDocument/2006/relationships/slideLayout" Target="/ppt/slideLayouts/slideLayout3.xml" Id="Rf9f7edc52a4f4cd8" /><Relationship Type="http://schemas.openxmlformats.org/officeDocument/2006/relationships/slideLayout" Target="/ppt/slideLayouts/slideLayout4.xml" Id="R0e7caab710f34319" /><Relationship Type="http://schemas.openxmlformats.org/officeDocument/2006/relationships/slideLayout" Target="/ppt/slideLayouts/slideLayout5.xml" Id="Rc82a0e5f8bfe4218" /><Relationship Type="http://schemas.openxmlformats.org/officeDocument/2006/relationships/slideLayout" Target="/ppt/slideLayouts/slideLayout6.xml" Id="R9df1b16f6eaa45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f434352f594b89"/>
    <p:sldLayoutId xmlns:r="http://schemas.openxmlformats.org/officeDocument/2006/relationships" id="2147483650" r:id="R83b97a7b4e8f4126"/>
    <p:sldLayoutId xmlns:r="http://schemas.openxmlformats.org/officeDocument/2006/relationships" id="2147483651" r:id="Rf9f7edc52a4f4cd8"/>
    <p:sldLayoutId xmlns:r="http://schemas.openxmlformats.org/officeDocument/2006/relationships" id="2147483652" r:id="R0e7caab710f34319"/>
    <p:sldLayoutId xmlns:r="http://schemas.openxmlformats.org/officeDocument/2006/relationships" id="2147483653" r:id="Rc82a0e5f8bfe4218"/>
    <p:sldLayoutId xmlns:r="http://schemas.openxmlformats.org/officeDocument/2006/relationships" id="2147483654" r:id="R9df1b16f6eaa45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571449e8764023" /><Relationship Type="http://schemas.openxmlformats.org/officeDocument/2006/relationships/notesSlide" Target="/ppt/notesSlides/notesSlide1.xml" Id="R232b6ff9205347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f58b196b82437a" /><Relationship Type="http://schemas.openxmlformats.org/officeDocument/2006/relationships/notesSlide" Target="/ppt/notesSlides/notesSlide2.xml" Id="R32ce60a5d8b04e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dd35f2127a4656" /><Relationship Type="http://schemas.openxmlformats.org/officeDocument/2006/relationships/image" Target="/ppt/media/image.png" Id="R40ad173a536b4bdf" /><Relationship Type="http://schemas.openxmlformats.org/officeDocument/2006/relationships/notesSlide" Target="/ppt/notesSlides/notesSlide3.xml" Id="R0d51b232bf3147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c7605b6a6540ba" /><Relationship Type="http://schemas.openxmlformats.org/officeDocument/2006/relationships/image" Target="/ppt/media/image2.png" Id="R2aa429627fe240c1" /><Relationship Type="http://schemas.openxmlformats.org/officeDocument/2006/relationships/image" Target="/ppt/media/image3.png" Id="Rf1521cd629a44466" /><Relationship Type="http://schemas.openxmlformats.org/officeDocument/2006/relationships/notesSlide" Target="/ppt/notesSlides/notesSlide4.xml" Id="R7f3e640f4c424b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13fcdf341e4f7c" /><Relationship Type="http://schemas.openxmlformats.org/officeDocument/2006/relationships/image" Target="/ppt/media/image4.png" Id="R4c27d10ccb31465b" /><Relationship Type="http://schemas.openxmlformats.org/officeDocument/2006/relationships/notesSlide" Target="/ppt/notesSlides/notesSlide5.xml" Id="R970129fbd2a544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9d5198d37746ff" /><Relationship Type="http://schemas.openxmlformats.org/officeDocument/2006/relationships/image" Target="/ppt/media/image5.png" Id="Rd821405a3233434c" /><Relationship Type="http://schemas.openxmlformats.org/officeDocument/2006/relationships/notesSlide" Target="/ppt/notesSlides/notesSlide6.xml" Id="Rdfe1ebab37b74d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7b6735e65c4f2f" /><Relationship Type="http://schemas.openxmlformats.org/officeDocument/2006/relationships/image" Target="/ppt/media/image6.png" Id="R3119c0724c7a4906" /><Relationship Type="http://schemas.openxmlformats.org/officeDocument/2006/relationships/notesSlide" Target="/ppt/notesSlides/notesSlide7.xml" Id="Reb4d8b3c817b47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010e1ddf8f4055" /><Relationship Type="http://schemas.openxmlformats.org/officeDocument/2006/relationships/image" Target="/ppt/media/image7.png" Id="R6ef6f926bdab4d81" /><Relationship Type="http://schemas.openxmlformats.org/officeDocument/2006/relationships/notesSlide" Target="/ppt/notesSlides/notesSlide8.xml" Id="R6f423e121c7c44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eb4436cea24321" /><Relationship Type="http://schemas.openxmlformats.org/officeDocument/2006/relationships/image" Target="/ppt/media/image8.png" Id="R6cced1b3b1954c57" /><Relationship Type="http://schemas.openxmlformats.org/officeDocument/2006/relationships/image" Target="/ppt/media/image9.png" Id="R8fdae8c65a264c11" /><Relationship Type="http://schemas.openxmlformats.org/officeDocument/2006/relationships/notesSlide" Target="/ppt/notesSlides/notesSlide9.xml" Id="Rc428bd165b024c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7ea08d0d8614518" /><Relationship Type="http://schemas.openxmlformats.org/officeDocument/2006/relationships/image" Target="/ppt/media/image10.png" Id="R6d3a3b9a363047ea" /><Relationship Type="http://schemas.openxmlformats.org/officeDocument/2006/relationships/notesSlide" Target="/ppt/notesSlides/notesSlide10.xml" Id="R5afcdf3afb8a4c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c4810af30645dc" /><Relationship Type="http://schemas.openxmlformats.org/officeDocument/2006/relationships/notesSlide" Target="/ppt/notesSlides/notesSlide11.xml" Id="R4e284ea2691549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767360c30a4075" /><Relationship Type="http://schemas.openxmlformats.org/officeDocument/2006/relationships/image" Target="/ppt/media/image11.png" Id="R12aa75ef697d4d4a" /><Relationship Type="http://schemas.openxmlformats.org/officeDocument/2006/relationships/notesSlide" Target="/ppt/notesSlides/notesSlide12.xml" Id="R8e215fa0f8e346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5fbf31ca4d14243" /><Relationship Type="http://schemas.openxmlformats.org/officeDocument/2006/relationships/image" Target="/ppt/media/image12.png" Id="R3513cca691fe4dd7" /><Relationship Type="http://schemas.openxmlformats.org/officeDocument/2006/relationships/image" Target="/ppt/media/image13.png" Id="R753464dcc53244f2" /><Relationship Type="http://schemas.openxmlformats.org/officeDocument/2006/relationships/notesSlide" Target="/ppt/notesSlides/notesSlide13.xml" Id="Ra0503deec4c24e6d"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
            <a:extLst xmlns:a="http://schemas.openxmlformats.org/drawingml/2006/main">
              <a:ext uri="{FF2B5EF4-FFF2-40B4-BE49-F238E27FC236}">
                <a16:creationId xmlns:a16="http://schemas.microsoft.com/office/drawing/2014/main" id="{10842769-F049-4C5C-97EA-CC7E73A5A8B8}"/>
              </a:ext>
            </a:extLst>
          </p:cNvPr>
          <p:cNvGraphicFramePr/>
          <p:nvPr/>
        </p:nvGraphicFramePr>
        <p:xfrm>
          <a:off xmlns:a="http://schemas.openxmlformats.org/drawingml/2006/main" x="609600" y="1952625"/>
          <a:ext xmlns:a="http://schemas.openxmlformats.org/drawingml/2006/main" cx="10972800" cy="2381250"/>
        </p:xfrm>
        <a:graphic xmlns:a="http://schemas.openxmlformats.org/drawingml/2006/main">
          <a:graphicData uri="http://schemas.openxmlformats.org/drawingml/2006/table">
            <a:tbl>
              <a:tblPr/>
              <a:tblGrid>
                <a:gridCol w="5619750"/>
                <a:gridCol w="5353050"/>
              </a:tblGrid>
              <a:tr h="595313">
                <a:tc>
                  <a:txBody>
                    <a:bodyPr lIns="114300" tIns="114300" rIns="114300" bIns="114300"/>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lIns="114300" tIns="114300" rIns="114300" bIns="114300"/>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lIns="114300" tIns="114300" rIns="114300" bIns="114300"/>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lIns="114300" tIns="114300" rIns="114300" bIns="114300"/>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lIns="114300" tIns="114300" rIns="114300" bIns="114300"/>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
            <a:extLst xmlns:a="http://schemas.openxmlformats.org/drawingml/2006/main">
              <a:ext uri="{FF2B5EF4-FFF2-40B4-BE49-F238E27FC236}">
                <a16:creationId xmlns:a16="http://schemas.microsoft.com/office/drawing/2014/main" id="{80E3108D-7BA6-4868-B3C9-8081F72039C7}"/>
              </a:ext>
            </a:extLst>
          </p:cNvPr>
          <p:cNvPicPr>
            <a:picLocks xmlns:a="http://schemas.openxmlformats.org/drawingml/2006/main" noChangeAspect="1"/>
          </p:cNvPicPr>
          <p:nvPr/>
        </p:nvPicPr>
        <p:blipFill>
          <a:blip xmlns:r="http://schemas.openxmlformats.org/officeDocument/2006/relationships" xmlns:a="http://schemas.openxmlformats.org/drawingml/2006/main" r:embed="R40ad173a536b4bdf"/>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r>
              <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
            <a:extLst xmlns:a="http://schemas.openxmlformats.org/drawingml/2006/main">
              <a:ext uri="{FF2B5EF4-FFF2-40B4-BE49-F238E27FC236}">
                <a16:creationId xmlns:a16="http://schemas.microsoft.com/office/drawing/2014/main" id="{26D5385C-DAC3-438B-BA53-D3A022535F3A}"/>
              </a:ext>
            </a:extLst>
          </p:cNvPr>
          <p:cNvPicPr>
            <a:picLocks xmlns:a="http://schemas.openxmlformats.org/drawingml/2006/main" noChangeAspect="1"/>
          </p:cNvPicPr>
          <p:nvPr/>
        </p:nvPicPr>
        <p:blipFill>
          <a:blip xmlns:r="http://schemas.openxmlformats.org/officeDocument/2006/relationships" xmlns:a="http://schemas.openxmlformats.org/drawingml/2006/main" r:embed="R2aa429627fe240c1"/>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565D374-A0B1-4CCE-B30B-A343741849B7}"/>
              </a:ext>
            </a:extLst>
          </p:cNvPr>
          <p:cNvPicPr>
            <a:picLocks xmlns:a="http://schemas.openxmlformats.org/drawingml/2006/main" noChangeAspect="1"/>
          </p:cNvPicPr>
          <p:nvPr/>
        </p:nvPicPr>
        <p:blipFill>
          <a:blip xmlns:r="http://schemas.openxmlformats.org/officeDocument/2006/relationships" xmlns:a="http://schemas.openxmlformats.org/drawingml/2006/main" r:embed="Rf1521cd629a44466"/>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
            <a:extLst xmlns:a="http://schemas.openxmlformats.org/drawingml/2006/main">
              <a:ext uri="{FF2B5EF4-FFF2-40B4-BE49-F238E27FC236}">
                <a16:creationId xmlns:a16="http://schemas.microsoft.com/office/drawing/2014/main" id="{860DE96C-09F8-414E-BA47-5EE161F84CFD}"/>
              </a:ext>
            </a:extLst>
          </p:cNvPr>
          <p:cNvPicPr>
            <a:picLocks xmlns:a="http://schemas.openxmlformats.org/drawingml/2006/main" noChangeAspect="1"/>
          </p:cNvPicPr>
          <p:nvPr/>
        </p:nvPicPr>
        <p:blipFill>
          <a:blip xmlns:r="http://schemas.openxmlformats.org/officeDocument/2006/relationships" xmlns:a="http://schemas.openxmlformats.org/drawingml/2006/main" r:embed="R4c27d10ccb31465b"/>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robots.txt에서 수집 제한 확인</a:t>
            </a:r>
          </a:p>
        </p:txBody>
      </p:sp>
      <p:sp>
        <p:nvSpPr>
          <p:cNvPr id="4" name="">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자동 수집 제한 확인 후 브라우저에서 데이터 존재 점검 / 직접 API 조회 결과는 다음 검증에서 설명</a:t>
            </a:r>
          </a:p>
        </p:txBody>
      </p:sp>
      <p:sp>
        <p:nvSpPr>
          <p:cNvPr id="10" name="">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
            <a:extLst xmlns:a="http://schemas.openxmlformats.org/drawingml/2006/main">
              <a:ext uri="{FF2B5EF4-FFF2-40B4-BE49-F238E27FC236}">
                <a16:creationId xmlns:a16="http://schemas.microsoft.com/office/drawing/2014/main" id="{3A5DB7C1-E7C4-4142-A2EB-18D64AD88260}"/>
              </a:ext>
            </a:extLst>
          </p:cNvPr>
          <p:cNvPicPr>
            <a:picLocks xmlns:a="http://schemas.openxmlformats.org/drawingml/2006/main" noChangeAspect="1"/>
          </p:cNvPicPr>
          <p:nvPr/>
        </p:nvPicPr>
        <p:blipFill>
          <a:blip xmlns:r="http://schemas.openxmlformats.org/officeDocument/2006/relationships" xmlns:a="http://schemas.openxmlformats.org/drawingml/2006/main" r:embed="Rd821405a3233434c"/>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73E4FD6E-40CE-4B28-9250-65FFFE03BC72}"/>
              </a:ext>
            </a:extLst>
          </p:cNvPr>
          <p:cNvGraphicFramePr/>
          <p:nvPr/>
        </p:nvGraphicFramePr>
        <p:xfrm>
          <a:off xmlns:a="http://schemas.openxmlformats.org/drawingml/2006/main" x="4724400" y="1438275"/>
          <a:ext xmlns:a="http://schemas.openxmlformats.org/drawingml/2006/main" cx="6858000" cy="3381375"/>
        </p:xfrm>
        <a:graphic xmlns:a="http://schemas.openxmlformats.org/drawingml/2006/main">
          <a:graphicData uri="http://schemas.openxmlformats.org/drawingml/2006/table">
            <a:tbl>
              <a:tblPr/>
              <a:tblGrid>
                <a:gridCol w="1666875"/>
                <a:gridCol w="5191125"/>
              </a:tblGrid>
              <a:tr h="563563">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확보한 정보</a:t>
                      </a:r>
                    </a:p>
                  </a:txBody>
                  <a:tcPr marL="91440" marR="91440" marT="45720" marB="45720" anchor="ctr">
                    <a:solidFill>
                      <a:srgbClr val="EEEBF7"/>
                    </a:solidFill>
                  </a:tcPr>
                </a:tc>
              </a:tr>
              <a:tr h="563563">
                <a:tc>
                  <a:txBody>
                    <a:bodyPr lIns="114300" tIns="114300" rIns="114300" bIns="114300"/>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포핸즈, tvN, 12회, 15세 이상</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각 인물의 상세 설명</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프로그램 소개와 인물 설명을 구조화된 JSON으로 저장</a:t>
            </a:r>
          </a:p>
        </p:txBody>
      </p:sp>
      <p:sp>
        <p:nvSpPr>
          <p:cNvPr id="5" name="">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API 실측: 2026.10.12 / 두 응답에는 회차별 시놉시스 없음</a:t>
            </a:r>
          </a:p>
        </p:txBody>
      </p:sp>
      <p:sp>
        <p:nvSpPr>
          <p:cNvPr id="6" name="">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D4117B-DA49-48FB-ADF1-9C1461D2B38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페이지의 API 응답에서 작품 정보 확인</a:t>
            </a:r>
          </a:p>
        </p:txBody>
      </p:sp>
      <p:pic>
        <p:nvPicPr>
          <p:cNvPr id="2" name="">
            <a:extLst xmlns:a="http://schemas.openxmlformats.org/drawingml/2006/main">
              <a:ext uri="{FF2B5EF4-FFF2-40B4-BE49-F238E27FC236}">
                <a16:creationId xmlns:a16="http://schemas.microsoft.com/office/drawing/2014/main" id="{EB4E4374-3F2A-417E-8A46-4E36E7E8728A}"/>
              </a:ext>
            </a:extLst>
          </p:cNvPr>
          <p:cNvPicPr>
            <a:picLocks xmlns:a="http://schemas.openxmlformats.org/drawingml/2006/main" noChangeAspect="1"/>
          </p:cNvPicPr>
          <p:nvPr/>
        </p:nvPicPr>
        <p:blipFill>
          <a:blip xmlns:r="http://schemas.openxmlformats.org/officeDocument/2006/relationships" xmlns:a="http://schemas.openxmlformats.org/drawingml/2006/main" r:embed="R3119c0724c7a4906"/>
          <a:stretch xmlns:a="http://schemas.openxmlformats.org/drawingml/2006/main"/>
        </p:blipFill>
        <p:spPr>
          <a:xfrm xmlns:a="http://schemas.openxmlformats.org/drawingml/2006/main">
            <a:off x="1267691" y="1552575"/>
            <a:ext cx="3684443" cy="3524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5094C3A-DE27-447E-B9ED-66EFD5A81C25}"/>
              </a:ext>
            </a:extLst>
          </p:cNvPr>
          <p:cNvSpPr>
            <a:spLocks xmlns:a="http://schemas.openxmlformats.org/drawingml/2006/main" noGrp="1"/>
          </p:cNvSpPr>
          <p:nvPr/>
        </p:nvSpPr>
        <p:spPr>
          <a:xfrm xmlns:a="http://schemas.openxmlformats.org/drawingml/2006/main">
            <a:off x="6038850" y="1381125"/>
            <a:ext cx="554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프로그램 정보 / 등장인물 정보</a:t>
            </a:r>
          </a:p>
        </p:txBody>
      </p:sp>
      <p:graphicFrame>
        <p:nvGraphicFramePr>
          <p:cNvPr id="4" name="">
            <a:extLst xmlns:a="http://schemas.openxmlformats.org/drawingml/2006/main">
              <a:ext uri="{FF2B5EF4-FFF2-40B4-BE49-F238E27FC236}">
                <a16:creationId xmlns:a16="http://schemas.microsoft.com/office/drawing/2014/main" id="{5F1ADB75-E7C7-4014-9BB3-E0E84DB6484E}"/>
              </a:ext>
            </a:extLst>
          </p:cNvPr>
          <p:cNvGraphicFramePr/>
          <p:nvPr/>
        </p:nvGraphicFramePr>
        <p:xfrm>
          <a:off xmlns:a="http://schemas.openxmlformats.org/drawingml/2006/main" x="6038850" y="2038350"/>
          <a:ext xmlns:a="http://schemas.openxmlformats.org/drawingml/2006/main" cx="5543550" cy="2857500"/>
        </p:xfrm>
        <a:graphic xmlns:a="http://schemas.openxmlformats.org/drawingml/2006/main">
          <a:graphicData uri="http://schemas.openxmlformats.org/drawingml/2006/table">
            <a:tbl>
              <a:tblPr/>
              <a:tblGrid>
                <a:gridCol w="2619375"/>
                <a:gridCol w="2924175"/>
              </a:tblGrid>
              <a:tr h="571500">
                <a:tc>
                  <a:txBody>
                    <a:bodyPr lIns="114300" tIns="114300" rIns="114300" bIns="114300"/>
                    <a:lstStyle/>
                    <a:p>
                      <a:r>
                        <a:rPr sz="1725" b="1">
                          <a:solidFill>
                            <a:srgbClr val="716095"/>
                          </a:solidFill>
                          <a:latin typeface="Malgun Gothic"/>
                          <a:ea typeface="Malgun Gothic"/>
                          <a:cs typeface="Malgun Gothic"/>
                        </a:rPr>
                        <a:t>검증 조건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두 API의 결과</a:t>
                      </a:r>
                    </a:p>
                  </a:txBody>
                  <a:tcPr marL="91440" marR="91440" marT="45720" marB="45720" anchor="ctr">
                    <a:solidFill>
                      <a:srgbClr val="EEEBF7"/>
                    </a:solidFill>
                  </a:tcPr>
                </a:tc>
              </a:tr>
              <a:tr h="571500">
                <a:tc>
                  <a:txBody>
                    <a:bodyPr lIns="114300" tIns="114300" rIns="114300" bIns="114300"/>
                    <a:lstStyle/>
                    <a:p>
                      <a:r>
                        <a:rPr sz="1725" b="0">
                          <a:solidFill>
                            <a:srgbClr val="303044"/>
                          </a:solidFill>
                          <a:latin typeface="Malgun Gothic"/>
                          <a:ea typeface="Malgun Gothic"/>
                          <a:cs typeface="Malgun Gothic"/>
                        </a:rPr>
                        <a:t>직접 HTTP 요청</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200 OK / resultCd 0000</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브라우저·로그인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사용하지 않음</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Cookie·Authorization</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사용하지 않음</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기존 응답 비교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JSON 내용 동일</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056B699-F0E3-403D-914A-443581805B77}"/>
              </a:ext>
            </a:extLst>
          </p:cNvPr>
          <p:cNvSpPr>
            <a:spLocks xmlns:a="http://schemas.openxmlformats.org/drawingml/2006/main" noGrp="1"/>
          </p:cNvSpPr>
          <p:nvPr/>
        </p:nvSpPr>
        <p:spPr>
          <a:xfrm xmlns:a="http://schemas.openxmlformats.org/drawingml/2006/main">
            <a:off x="609600" y="5429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16095"/>
                </a:solidFill>
                <a:latin typeface="Malgun Gothic"/>
                <a:ea typeface="Malgun Gothic"/>
                <a:cs typeface="Malgun Gothic"/>
              </a:defRPr>
            </a:defPPr>
          </a:lstStyle>
          <a:p xmlns:a="http://schemas.openxmlformats.org/drawingml/2006/main">
            <a:pPr>
              <a:buNone/>
              <a:defRPr sz="2325" b="1">
                <a:solidFill>
                  <a:srgbClr val="716095"/>
                </a:solidFill>
                <a:latin typeface="Malgun Gothic"/>
                <a:ea typeface="Malgun Gothic"/>
                <a:cs typeface="Malgun Gothic"/>
              </a:defRPr>
            </a:pPr>
            <a:r>
              <a:rPr sz="2325" b="1">
                <a:solidFill>
                  <a:srgbClr val="716095"/>
                </a:solidFill>
                <a:latin typeface="Malgun Gothic"/>
                <a:ea typeface="Malgun Gothic"/>
                <a:cs typeface="Malgun Gothic"/>
              </a:rPr>
              <a:t>추가 검증: Python 직접 조회와 JSON 저장 성공</a:t>
            </a:r>
          </a:p>
        </p:txBody>
      </p:sp>
      <p:sp>
        <p:nvSpPr>
          <p:cNvPr id="6" name="">
            <a:extLst xmlns:a="http://schemas.openxmlformats.org/drawingml/2006/main">
              <a:ext uri="{FF2B5EF4-FFF2-40B4-BE49-F238E27FC236}">
                <a16:creationId xmlns:a16="http://schemas.microsoft.com/office/drawing/2014/main" id="{D3575E07-5676-48E5-88B0-149EC94B1C4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브라우저 응답 확인 후 두 API 직접 호출 검증 / 2026.10.12 / 정책상 제한과 기술적 성공은 구분</a:t>
            </a:r>
          </a:p>
        </p:txBody>
      </p:sp>
      <p:sp>
        <p:nvSpPr>
          <p:cNvPr id="7" name="">
            <a:extLst xmlns:a="http://schemas.openxmlformats.org/drawingml/2006/main">
              <a:ext uri="{FF2B5EF4-FFF2-40B4-BE49-F238E27FC236}">
                <a16:creationId xmlns:a16="http://schemas.microsoft.com/office/drawing/2014/main" id="{129F01D3-6DBD-443F-A271-5A4E15048CBA}"/>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1F7316-6CCF-4245-A0A5-BE2D76C5BA9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같은 포핸즈의 회차 정보로 보완</a:t>
            </a:r>
          </a:p>
        </p:txBody>
      </p:sp>
      <p:pic>
        <p:nvPicPr>
          <p:cNvPr id="2" name="">
            <a:extLst xmlns:a="http://schemas.openxmlformats.org/drawingml/2006/main">
              <a:ext uri="{FF2B5EF4-FFF2-40B4-BE49-F238E27FC236}">
                <a16:creationId xmlns:a16="http://schemas.microsoft.com/office/drawing/2014/main" id="{31D81121-8781-4A44-8455-1493E3E6DCAD}"/>
              </a:ext>
            </a:extLst>
          </p:cNvPr>
          <p:cNvPicPr>
            <a:picLocks xmlns:a="http://schemas.openxmlformats.org/drawingml/2006/main" noChangeAspect="1"/>
          </p:cNvPicPr>
          <p:nvPr/>
        </p:nvPicPr>
        <p:blipFill>
          <a:blip xmlns:r="http://schemas.openxmlformats.org/officeDocument/2006/relationships" xmlns:a="http://schemas.openxmlformats.org/drawingml/2006/main" r:embed="R6ef6f926bdab4d81"/>
          <a:stretch xmlns:a="http://schemas.openxmlformats.org/drawingml/2006/main"/>
        </p:blipFill>
        <p:spPr>
          <a:xfrm xmlns:a="http://schemas.openxmlformats.org/drawingml/2006/main">
            <a:off x="2536785" y="1438275"/>
            <a:ext cx="7118430" cy="27432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AF6185-ECCC-444C-B4BA-E0BC2763F689}"/>
              </a:ext>
            </a:extLst>
          </p:cNvPr>
          <p:cNvSpPr>
            <a:spLocks xmlns:a="http://schemas.openxmlformats.org/drawingml/2006/main" noGrp="1"/>
          </p:cNvSpPr>
          <p:nvPr/>
        </p:nvSpPr>
        <p:spPr>
          <a:xfrm xmlns:a="http://schemas.openxmlformats.org/drawingml/2006/main">
            <a:off x="609600" y="44291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12개 회차의 제목·시놉시스·방송일·재생 시간 저장</a:t>
            </a:r>
          </a:p>
        </p:txBody>
      </p:sp>
      <p:sp>
        <p:nvSpPr>
          <p:cNvPr id="4" name="">
            <a:extLst xmlns:a="http://schemas.openxmlformats.org/drawingml/2006/main">
              <a:ext uri="{FF2B5EF4-FFF2-40B4-BE49-F238E27FC236}">
                <a16:creationId xmlns:a16="http://schemas.microsoft.com/office/drawing/2014/main" id="{2E6C1581-00F7-477C-A706-8774560E1B29}"/>
              </a:ext>
            </a:extLst>
          </p:cNvPr>
          <p:cNvSpPr>
            <a:spLocks xmlns:a="http://schemas.openxmlformats.org/drawingml/2006/main" noGrp="1"/>
          </p:cNvSpPr>
          <p:nvPr/>
        </p:nvSpPr>
        <p:spPr>
          <a:xfrm xmlns:a="http://schemas.openxmlformats.org/drawingml/2006/main">
            <a:off x="609600" y="503872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03044"/>
                </a:solidFill>
                <a:latin typeface="Malgun Gothic"/>
                <a:ea typeface="Malgun Gothic"/>
                <a:cs typeface="Malgun Gothic"/>
              </a:defRPr>
            </a:defPPr>
          </a:lstStyle>
          <a:p xmlns:a="http://schemas.openxmlformats.org/drawingml/2006/main">
            <a:pPr>
              <a:buNone/>
              <a:defRPr sz="1800" b="1">
                <a:solidFill>
                  <a:srgbClr val="303044"/>
                </a:solidFill>
                <a:latin typeface="Malgun Gothic"/>
                <a:ea typeface="Malgun Gothic"/>
                <a:cs typeface="Malgun Gothic"/>
              </a:defRPr>
            </a:pPr>
            <a:r>
              <a:rPr sz="1800" b="1">
                <a:solidFill>
                  <a:srgbClr val="303044"/>
                </a:solidFill>
                <a:latin typeface="Malgun Gothic"/>
                <a:ea typeface="Malgun Gothic"/>
                <a:cs typeface="Malgun Gothic"/>
              </a:rPr>
              <a:t>2화 소개 예시</a:t>
            </a:r>
          </a:p>
        </p:txBody>
      </p:sp>
      <p:sp>
        <p:nvSpPr>
          <p:cNvPr id="5" name="">
            <a:extLst xmlns:a="http://schemas.openxmlformats.org/drawingml/2006/main">
              <a:ext uri="{FF2B5EF4-FFF2-40B4-BE49-F238E27FC236}">
                <a16:creationId xmlns:a16="http://schemas.microsoft.com/office/drawing/2014/main" id="{B26A3CE6-AE48-4C39-BB26-30110AF4DA6C}"/>
              </a:ext>
            </a:extLst>
          </p:cNvPr>
          <p:cNvSpPr>
            <a:spLocks xmlns:a="http://schemas.openxmlformats.org/drawingml/2006/main" noGrp="1"/>
          </p:cNvSpPr>
          <p:nvPr/>
        </p:nvSpPr>
        <p:spPr>
          <a:xfrm xmlns:a="http://schemas.openxmlformats.org/drawingml/2006/main">
            <a:off x="2809875" y="5038725"/>
            <a:ext cx="87725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비오는 정요를 의식적으로 멀리한다. 현수는 교습의 조건으로 정요와의 포핸즈를 내건다.</a:t>
            </a:r>
          </a:p>
        </p:txBody>
      </p:sp>
      <p:sp>
        <p:nvSpPr>
          <p:cNvPr id="6" name="">
            <a:extLst xmlns:a="http://schemas.openxmlformats.org/drawingml/2006/main">
              <a:ext uri="{FF2B5EF4-FFF2-40B4-BE49-F238E27FC236}">
                <a16:creationId xmlns:a16="http://schemas.microsoft.com/office/drawing/2014/main" id="{3A8A5C1B-EFED-4715-B88D-B58A174D4C62}"/>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응답의 TVING URL로 연결 / 12개 회차 수집 근거: 2026.10.07 저장 JSON</a:t>
            </a:r>
          </a:p>
        </p:txBody>
      </p:sp>
      <p:sp>
        <p:nvSpPr>
          <p:cNvPr id="7" name="">
            <a:extLst xmlns:a="http://schemas.openxmlformats.org/drawingml/2006/main">
              <a:ext uri="{FF2B5EF4-FFF2-40B4-BE49-F238E27FC236}">
                <a16:creationId xmlns:a16="http://schemas.microsoft.com/office/drawing/2014/main" id="{6C15AA52-B143-418B-944E-41FB9E677477}"/>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API 응답: 회차별 필드 확인</a:t>
            </a:r>
          </a:p>
        </p:txBody>
      </p:sp>
      <p:sp>
        <p:nvSpPr>
          <p:cNvPr id="2" name="">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
            <a:extLst xmlns:a="http://schemas.openxmlformats.org/drawingml/2006/main">
              <a:ext uri="{FF2B5EF4-FFF2-40B4-BE49-F238E27FC236}">
                <a16:creationId xmlns:a16="http://schemas.microsoft.com/office/drawing/2014/main" id="{3A1CD11F-693B-46A9-A006-4A55CF030C7C}"/>
              </a:ext>
            </a:extLst>
          </p:cNvPr>
          <p:cNvPicPr>
            <a:picLocks xmlns:a="http://schemas.openxmlformats.org/drawingml/2006/main" noChangeAspect="1"/>
          </p:cNvPicPr>
          <p:nvPr/>
        </p:nvPicPr>
        <p:blipFill>
          <a:blip xmlns:r="http://schemas.openxmlformats.org/officeDocument/2006/relationships" xmlns:a="http://schemas.openxmlformats.org/drawingml/2006/main" r:embed="R6cced1b3b1954c57"/>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F6EC520D-FF50-495D-9AF7-33D44D0D01AF}"/>
              </a:ext>
            </a:extLst>
          </p:cNvPr>
          <p:cNvPicPr>
            <a:picLocks xmlns:a="http://schemas.openxmlformats.org/drawingml/2006/main" noChangeAspect="1"/>
          </p:cNvPicPr>
          <p:nvPr/>
        </p:nvPicPr>
        <p:blipFill>
          <a:blip xmlns:r="http://schemas.openxmlformats.org/officeDocument/2006/relationships" xmlns:a="http://schemas.openxmlformats.org/drawingml/2006/main" r:embed="R8fdae8c65a264c11"/>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회차 번호 / 제목 / 방송일 / 시놉시스 / 재생 시간</a:t>
            </a:r>
          </a:p>
        </p:txBody>
      </p:sp>
      <p:sp>
        <p:nvSpPr>
          <p:cNvPr id="7" name="">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13242E-7B5A-42A8-8155-7D8CB79FB8F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드라마 전체: 상위 20개 수집 결과</a:t>
            </a:r>
          </a:p>
        </p:txBody>
      </p:sp>
      <p:pic>
        <p:nvPicPr>
          <p:cNvPr id="2" name="">
            <a:extLst xmlns:a="http://schemas.openxmlformats.org/drawingml/2006/main">
              <a:ext uri="{FF2B5EF4-FFF2-40B4-BE49-F238E27FC236}">
                <a16:creationId xmlns:a16="http://schemas.microsoft.com/office/drawing/2014/main" id="{C415C964-0626-4E1F-A642-4E9D31F60D7B}"/>
              </a:ext>
            </a:extLst>
          </p:cNvPr>
          <p:cNvPicPr>
            <a:picLocks xmlns:a="http://schemas.openxmlformats.org/drawingml/2006/main" noChangeAspect="1"/>
          </p:cNvPicPr>
          <p:nvPr/>
        </p:nvPicPr>
        <p:blipFill>
          <a:blip xmlns:r="http://schemas.openxmlformats.org/officeDocument/2006/relationships" xmlns:a="http://schemas.openxmlformats.org/drawingml/2006/main" r:embed="R6d3a3b9a363047ea"/>
          <a:stretch xmlns:a="http://schemas.openxmlformats.org/drawingml/2006/main"/>
        </p:blipFill>
        <p:spPr>
          <a:xfrm xmlns:a="http://schemas.openxmlformats.org/drawingml/2006/main">
            <a:off x="609600" y="2089717"/>
            <a:ext cx="6715125" cy="297384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0AB690E-6EAD-43DA-9165-74C1A4B30088}"/>
              </a:ext>
            </a:extLst>
          </p:cNvPr>
          <p:cNvSpPr>
            <a:spLocks xmlns:a="http://schemas.openxmlformats.org/drawingml/2006/main" noGrp="1"/>
          </p:cNvSpPr>
          <p:nvPr/>
        </p:nvSpPr>
        <p:spPr>
          <a:xfrm xmlns:a="http://schemas.openxmlformats.org/drawingml/2006/main">
            <a:off x="7820025" y="145732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2026.10.07 저장 배치</a:t>
            </a:r>
          </a:p>
        </p:txBody>
      </p:sp>
      <p:graphicFrame>
        <p:nvGraphicFramePr>
          <p:cNvPr id="4" name="">
            <a:extLst xmlns:a="http://schemas.openxmlformats.org/drawingml/2006/main">
              <a:ext uri="{FF2B5EF4-FFF2-40B4-BE49-F238E27FC236}">
                <a16:creationId xmlns:a16="http://schemas.microsoft.com/office/drawing/2014/main" id="{32BD09D0-65E9-4F02-9098-6A719A23B0EC}"/>
              </a:ext>
            </a:extLst>
          </p:cNvPr>
          <p:cNvGraphicFramePr/>
          <p:nvPr/>
        </p:nvGraphicFramePr>
        <p:xfrm>
          <a:off xmlns:a="http://schemas.openxmlformats.org/drawingml/2006/main" x="7820025" y="2162175"/>
          <a:ext xmlns:a="http://schemas.openxmlformats.org/drawingml/2006/main" cx="3762375" cy="2447925"/>
        </p:xfrm>
        <a:graphic xmlns:a="http://schemas.openxmlformats.org/drawingml/2006/main">
          <a:graphicData uri="http://schemas.openxmlformats.org/drawingml/2006/table">
            <a:tbl>
              <a:tblPr/>
              <a:tblGrid>
                <a:gridCol w="2381250"/>
                <a:gridCol w="1381125"/>
              </a:tblGrid>
              <a:tr h="611981">
                <a:tc>
                  <a:txBody>
                    <a:bodyPr lIns="114300" tIns="114300" rIns="114300" bIns="114300"/>
                    <a:lstStyle/>
                    <a:p>
                      <a:r>
                        <a:rPr sz="1800"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800" b="1">
                          <a:solidFill>
                            <a:srgbClr val="716095"/>
                          </a:solidFill>
                          <a:latin typeface="Malgun Gothic"/>
                          <a:ea typeface="Malgun Gothic"/>
                          <a:cs typeface="Malgun Gothic"/>
                        </a:rPr>
                        <a:t>결과</a:t>
                      </a:r>
                    </a:p>
                  </a:txBody>
                  <a:tcPr marL="91440" marR="91440" marT="45720" marB="45720" anchor="ctr">
                    <a:solidFill>
                      <a:srgbClr val="EEEBF7"/>
                    </a:solidFill>
                  </a:tcPr>
                </a:tc>
              </a:tr>
              <a:tr h="611981">
                <a:tc>
                  <a:txBody>
                    <a:bodyPr lIns="114300" tIns="114300" rIns="114300" bIns="114300"/>
                    <a:lstStyle/>
                    <a:p>
                      <a:r>
                        <a:rPr sz="1800" b="0">
                          <a:solidFill>
                            <a:srgbClr val="303044"/>
                          </a:solidFill>
                          <a:latin typeface="Malgun Gothic"/>
                          <a:ea typeface="Malgun Gothic"/>
                          <a:cs typeface="Malgun Gothic"/>
                        </a:rPr>
                        <a:t>작품</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20개</a:t>
                      </a:r>
                    </a:p>
                  </a:txBody>
                  <a:tcPr marL="91440" marR="91440" marT="45720" marB="45720" anchor="ctr">
                    <a:solidFill>
                      <a:srgbClr val="FFFFFF"/>
                    </a:solidFill>
                  </a:tcPr>
                </a:tc>
              </a:tr>
              <a:tr h="611981">
                <a:tc>
                  <a:txBody>
                    <a:bodyPr lIns="114300" tIns="114300" rIns="114300" bIns="114300"/>
                    <a:lstStyle/>
                    <a:p>
                      <a:r>
                        <a:rPr sz="1800" b="0">
                          <a:solidFill>
                            <a:srgbClr val="303044"/>
                          </a:solidFill>
                          <a:latin typeface="Malgun Gothic"/>
                          <a:ea typeface="Malgun Gothic"/>
                          <a:cs typeface="Malgun Gothic"/>
                        </a:rPr>
                        <a:t>회차</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r h="611981">
                <a:tc>
                  <a:txBody>
                    <a:bodyPr lIns="114300" tIns="114300" rIns="114300" bIns="114300"/>
                    <a:lstStyle/>
                    <a:p>
                      <a:r>
                        <a:rPr sz="1800" b="0">
                          <a:solidFill>
                            <a:srgbClr val="303044"/>
                          </a:solidFill>
                          <a:latin typeface="Malgun Gothic"/>
                          <a:ea typeface="Malgun Gothic"/>
                          <a:cs typeface="Malgun Gothic"/>
                        </a:rPr>
                        <a:t>회차 시놉시스</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E13A2CC-7E82-4A73-A87E-7A3796F32870}"/>
              </a:ext>
            </a:extLst>
          </p:cNvPr>
          <p:cNvSpPr>
            <a:spLocks xmlns:a="http://schemas.openxmlformats.org/drawingml/2006/main" noGrp="1"/>
          </p:cNvSpPr>
          <p:nvPr/>
        </p:nvSpPr>
        <p:spPr>
          <a:xfrm xmlns:a="http://schemas.openxmlformats.org/drawingml/2006/main">
            <a:off x="7820025" y="5095875"/>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포핸즈 포함</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 시놉시스 확보</a:t>
            </a:r>
          </a:p>
        </p:txBody>
      </p:sp>
      <p:sp>
        <p:nvSpPr>
          <p:cNvPr id="6" name="">
            <a:extLst xmlns:a="http://schemas.openxmlformats.org/drawingml/2006/main">
              <a:ext uri="{FF2B5EF4-FFF2-40B4-BE49-F238E27FC236}">
                <a16:creationId xmlns:a16="http://schemas.microsoft.com/office/drawing/2014/main" id="{B342C951-10EE-4AA5-8B46-9F962ED11E1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캡처는 목록 구조 예시 / 집계와 당시 순위는 저장된 수집 보고서 기준</a:t>
            </a:r>
          </a:p>
        </p:txBody>
      </p:sp>
      <p:sp>
        <p:nvSpPr>
          <p:cNvPr id="7" name="">
            <a:extLst xmlns:a="http://schemas.openxmlformats.org/drawingml/2006/main">
              <a:ext uri="{FF2B5EF4-FFF2-40B4-BE49-F238E27FC236}">
                <a16:creationId xmlns:a16="http://schemas.microsoft.com/office/drawing/2014/main" id="{47B06EF3-B3E3-4DDB-B86D-3708E26B5F1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89C277-8624-4A67-AF91-4D7394DFB8A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기존 수집 검증과 포핸즈 보완 범위</a:t>
            </a:r>
          </a:p>
        </p:txBody>
      </p:sp>
      <p:sp>
        <p:nvSpPr>
          <p:cNvPr id="2" name="">
            <a:extLst xmlns:a="http://schemas.openxmlformats.org/drawingml/2006/main">
              <a:ext uri="{FF2B5EF4-FFF2-40B4-BE49-F238E27FC236}">
                <a16:creationId xmlns:a16="http://schemas.microsoft.com/office/drawing/2014/main" id="{43B8A208-DE56-4E39-9995-C8B82089072A}"/>
              </a:ext>
            </a:extLst>
          </p:cNvPr>
          <p:cNvSpPr>
            <a:spLocks xmlns:a="http://schemas.openxmlformats.org/drawingml/2006/main" noGrp="1"/>
          </p:cNvSpPr>
          <p:nvPr/>
        </p:nvSpPr>
        <p:spPr>
          <a:xfrm xmlns:a="http://schemas.openxmlformats.org/drawingml/2006/main">
            <a:off x="609600" y="1333500"/>
            <a:ext cx="5562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기존 수집 검증</a:t>
            </a:r>
          </a:p>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냉장고를 부탁해</a:t>
            </a:r>
          </a:p>
        </p:txBody>
      </p:sp>
      <p:graphicFrame>
        <p:nvGraphicFramePr>
          <p:cNvPr id="3" name="">
            <a:extLst xmlns:a="http://schemas.openxmlformats.org/drawingml/2006/main">
              <a:ext uri="{FF2B5EF4-FFF2-40B4-BE49-F238E27FC236}">
                <a16:creationId xmlns:a16="http://schemas.microsoft.com/office/drawing/2014/main" id="{000AB133-BA10-4EF1-8A8A-8D5653714E84}"/>
              </a:ext>
            </a:extLst>
          </p:cNvPr>
          <p:cNvGraphicFramePr/>
          <p:nvPr/>
        </p:nvGraphicFramePr>
        <p:xfrm>
          <a:off xmlns:a="http://schemas.openxmlformats.org/drawingml/2006/main" x="609600" y="2114550"/>
          <a:ext xmlns:a="http://schemas.openxmlformats.org/drawingml/2006/main" cx="5562600" cy="2828925"/>
        </p:xfrm>
        <a:graphic xmlns:a="http://schemas.openxmlformats.org/drawingml/2006/main">
          <a:graphicData uri="http://schemas.openxmlformats.org/drawingml/2006/table">
            <a:tbl>
              <a:tblPr/>
              <a:tblGrid>
                <a:gridCol w="1857375"/>
                <a:gridCol w="3705225"/>
              </a:tblGrid>
              <a:tr h="565785">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저장된 값</a:t>
                      </a:r>
                    </a:p>
                  </a:txBody>
                  <a:tcPr marL="91440" marR="91440" marT="45720" marB="45720" anchor="ctr">
                    <a:solidFill>
                      <a:srgbClr val="EEEBF7"/>
                    </a:solidFill>
                  </a:tcPr>
                </a:tc>
              </a:tr>
              <a:tr h="565785">
                <a:tc>
                  <a:txBody>
                    <a:bodyPr lIns="114300" tIns="114300" rIns="114300" bIns="114300"/>
                    <a:lstStyle/>
                    <a:p>
                      <a:r>
                        <a:rPr sz="1725" b="0">
                          <a:solidFill>
                            <a:srgbClr val="303044"/>
                          </a:solidFill>
                          <a:latin typeface="Malgun Gothic"/>
                          <a:ea typeface="Malgun Gothic"/>
                          <a:cs typeface="Malgun Gothic"/>
                        </a:rPr>
                        <a:t>방송사 / 제작사</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JTBC / 미스틱스토리</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진행자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김성주, 안정환, 정형돈</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총 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254회 (시즌 1)</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관련 문서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링크 저장, 하위 문서 미수집</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A81F3D3-EAAC-421E-BA6E-0B6D83012ADA}"/>
              </a:ext>
            </a:extLst>
          </p:cNvPr>
          <p:cNvSpPr>
            <a:spLocks xmlns:a="http://schemas.openxmlformats.org/drawingml/2006/main" noGrp="1"/>
          </p:cNvSpPr>
          <p:nvPr/>
        </p:nvSpPr>
        <p:spPr>
          <a:xfrm xmlns:a="http://schemas.openxmlformats.org/drawingml/2006/main">
            <a:off x="6705600" y="1381125"/>
            <a:ext cx="4876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포핸즈의 위키 문서 보완</a:t>
            </a:r>
          </a:p>
        </p:txBody>
      </p:sp>
      <p:sp>
        <p:nvSpPr>
          <p:cNvPr id="5" name="">
            <a:extLst xmlns:a="http://schemas.openxmlformats.org/drawingml/2006/main">
              <a:ext uri="{FF2B5EF4-FFF2-40B4-BE49-F238E27FC236}">
                <a16:creationId xmlns:a16="http://schemas.microsoft.com/office/drawing/2014/main" id="{4E47A19A-0D55-405C-ADCF-330764A0B1D2}"/>
              </a:ext>
            </a:extLst>
          </p:cNvPr>
          <p:cNvSpPr>
            <a:spLocks xmlns:a="http://schemas.openxmlformats.org/drawingml/2006/main" noGrp="1"/>
          </p:cNvSpPr>
          <p:nvPr/>
        </p:nvSpPr>
        <p:spPr>
          <a:xfrm xmlns:a="http://schemas.openxmlformats.org/drawingml/2006/main">
            <a:off x="6705600" y="2466975"/>
            <a:ext cx="48768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사용자가 본문과 하위 문서 존재 확인</a:t>
            </a:r>
          </a:p>
          <a:p xmlns:a="http://schemas.openxmlformats.org/drawingml/2006/main">
            <a:r>
              <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관련 문서를 사람이 확인하고 선택</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선택한 URL에서 추가 데이터 수집</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문서별 출처를 유지해 비교·분석</a:t>
            </a:r>
          </a:p>
        </p:txBody>
      </p:sp>
      <p:sp>
        <p:nvSpPr>
          <p:cNvPr id="6" name="">
            <a:extLst xmlns:a="http://schemas.openxmlformats.org/drawingml/2006/main">
              <a:ext uri="{FF2B5EF4-FFF2-40B4-BE49-F238E27FC236}">
                <a16:creationId xmlns:a16="http://schemas.microsoft.com/office/drawing/2014/main" id="{CE08DA20-9B11-40D7-BE6B-28E4C933503C}"/>
              </a:ext>
            </a:extLst>
          </p:cNvPr>
          <p:cNvSpPr>
            <a:spLocks xmlns:a="http://schemas.openxmlformats.org/drawingml/2006/main" noGrp="1"/>
          </p:cNvSpPr>
          <p:nvPr/>
        </p:nvSpPr>
        <p:spPr>
          <a:xfrm xmlns:a="http://schemas.openxmlformats.org/drawingml/2006/main">
            <a:off x="6705600" y="5124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716095"/>
                </a:solidFill>
                <a:latin typeface="Malgun Gothic"/>
                <a:ea typeface="Malgun Gothic"/>
                <a:cs typeface="Malgun Gothic"/>
              </a:defRPr>
            </a:defPPr>
          </a:lstStyle>
          <a:p xmlns:a="http://schemas.openxmlformats.org/drawingml/2006/main">
            <a:pPr>
              <a:buNone/>
              <a:defRPr sz="1800" b="1">
                <a:solidFill>
                  <a:srgbClr val="716095"/>
                </a:solidFill>
                <a:latin typeface="Malgun Gothic"/>
                <a:ea typeface="Malgun Gothic"/>
                <a:cs typeface="Malgun Gothic"/>
              </a:defRPr>
            </a:pPr>
            <a:r>
              <a:rPr sz="1800" b="1">
                <a:solidFill>
                  <a:srgbClr val="716095"/>
                </a:solidFill>
                <a:latin typeface="Malgun Gothic"/>
                <a:ea typeface="Malgun Gothic"/>
                <a:cs typeface="Malgun Gothic"/>
              </a:rPr>
              <a:t>포핸즈 본문·하위 문서의 수집은 후속 검증</a:t>
            </a:r>
          </a:p>
        </p:txBody>
      </p:sp>
      <p:sp>
        <p:nvSpPr>
          <p:cNvPr id="7" name="">
            <a:extLst xmlns:a="http://schemas.openxmlformats.org/drawingml/2006/main">
              <a:ext uri="{FF2B5EF4-FFF2-40B4-BE49-F238E27FC236}">
                <a16:creationId xmlns:a16="http://schemas.microsoft.com/office/drawing/2014/main" id="{C3E73CE0-9375-4E03-9280-A15F5FF51EA0}"/>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나무위키 캡처는 제공 폴더에 없음 / 기존 사례 2026.10.08, 포핸즈 보완은 계획</a:t>
            </a:r>
          </a:p>
        </p:txBody>
      </p:sp>
      <p:sp>
        <p:nvSpPr>
          <p:cNvPr id="8" name="">
            <a:extLst xmlns:a="http://schemas.openxmlformats.org/drawingml/2006/main">
              <a:ext uri="{FF2B5EF4-FFF2-40B4-BE49-F238E27FC236}">
                <a16:creationId xmlns:a16="http://schemas.microsoft.com/office/drawing/2014/main" id="{117A5CAD-6075-4085-93DD-A4983EE21A2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
            <a:extLst xmlns:a="http://schemas.openxmlformats.org/drawingml/2006/main">
              <a:ext uri="{FF2B5EF4-FFF2-40B4-BE49-F238E27FC236}">
                <a16:creationId xmlns:a16="http://schemas.microsoft.com/office/drawing/2014/main" id="{CC63FE68-700C-4AFD-9A2F-FD3BE4D200A1}"/>
              </a:ext>
            </a:extLst>
          </p:cNvPr>
          <p:cNvPicPr>
            <a:picLocks xmlns:a="http://schemas.openxmlformats.org/drawingml/2006/main" noChangeAspect="1"/>
          </p:cNvPicPr>
          <p:nvPr/>
        </p:nvPicPr>
        <p:blipFill>
          <a:blip xmlns:r="http://schemas.openxmlformats.org/officeDocument/2006/relationships" xmlns:a="http://schemas.openxmlformats.org/drawingml/2006/main" r:embed="R12aa75ef697d4d4a"/>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r>
              <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r>
              <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
            <a:extLst xmlns:a="http://schemas.openxmlformats.org/drawingml/2006/main">
              <a:ext uri="{FF2B5EF4-FFF2-40B4-BE49-F238E27FC236}">
                <a16:creationId xmlns:a16="http://schemas.microsoft.com/office/drawing/2014/main" id="{615D5E91-3F10-4F36-8D8C-1BCFC6C5116D}"/>
              </a:ext>
            </a:extLst>
          </p:cNvPr>
          <p:cNvPicPr>
            <a:picLocks xmlns:a="http://schemas.openxmlformats.org/drawingml/2006/main" noChangeAspect="1"/>
          </p:cNvPicPr>
          <p:nvPr/>
        </p:nvPicPr>
        <p:blipFill>
          <a:blip xmlns:r="http://schemas.openxmlformats.org/officeDocument/2006/relationships" xmlns:a="http://schemas.openxmlformats.org/drawingml/2006/main" r:embed="R3513cca691fe4dd7"/>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D5258B5-869B-4934-9D1A-684EDEB88E34}"/>
              </a:ext>
            </a:extLst>
          </p:cNvPr>
          <p:cNvPicPr>
            <a:picLocks xmlns:a="http://schemas.openxmlformats.org/drawingml/2006/main" noChangeAspect="1"/>
          </p:cNvPicPr>
          <p:nvPr/>
        </p:nvPicPr>
        <p:blipFill>
          <a:blip xmlns:r="http://schemas.openxmlformats.org/officeDocument/2006/relationships" xmlns:a="http://schemas.openxmlformats.org/drawingml/2006/main" r:embed="R753464dcc53244f2"/>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2026-10-12T00:24:57.5370000Z</dcterms:created>
  <dcterms:modified xsi:type="dcterms:W3CDTF">2026-10-12T00:24:57.5370000Z</dcterms:modified>
</coreProperties>
</file>