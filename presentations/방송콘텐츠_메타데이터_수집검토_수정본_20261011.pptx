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556e24d46394eef" /><Relationship Type="http://schemas.openxmlformats.org/officeDocument/2006/relationships/extended-properties" Target="/docProps/app.xml" Id="R12817a7110fe457c" /><Relationship Type="http://schemas.openxmlformats.org/officeDocument/2006/relationships/officeDocument" Target="/ppt/presentation.xml" Id="R661b54a508464bbd" /></Relationships>
</file>

<file path=ppt/presentation.xml><?xml version="1.0" encoding="utf-8"?>
<p:presentation xmlns:p="http://schemas.openxmlformats.org/presentationml/2006/main">
  <p:sldMasterIdLst>
    <p:sldMasterId xmlns:r="http://schemas.openxmlformats.org/officeDocument/2006/relationships" id="2147483648" r:id="Re716af618936497a"/>
  </p:sldMasterIdLst>
  <p:notesMasterIdLst>
    <p:notesMasterId xmlns:r="http://schemas.openxmlformats.org/officeDocument/2006/relationships" r:id="R57e1f3df14d3458e"/>
  </p:notesMasterIdLst>
  <p:sldIdLst>
    <p:sldId xmlns:r="http://schemas.openxmlformats.org/officeDocument/2006/relationships" id="256" r:id="R2d6f66dd51f242b3"/>
    <p:sldId xmlns:r="http://schemas.openxmlformats.org/officeDocument/2006/relationships" id="257" r:id="R1be30ff9634b43e6"/>
    <p:sldId xmlns:r="http://schemas.openxmlformats.org/officeDocument/2006/relationships" id="258" r:id="Rbafccabf66ba4ef9"/>
    <p:sldId xmlns:r="http://schemas.openxmlformats.org/officeDocument/2006/relationships" id="259" r:id="Rf0205fbffde744e6"/>
    <p:sldId xmlns:r="http://schemas.openxmlformats.org/officeDocument/2006/relationships" id="260" r:id="R5266221226fe4eac"/>
    <p:sldId xmlns:r="http://schemas.openxmlformats.org/officeDocument/2006/relationships" id="261" r:id="Ra24ddf4c45044c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3831db53ae4b3e" /><Relationship Type="http://schemas.openxmlformats.org/officeDocument/2006/relationships/slideMaster" Target="/ppt/slideMasters/slideMaster1.xml" Id="Re716af618936497a" /><Relationship Type="http://schemas.openxmlformats.org/officeDocument/2006/relationships/notesMaster" Target="/ppt/notesMasters/notesMaster1.xml" Id="R57e1f3df14d3458e" /><Relationship Type="http://schemas.openxmlformats.org/officeDocument/2006/relationships/presProps" Target="/ppt/presProps.xml" Id="Rd16c218635ba4a2a" /><Relationship Type="http://schemas.openxmlformats.org/officeDocument/2006/relationships/tableStyles" Target="/ppt/tableStyles.xml" Id="R7053e6d319d946be" /><Relationship Type="http://schemas.openxmlformats.org/officeDocument/2006/relationships/slide" Target="/ppt/slides/slide1.xml" Id="R2d6f66dd51f242b3" /><Relationship Type="http://schemas.openxmlformats.org/officeDocument/2006/relationships/slide" Target="/ppt/slides/slide2.xml" Id="R1be30ff9634b43e6" /><Relationship Type="http://schemas.openxmlformats.org/officeDocument/2006/relationships/slide" Target="/ppt/slides/slide3.xml" Id="Rbafccabf66ba4ef9" /><Relationship Type="http://schemas.openxmlformats.org/officeDocument/2006/relationships/slide" Target="/ppt/slides/slide4.xml" Id="Rf0205fbffde744e6" /><Relationship Type="http://schemas.openxmlformats.org/officeDocument/2006/relationships/slide" Target="/ppt/slides/slide5.xml" Id="R5266221226fe4eac" /><Relationship Type="http://schemas.openxmlformats.org/officeDocument/2006/relationships/slide" Target="/ppt/slides/slide6.xml" Id="Ra24ddf4c45044c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e6b923af0c948a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47681e72a44764" /><Relationship Type="http://schemas.openxmlformats.org/officeDocument/2006/relationships/notesMaster" Target="/ppt/notesMasters/notesMaster1.xml" Id="Raf9cc1e281cc4d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20f81b5e6545af" /><Relationship Type="http://schemas.openxmlformats.org/officeDocument/2006/relationships/notesMaster" Target="/ppt/notesMasters/notesMaster1.xml" Id="R78ec0819c7574a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732a27021d4d86" /><Relationship Type="http://schemas.openxmlformats.org/officeDocument/2006/relationships/notesMaster" Target="/ppt/notesMasters/notesMaster1.xml" Id="R33566e0a88164c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fd629a7bff5444f" /><Relationship Type="http://schemas.openxmlformats.org/officeDocument/2006/relationships/notesMaster" Target="/ppt/notesMasters/notesMaster1.xml" Id="R59af678f7dcf41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5c5c3f329fb40c2" /><Relationship Type="http://schemas.openxmlformats.org/officeDocument/2006/relationships/notesMaster" Target="/ppt/notesMasters/notesMaster1.xml" Id="R123cdaa036fc4e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6fabfd552b4ff9" /><Relationship Type="http://schemas.openxmlformats.org/officeDocument/2006/relationships/notesMaster" Target="/ppt/notesMasters/notesMaster1.xml" Id="Re73505d5a78f47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방송·미디어 콘텐츠 메타데이터 수집 가능성 검토의 예시 발표자료입니다. TVING과 나무위키는 프로젝트의 저장된 JSON을 근거로 작성했습니다. CJ ENM과 컴투스온은 사용자의 직접 점검 결과입니다. 자료 작성일 2026-10-11, 수집 예시 기준일 2026-10-07~08.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검토 대상 출처: C:/Users/moon/Documents/카카오톡 받은 파일/(260929)ETRI_용역과제_킥오프미팅_발표자료.pdf, PDF 6페이지(슬라이드 인쇄 번호 9), 검토 대상 웹사이트 리스트. 원문에는 CJ ENM: 드라마, 예능 / 컴투스 그룹(위지윅스튜디오): 드라마 / MBC 충북(중앙 MBC와 별개): 뉴스가 명시되어 있습니다. 또한 CJ ENM 콘텐츠는 TVING 등 실제 콘텐츠 제공 경로도 함께 검토하도록 제시합니다. 나무위키는 사용자와의 작업 과정에서 추가한 보완 수집원입니다. 유튜브 개인방송은 원문의 추가 검토 대상이나 이번 보고 범위에서는 다루지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직접 점검 결과와 이번 수정 요청을 근거로 작성. CJ ENM은 정책상 웹 크롤링이 제한된다는 사용자 확인 내용을 반영하며 robots.txt 근거 캡처를 첨부할 위치를 표시합니다. 컴투스 그룹(위지윅스튜디오) 검토 경로 중 https://com2usn.com/work/의 확인한 작품 상세 페이지에 유튜브 영상 1개만 있다는 사용자 관찰을 반영했습니다. 이를 모든 작품이나 그룹 전체 사이트의 데이터 부재로 일반화하지 않습니다. MBC 충북은 사용자가 직접 접속·점검했다고 했으나 구체적인 확보 필드 또는 한계가 대화에 없으므로 세부 점검 결과를 채울 자리를 남깁니다. URL·확인 일자 및 캡처는 사용자 후속 첨부 대상입니다.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D:\MMLAB\projects\broadcast_web_crawler\data\tving\20261007_210908_251349_드라마_전체\collection-report.json</a:t>
            </a:r>
          </a:p>
          <a:p xmlns:a="http://schemas.openxmlformats.org/drawingml/2006/main">
            <a:r>
              <a:t>D:\MMLAB\projects\broadcast_web_crawler\data\tving\20261008_155538_396845_TVING_작품상세\contents.json</a:t>
            </a:r>
          </a:p>
          <a:p xmlns:a="http://schemas.openxmlformats.org/drawingml/2006/main">
            <a:r>
              <a:t>원문: https://www.tving.com/more/genre/PCA 및 https://www.tving.com/contents/P001790587</a:t>
            </a:r>
          </a:p>
          <a:p xmlns:a="http://schemas.openxmlformats.org/drawingml/2006/main">
            <a:r>
              <a:t>20개 작품·341개 회차·341개 시놉시스는 2026-10-07 저장 배치의 결과입니다. 단일 작품 8개 회차 예시는 2026-10-08 저장 결과입니다. 현재 사이트 전체 또는 다른 시즌의 완전성을 뜻하지 않습니다. 시놉시스는 회차 소개 텍스트이며 대본 원문이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출처: D:\MMLAB\projects\broadcast_web_crawler\data\namuwiki\20261008_144044_283930_나무위키_냉장고를 부탁해\contents.json</a:t>
            </a:r>
          </a:p>
          <a:p xmlns:a="http://schemas.openxmlformats.org/drawingml/2006/main">
            <a:r>
              <a:t>원문: https://namu.wiki/w/%EB%83%89%EC%9E%A5%EA%B3%A0%EB%A5%BC%20%EB%B6%80%ED%83%81%ED%95%B4</a:t>
            </a:r>
          </a:p>
          <a:p xmlns:a="http://schemas.openxmlformats.org/drawingml/2006/main">
            <a:r>
              <a:t>2026-10-08에 저장한 문서 기준입니다. 방송 기간과 254회는 시즌 1 관련 원문 정보입니다. 문서에는 시즌 2도 언급되므로 이후 시즌이나 최신 편성 전체를 뜻하지 않습니다. episodes는 빈 배열입니다. 셰프 군단과 방영 목록 링크는 저장하지만 이 단일 문서 수집에서는 따라가지 않았습니다. 문서에 없는 값은 null이며 모든 방송 문서에 같은 필드가 있다고 보장하지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앱 화면 출처: 프로젝트 reports/desktop/studio.png. 직접 구현한 Electron + React + Python 앱의 로컬 캡처입니다. 화면은 shadcn/ui와 라벤더 테마를 적용했습니다. URL 입력, 범위 설정, 수집 진행 확인, 과거 결과 조회, JSON 및 수집 보고서 표시 기능이 있습니다. 출처별 수집 로직은 분리하고 콘텐츠 메타데이터 스키마를 공유합니다. 향후 회차 누락·제작진 누락과 원문 근거를 확인하며 나무위키 관련 문서 확장은 별도 범위로 검토합니다.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6b45dde9924bb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8d0d0c529f4c4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977dd4522f44f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99142248a3147e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444a707e5d8432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85e381e4ab54f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84A48D-1C1B-49B6-8F76-1A5E7DAD43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1236E81-BFBF-4176-81B4-8D5BFA9837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A1DBB26-EF0B-4EDC-A068-43CB5D2E43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07AD2E-3EF1-4241-A1C2-D4AB4386E1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218865C-51CE-489C-84F9-8F54D67511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5AA8F2-E995-4220-AD2F-9B43A4BCBE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4DFB79-FC89-493E-AC6F-1430733373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E7D3B14-98C5-4D2E-98A4-1A24B3C960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A13007-8306-4F7D-A84C-0C55B4D818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3B7DFD7-2F77-4F1F-A905-E56AD33203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70ca9c918f4013" /><Relationship Type="http://schemas.openxmlformats.org/officeDocument/2006/relationships/slideLayout" Target="/ppt/slideLayouts/slideLayout1.xml" Id="R6b877bf0d70e4302" /><Relationship Type="http://schemas.openxmlformats.org/officeDocument/2006/relationships/slideLayout" Target="/ppt/slideLayouts/slideLayout2.xml" Id="R7aace80bf3594da1" /><Relationship Type="http://schemas.openxmlformats.org/officeDocument/2006/relationships/slideLayout" Target="/ppt/slideLayouts/slideLayout3.xml" Id="R44f46e8d4b464cea" /><Relationship Type="http://schemas.openxmlformats.org/officeDocument/2006/relationships/slideLayout" Target="/ppt/slideLayouts/slideLayout4.xml" Id="R9080eae745984846" /><Relationship Type="http://schemas.openxmlformats.org/officeDocument/2006/relationships/slideLayout" Target="/ppt/slideLayouts/slideLayout5.xml" Id="Rc10e40b9953f479f" /><Relationship Type="http://schemas.openxmlformats.org/officeDocument/2006/relationships/slideLayout" Target="/ppt/slideLayouts/slideLayout6.xml" Id="R3c38c31f1fc241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877bf0d70e4302"/>
    <p:sldLayoutId xmlns:r="http://schemas.openxmlformats.org/officeDocument/2006/relationships" id="2147483650" r:id="R7aace80bf3594da1"/>
    <p:sldLayoutId xmlns:r="http://schemas.openxmlformats.org/officeDocument/2006/relationships" id="2147483651" r:id="R44f46e8d4b464cea"/>
    <p:sldLayoutId xmlns:r="http://schemas.openxmlformats.org/officeDocument/2006/relationships" id="2147483652" r:id="R9080eae745984846"/>
    <p:sldLayoutId xmlns:r="http://schemas.openxmlformats.org/officeDocument/2006/relationships" id="2147483653" r:id="Rc10e40b9953f479f"/>
    <p:sldLayoutId xmlns:r="http://schemas.openxmlformats.org/officeDocument/2006/relationships" id="2147483654" r:id="R3c38c31f1fc241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ab75d47bc8c47bb" /><Relationship Type="http://schemas.openxmlformats.org/officeDocument/2006/relationships/notesSlide" Target="/ppt/notesSlides/notesSlide1.xml" Id="R9a4e7548269946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a575857fb43448f" /><Relationship Type="http://schemas.openxmlformats.org/officeDocument/2006/relationships/notesSlide" Target="/ppt/notesSlides/notesSlide2.xml" Id="Rcf372323b40849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bd5c4d7dfbe4ccf" /><Relationship Type="http://schemas.openxmlformats.org/officeDocument/2006/relationships/notesSlide" Target="/ppt/notesSlides/notesSlide3.xml" Id="R632ea22b02ca4b2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5ccbb5a297e4fd0" /><Relationship Type="http://schemas.openxmlformats.org/officeDocument/2006/relationships/notesSlide" Target="/ppt/notesSlides/notesSlide4.xml" Id="Re05cb2ca179346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8503c1195c14387" /><Relationship Type="http://schemas.openxmlformats.org/officeDocument/2006/relationships/notesSlide" Target="/ppt/notesSlides/notesSlide5.xml" Id="Rbdc6f9b6711e4c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630a6e4e1924b82" /><Relationship Type="http://schemas.openxmlformats.org/officeDocument/2006/relationships/image" Target="/ppt/media/image.png" Id="Rb9e6ced5af4347ec" /><Relationship Type="http://schemas.openxmlformats.org/officeDocument/2006/relationships/notesSlide" Target="/ppt/notesSlides/notesSlide6.xml" Id="R5dee747c80aa4235" /></Relationships>
</file>

<file path=ppt/slides/slide1.xml><?xml version="1.0" encoding="utf-8"?>
<p:sld xmlns:p="http://schemas.openxmlformats.org/presentationml/2006/main">
  <p:cSld>
    <p:bg>
      <p:bgPr>
        <a:solidFill xmlns:a="http://schemas.openxmlformats.org/drawingml/2006/main">
          <a:srgbClr val="EEEBF7"/>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9C689E-CC8C-4631-AD9E-A54250F9E43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01</a:t>
            </a:r>
          </a:p>
        </p:txBody>
      </p:sp>
      <p:sp>
        <p:nvSpPr>
          <p:cNvPr id="2" name="">
            <a:extLst xmlns:a="http://schemas.openxmlformats.org/drawingml/2006/main">
              <a:ext uri="{FF2B5EF4-FFF2-40B4-BE49-F238E27FC236}">
                <a16:creationId xmlns:a16="http://schemas.microsoft.com/office/drawing/2014/main" id="{19E7746D-8039-443E-8095-6EE45374C56A}"/>
              </a:ext>
            </a:extLst>
          </p:cNvPr>
          <p:cNvSpPr>
            <a:spLocks xmlns:a="http://schemas.openxmlformats.org/drawingml/2006/main" noGrp="1"/>
          </p:cNvSpPr>
          <p:nvPr/>
        </p:nvSpPr>
        <p:spPr>
          <a:xfrm xmlns:a="http://schemas.openxmlformats.org/drawingml/2006/main">
            <a:off x="685800" y="1524000"/>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425" b="1">
                <a:solidFill>
                  <a:srgbClr val="303044"/>
                </a:solidFill>
                <a:latin typeface="Malgun Gothic"/>
                <a:ea typeface="Malgun Gothic"/>
                <a:cs typeface="Malgun Gothic"/>
              </a:defRPr>
            </a:defPPr>
          </a:lstStyle>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방송 콘텐츠</a:t>
            </a:r>
          </a:p>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메타데이터 수집 가능성 검토</a:t>
            </a:r>
          </a:p>
        </p:txBody>
      </p:sp>
      <p:sp>
        <p:nvSpPr>
          <p:cNvPr id="3" name="">
            <a:extLst xmlns:a="http://schemas.openxmlformats.org/drawingml/2006/main">
              <a:ext uri="{FF2B5EF4-FFF2-40B4-BE49-F238E27FC236}">
                <a16:creationId xmlns:a16="http://schemas.microsoft.com/office/drawing/2014/main" id="{0FCE1160-821C-4DA6-A139-25A4BEB966C5}"/>
              </a:ext>
            </a:extLst>
          </p:cNvPr>
          <p:cNvSpPr>
            <a:spLocks xmlns:a="http://schemas.openxmlformats.org/drawingml/2006/main" noGrp="1"/>
          </p:cNvSpPr>
          <p:nvPr/>
        </p:nvSpPr>
        <p:spPr>
          <a:xfrm xmlns:a="http://schemas.openxmlformats.org/drawingml/2006/main">
            <a:off x="723900" y="386715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716095"/>
                </a:solidFill>
                <a:latin typeface="Malgun Gothic"/>
                <a:ea typeface="Malgun Gothic"/>
                <a:cs typeface="Malgun Gothic"/>
              </a:defRPr>
            </a:defPPr>
          </a:lstStyle>
          <a:p xmlns:a="http://schemas.openxmlformats.org/drawingml/2006/main">
            <a:pPr>
              <a:buNone/>
              <a:defRPr sz="2325" b="0">
                <a:solidFill>
                  <a:srgbClr val="716095"/>
                </a:solidFill>
                <a:latin typeface="Malgun Gothic"/>
                <a:ea typeface="Malgun Gothic"/>
                <a:cs typeface="Malgun Gothic"/>
              </a:defRPr>
            </a:pPr>
            <a:r>
              <a:rPr sz="2325" b="0">
                <a:solidFill>
                  <a:srgbClr val="716095"/>
                </a:solidFill>
                <a:latin typeface="Malgun Gothic"/>
                <a:ea typeface="Malgun Gothic"/>
                <a:cs typeface="Malgun Gothic"/>
              </a:rPr>
              <a:t>TVING과 나무위키의 실제 수집 결과</a:t>
            </a:r>
          </a:p>
        </p:txBody>
      </p:sp>
      <p:sp>
        <p:nvSpPr>
          <p:cNvPr id="4" name="">
            <a:extLst xmlns:a="http://schemas.openxmlformats.org/drawingml/2006/main">
              <a:ext uri="{FF2B5EF4-FFF2-40B4-BE49-F238E27FC236}">
                <a16:creationId xmlns:a16="http://schemas.microsoft.com/office/drawing/2014/main" id="{3B56ED18-2177-4897-97D5-1BCC97EC2AA7}"/>
              </a:ext>
            </a:extLst>
          </p:cNvPr>
          <p:cNvSpPr>
            <a:spLocks xmlns:a="http://schemas.openxmlformats.org/drawingml/2006/main" noGrp="1"/>
          </p:cNvSpPr>
          <p:nvPr/>
        </p:nvSpPr>
        <p:spPr>
          <a:xfrm xmlns:a="http://schemas.openxmlformats.org/drawingml/2006/main">
            <a:off x="723900" y="516255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797587"/>
                </a:solidFill>
                <a:latin typeface="Malgun Gothic"/>
                <a:ea typeface="Malgun Gothic"/>
                <a:cs typeface="Malgun Gothic"/>
              </a:defRPr>
            </a:defPPr>
          </a:lstStyle>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국가 용역과제 진행 보고 예시</a:t>
            </a:r>
          </a:p>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2026.10.11</a:t>
            </a:r>
          </a:p>
        </p:txBody>
      </p:sp>
    </p:spTree>
    <p:extLst>
      <p:ext uri="{BB962C8B-B14F-4D97-AF65-F5344CB8AC3E}">
        <p14:creationId xmlns:p14="http://schemas.microsoft.com/office/powerpoint/2010/main" val="1271877683"/>
      </p:ext>
    </p:extLst>
  </p:cSld>
</p:sld>
</file>

<file path=ppt/slides/slide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1B2DD84-D4DE-4587-B739-FEE55B32287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검토 대상과 확인 방법</a:t>
            </a:r>
          </a:p>
        </p:txBody>
      </p:sp>
      <p:sp>
        <p:nvSpPr>
          <p:cNvPr id="2" name="">
            <a:extLst xmlns:a="http://schemas.openxmlformats.org/drawingml/2006/main">
              <a:ext uri="{FF2B5EF4-FFF2-40B4-BE49-F238E27FC236}">
                <a16:creationId xmlns:a16="http://schemas.microsoft.com/office/drawing/2014/main" id="{D60A42ED-558D-43A7-8FE5-CD6E0B4D0249}"/>
              </a:ext>
            </a:extLst>
          </p:cNvPr>
          <p:cNvSpPr>
            <a:spLocks xmlns:a="http://schemas.openxmlformats.org/drawingml/2006/main" noGrp="1"/>
          </p:cNvSpPr>
          <p:nvPr/>
        </p:nvSpPr>
        <p:spPr>
          <a:xfrm xmlns:a="http://schemas.openxmlformats.org/drawingml/2006/main">
            <a:off x="609600" y="1381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기본 검토 대상</a:t>
            </a:r>
          </a:p>
        </p:txBody>
      </p:sp>
      <p:graphicFrame>
        <p:nvGraphicFramePr>
          <p:cNvPr id="3" name="">
            <a:extLst xmlns:a="http://schemas.openxmlformats.org/drawingml/2006/main">
              <a:ext uri="{FF2B5EF4-FFF2-40B4-BE49-F238E27FC236}">
                <a16:creationId xmlns:a16="http://schemas.microsoft.com/office/drawing/2014/main" id="{D21FD363-9103-4AF3-87AF-326AA14FEADC}"/>
              </a:ext>
            </a:extLst>
          </p:cNvPr>
          <p:cNvGraphicFramePr/>
          <p:nvPr/>
        </p:nvGraphicFramePr>
        <p:xfrm>
          <a:off xmlns:a="http://schemas.openxmlformats.org/drawingml/2006/main" x="609600" y="1952625"/>
          <a:ext xmlns:a="http://schemas.openxmlformats.org/drawingml/2006/main" cx="10972800" cy="2381250"/>
        </p:xfrm>
        <a:graphic xmlns:a="http://schemas.openxmlformats.org/drawingml/2006/main">
          <a:graphicData uri="http://schemas.openxmlformats.org/drawingml/2006/table">
            <a:tbl>
              <a:tblPr/>
              <a:tblGrid>
                <a:gridCol w="5619750"/>
                <a:gridCol w="5353050"/>
              </a:tblGrid>
              <a:tr h="595313">
                <a:tc>
                  <a:txBody>
                    <a:bodyPr lIns="114300" tIns="114300" rIns="114300" bIns="114300"/>
                    <a:lstStyle/>
                    <a:p>
                      <a:r>
                        <a:rPr sz="1875" b="1">
                          <a:solidFill>
                            <a:srgbClr val="716095"/>
                          </a:solidFill>
                          <a:latin typeface="Malgun Gothic"/>
                          <a:ea typeface="Malgun Gothic"/>
                          <a:cs typeface="Malgun Gothic"/>
                        </a:rPr>
                        <a:t>대상 웹사이트</a:t>
                      </a:r>
                    </a:p>
                  </a:txBody>
                  <a:tcPr marL="91440" marR="91440" marT="45720" marB="45720" anchor="ctr">
                    <a:solidFill>
                      <a:srgbClr val="EEEBF7"/>
                    </a:solidFill>
                  </a:tcPr>
                </a:tc>
                <a:tc>
                  <a:txBody>
                    <a:bodyPr lIns="114300" tIns="114300" rIns="114300" bIns="114300"/>
                    <a:lstStyle/>
                    <a:p>
                      <a:r>
                        <a:rPr sz="1875" b="1">
                          <a:solidFill>
                            <a:srgbClr val="716095"/>
                          </a:solidFill>
                          <a:latin typeface="Malgun Gothic"/>
                          <a:ea typeface="Malgun Gothic"/>
                          <a:cs typeface="Malgun Gothic"/>
                        </a:rPr>
                        <a:t>콘텐츠 범위</a:t>
                      </a:r>
                    </a:p>
                  </a:txBody>
                  <a:tcPr marL="91440" marR="91440" marT="45720" marB="45720" anchor="ctr">
                    <a:solidFill>
                      <a:srgbClr val="EEEBF7"/>
                    </a:solidFill>
                  </a:tcPr>
                </a:tc>
              </a:tr>
              <a:tr h="595313">
                <a:tc>
                  <a:txBody>
                    <a:bodyPr lIns="114300" tIns="114300" rIns="114300" bIns="114300"/>
                    <a:lstStyle/>
                    <a:p>
                      <a:r>
                        <a:rPr sz="1875" b="0">
                          <a:solidFill>
                            <a:srgbClr val="303044"/>
                          </a:solidFill>
                          <a:latin typeface="Malgun Gothic"/>
                          <a:ea typeface="Malgun Gothic"/>
                          <a:cs typeface="Malgun Gothic"/>
                        </a:rPr>
                        <a:t>CJ ENM</a:t>
                      </a:r>
                    </a:p>
                  </a:txBody>
                  <a:tcPr marL="91440" marR="91440" marT="45720" marB="45720" anchor="ctr">
                    <a:solidFill>
                      <a:srgbClr val="FFFFFF"/>
                    </a:solidFill>
                  </a:tcPr>
                </a:tc>
                <a:tc>
                  <a:txBody>
                    <a:bodyPr lIns="114300" tIns="114300" rIns="114300" bIns="114300"/>
                    <a:lstStyle/>
                    <a:p>
                      <a:r>
                        <a:rPr sz="1875" b="0">
                          <a:solidFill>
                            <a:srgbClr val="303044"/>
                          </a:solidFill>
                          <a:latin typeface="Malgun Gothic"/>
                          <a:ea typeface="Malgun Gothic"/>
                          <a:cs typeface="Malgun Gothic"/>
                        </a:rPr>
                        <a:t>드라마, 예능</a:t>
                      </a:r>
                    </a:p>
                  </a:txBody>
                  <a:tcPr marL="91440" marR="91440" marT="45720" marB="45720" anchor="ctr">
                    <a:solidFill>
                      <a:srgbClr val="FFFFFF"/>
                    </a:solidFill>
                  </a:tcPr>
                </a:tc>
              </a:tr>
              <a:tr h="595313">
                <a:tc>
                  <a:txBody>
                    <a:bodyPr lIns="114300" tIns="114300" rIns="114300" bIns="114300"/>
                    <a:lstStyle/>
                    <a:p>
                      <a:r>
                        <a:rPr sz="1875" b="0">
                          <a:solidFill>
                            <a:srgbClr val="303044"/>
                          </a:solidFill>
                          <a:latin typeface="Malgun Gothic"/>
                          <a:ea typeface="Malgun Gothic"/>
                          <a:cs typeface="Malgun Gothic"/>
                        </a:rPr>
                        <a:t>컴투스 그룹(위지윅스튜디오)</a:t>
                      </a:r>
                    </a:p>
                  </a:txBody>
                  <a:tcPr marL="91440" marR="91440" marT="45720" marB="45720" anchor="ctr">
                    <a:solidFill>
                      <a:srgbClr val="FFFFFF"/>
                    </a:solidFill>
                  </a:tcPr>
                </a:tc>
                <a:tc>
                  <a:txBody>
                    <a:bodyPr lIns="114300" tIns="114300" rIns="114300" bIns="114300"/>
                    <a:lstStyle/>
                    <a:p>
                      <a:r>
                        <a:rPr sz="1875" b="0">
                          <a:solidFill>
                            <a:srgbClr val="303044"/>
                          </a:solidFill>
                          <a:latin typeface="Malgun Gothic"/>
                          <a:ea typeface="Malgun Gothic"/>
                          <a:cs typeface="Malgun Gothic"/>
                        </a:rPr>
                        <a:t>드라마</a:t>
                      </a:r>
                    </a:p>
                  </a:txBody>
                  <a:tcPr marL="91440" marR="91440" marT="45720" marB="45720" anchor="ctr">
                    <a:solidFill>
                      <a:srgbClr val="FFFFFF"/>
                    </a:solidFill>
                  </a:tcPr>
                </a:tc>
              </a:tr>
              <a:tr h="595313">
                <a:tc>
                  <a:txBody>
                    <a:bodyPr lIns="114300" tIns="114300" rIns="114300" bIns="114300"/>
                    <a:lstStyle/>
                    <a:p>
                      <a:r>
                        <a:rPr sz="1875" b="0">
                          <a:solidFill>
                            <a:srgbClr val="303044"/>
                          </a:solidFill>
                          <a:latin typeface="Malgun Gothic"/>
                          <a:ea typeface="Malgun Gothic"/>
                          <a:cs typeface="Malgun Gothic"/>
                        </a:rPr>
                        <a:t>MBC 충북</a:t>
                      </a:r>
                    </a:p>
                  </a:txBody>
                  <a:tcPr marL="91440" marR="91440" marT="45720" marB="45720" anchor="ctr">
                    <a:solidFill>
                      <a:srgbClr val="FFFFFF"/>
                    </a:solidFill>
                  </a:tcPr>
                </a:tc>
                <a:tc>
                  <a:txBody>
                    <a:bodyPr lIns="114300" tIns="114300" rIns="114300" bIns="114300"/>
                    <a:lstStyle/>
                    <a:p>
                      <a:r>
                        <a:rPr sz="1875" b="0">
                          <a:solidFill>
                            <a:srgbClr val="303044"/>
                          </a:solidFill>
                          <a:latin typeface="Malgun Gothic"/>
                          <a:ea typeface="Malgun Gothic"/>
                          <a:cs typeface="Malgun Gothic"/>
                        </a:rPr>
                        <a:t>뉴스 (중앙 MBC와 별도)</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F9974D8-8E98-42AB-B18D-5EA9C6AAC483}"/>
              </a:ext>
            </a:extLst>
          </p:cNvPr>
          <p:cNvSpPr>
            <a:spLocks xmlns:a="http://schemas.openxmlformats.org/drawingml/2006/main" noGrp="1"/>
          </p:cNvSpPr>
          <p:nvPr/>
        </p:nvSpPr>
        <p:spPr>
          <a:xfrm xmlns:a="http://schemas.openxmlformats.org/drawingml/2006/main">
            <a:off x="609600" y="4676775"/>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추가 수집원</a:t>
            </a:r>
          </a:p>
        </p:txBody>
      </p:sp>
      <p:sp>
        <p:nvSpPr>
          <p:cNvPr id="5" name="">
            <a:extLst xmlns:a="http://schemas.openxmlformats.org/drawingml/2006/main">
              <a:ext uri="{FF2B5EF4-FFF2-40B4-BE49-F238E27FC236}">
                <a16:creationId xmlns:a16="http://schemas.microsoft.com/office/drawing/2014/main" id="{8C131ACA-695B-418C-986A-0114CC69620E}"/>
              </a:ext>
            </a:extLst>
          </p:cNvPr>
          <p:cNvSpPr>
            <a:spLocks xmlns:a="http://schemas.openxmlformats.org/drawingml/2006/main" noGrp="1"/>
          </p:cNvSpPr>
          <p:nvPr/>
        </p:nvSpPr>
        <p:spPr>
          <a:xfrm xmlns:a="http://schemas.openxmlformats.org/drawingml/2006/main">
            <a:off x="609600" y="52006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 CJ ENM 콘텐츠의 실제 제공 경로에서 작품·회차 정보 확보</a:t>
            </a:r>
          </a:p>
          <a:p xmlns:a="http://schemas.openxmlformats.org/drawingml/2006/main">
            <a:pPr>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 프로그램 설명과 제작진·방송 정보 보완</a:t>
            </a:r>
          </a:p>
        </p:txBody>
      </p:sp>
      <p:sp>
        <p:nvSpPr>
          <p:cNvPr id="6" name="">
            <a:extLst xmlns:a="http://schemas.openxmlformats.org/drawingml/2006/main">
              <a:ext uri="{FF2B5EF4-FFF2-40B4-BE49-F238E27FC236}">
                <a16:creationId xmlns:a16="http://schemas.microsoft.com/office/drawing/2014/main" id="{09E076D5-356B-44DB-BAC4-9CF1F4F04372}"/>
              </a:ext>
            </a:extLst>
          </p:cNvPr>
          <p:cNvSpPr>
            <a:spLocks xmlns:a="http://schemas.openxmlformats.org/drawingml/2006/main" noGrp="1"/>
          </p:cNvSpPr>
          <p:nvPr/>
        </p:nvSpPr>
        <p:spPr>
          <a:xfrm xmlns:a="http://schemas.openxmlformats.org/drawingml/2006/main">
            <a:off x="609600" y="62388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797587"/>
                </a:solidFill>
                <a:latin typeface="Malgun Gothic"/>
                <a:ea typeface="Malgun Gothic"/>
                <a:cs typeface="Malgun Gothic"/>
              </a:defRPr>
            </a:defPPr>
          </a:lstStyle>
          <a:p xmlns:a="http://schemas.openxmlformats.org/drawingml/2006/main">
            <a:pPr>
              <a:defRPr sz="1350" b="0">
                <a:solidFill>
                  <a:srgbClr val="797587"/>
                </a:solidFill>
                <a:latin typeface="Malgun Gothic"/>
                <a:ea typeface="Malgun Gothic"/>
                <a:cs typeface="Malgun Gothic"/>
              </a:defRPr>
            </a:pPr>
            <a:r>
              <a:rPr sz="1350" b="0">
                <a:solidFill>
                  <a:srgbClr val="797587"/>
                </a:solidFill>
                <a:latin typeface="Malgun Gothic"/>
                <a:ea typeface="Malgun Gothic"/>
                <a:cs typeface="Malgun Gothic"/>
              </a:rPr>
              <a:t>확인 방법: 직접 접속 및 구조 점검 / 자동 수집 가능성 확인 / 메타데이터 추출</a:t>
            </a:r>
          </a:p>
        </p:txBody>
      </p:sp>
      <p:sp>
        <p:nvSpPr>
          <p:cNvPr id="7" name="">
            <a:extLst xmlns:a="http://schemas.openxmlformats.org/drawingml/2006/main">
              <a:ext uri="{FF2B5EF4-FFF2-40B4-BE49-F238E27FC236}">
                <a16:creationId xmlns:a16="http://schemas.microsoft.com/office/drawing/2014/main" id="{1BBE0D46-3FAF-4A74-AD6C-9E2C6AA32F20}"/>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02</a:t>
            </a:r>
          </a:p>
        </p:txBody>
      </p:sp>
    </p:spTree>
    <p:extLst>
      <p:ext uri="{BB962C8B-B14F-4D97-AF65-F5344CB8AC3E}">
        <p14:creationId xmlns:p14="http://schemas.microsoft.com/office/powerpoint/2010/main" val="580745084"/>
      </p:ext>
    </p:extLst>
  </p:cSld>
</p:sld>
</file>

<file path=ppt/slides/slide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73117A-7F7B-42DE-9052-37D1FA3CFB56}"/>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기본 대상 직접 점검과 추가 수집원 선정</a:t>
            </a:r>
          </a:p>
        </p:txBody>
      </p:sp>
      <p:graphicFrame>
        <p:nvGraphicFramePr>
          <p:cNvPr id="2" name="">
            <a:extLst xmlns:a="http://schemas.openxmlformats.org/drawingml/2006/main">
              <a:ext uri="{FF2B5EF4-FFF2-40B4-BE49-F238E27FC236}">
                <a16:creationId xmlns:a16="http://schemas.microsoft.com/office/drawing/2014/main" id="{CDCAB98C-A414-4DDB-B443-E177CB432013}"/>
              </a:ext>
            </a:extLst>
          </p:cNvPr>
          <p:cNvGraphicFramePr/>
          <p:nvPr/>
        </p:nvGraphicFramePr>
        <p:xfrm>
          <a:off xmlns:a="http://schemas.openxmlformats.org/drawingml/2006/main" x="609600" y="1466850"/>
          <a:ext xmlns:a="http://schemas.openxmlformats.org/drawingml/2006/main" cx="10972800" cy="3914775"/>
        </p:xfrm>
        <a:graphic xmlns:a="http://schemas.openxmlformats.org/drawingml/2006/main">
          <a:graphicData uri="http://schemas.openxmlformats.org/drawingml/2006/table">
            <a:tbl>
              <a:tblPr/>
              <a:tblGrid>
                <a:gridCol w="2047875"/>
                <a:gridCol w="4448175"/>
                <a:gridCol w="4476750"/>
              </a:tblGrid>
              <a:tr h="978694">
                <a:tc>
                  <a:txBody>
                    <a:bodyPr lIns="114300" tIns="114300" rIns="114300" bIns="114300"/>
                    <a:lstStyle/>
                    <a:p>
                      <a:r>
                        <a:rPr sz="1800" b="1">
                          <a:solidFill>
                            <a:srgbClr val="716095"/>
                          </a:solidFill>
                          <a:latin typeface="Malgun Gothic"/>
                          <a:ea typeface="Malgun Gothic"/>
                          <a:cs typeface="Malgun Gothic"/>
                        </a:rPr>
                        <a:t>대상</a:t>
                      </a:r>
                    </a:p>
                  </a:txBody>
                  <a:tcPr marL="91440" marR="91440" marT="45720" marB="45720" anchor="ctr">
                    <a:solidFill>
                      <a:srgbClr val="EEEBF7"/>
                    </a:solidFill>
                  </a:tcPr>
                </a:tc>
                <a:tc>
                  <a:txBody>
                    <a:bodyPr lIns="114300" tIns="114300" rIns="114300" bIns="114300"/>
                    <a:lstStyle/>
                    <a:p>
                      <a:r>
                        <a:rPr sz="1800" b="1">
                          <a:solidFill>
                            <a:srgbClr val="716095"/>
                          </a:solidFill>
                          <a:latin typeface="Malgun Gothic"/>
                          <a:ea typeface="Malgun Gothic"/>
                          <a:cs typeface="Malgun Gothic"/>
                        </a:rPr>
                        <a:t>직접 점검 결과</a:t>
                      </a:r>
                    </a:p>
                  </a:txBody>
                  <a:tcPr marL="91440" marR="91440" marT="45720" marB="45720" anchor="ctr">
                    <a:solidFill>
                      <a:srgbClr val="EEEBF7"/>
                    </a:solidFill>
                  </a:tcPr>
                </a:tc>
                <a:tc>
                  <a:txBody>
                    <a:bodyPr lIns="114300" tIns="114300" rIns="114300" bIns="114300"/>
                    <a:lstStyle/>
                    <a:p>
                      <a:r>
                        <a:rPr sz="1800" b="1">
                          <a:solidFill>
                            <a:srgbClr val="716095"/>
                          </a:solidFill>
                          <a:latin typeface="Malgun Gothic"/>
                          <a:ea typeface="Malgun Gothic"/>
                          <a:cs typeface="Malgun Gothic"/>
                        </a:rPr>
                        <a:t>근거로 첨부할 자료</a:t>
                      </a:r>
                    </a:p>
                  </a:txBody>
                  <a:tcPr marL="91440" marR="91440" marT="45720" marB="45720" anchor="ctr">
                    <a:solidFill>
                      <a:srgbClr val="EEEBF7"/>
                    </a:solidFill>
                  </a:tcPr>
                </a:tc>
              </a:tr>
              <a:tr h="978694">
                <a:tc>
                  <a:txBody>
                    <a:bodyPr lIns="114300" tIns="114300" rIns="114300" bIns="114300"/>
                    <a:lstStyle/>
                    <a:p>
                      <a:r>
                        <a:rPr sz="1800" b="0">
                          <a:solidFill>
                            <a:srgbClr val="303044"/>
                          </a:solidFill>
                          <a:latin typeface="Malgun Gothic"/>
                          <a:ea typeface="Malgun Gothic"/>
                          <a:cs typeface="Malgun Gothic"/>
                        </a:rPr>
                        <a:t>CJ ENM</a:t>
                      </a:r>
                    </a:p>
                  </a:txBody>
                  <a:tcPr marL="91440" marR="91440" marT="45720" marB="45720" anchor="ctr">
                    <a:solidFill>
                      <a:srgbClr val="FFFFFF"/>
                    </a:solidFill>
                  </a:tcPr>
                </a:tc>
                <a:tc>
                  <a:txBody>
                    <a:bodyPr lIns="114300" tIns="114300" rIns="114300" bIns="114300"/>
                    <a:lstStyle/>
                    <a:p>
                      <a:r>
                        <a:rPr sz="1800" b="0">
                          <a:solidFill>
                            <a:srgbClr val="303044"/>
                          </a:solidFill>
                          <a:latin typeface="Malgun Gothic"/>
                          <a:ea typeface="Malgun Gothic"/>
                          <a:cs typeface="Malgun Gothic"/>
                        </a:rPr>
                        <a:t>크롤링 정책상 자동 수집 제한</a:t>
                      </a:r>
                    </a:p>
                    <a:p>
                      <a:r>
                        <a:rPr sz="1800" b="0">
                          <a:solidFill>
                            <a:srgbClr val="303044"/>
                          </a:solidFill>
                          <a:latin typeface="Malgun Gothic"/>
                          <a:ea typeface="Malgun Gothic"/>
                          <a:cs typeface="Malgun Gothic"/>
                        </a:rPr>
                        <a:t>robots.txt 제한 확인</a:t>
                      </a:r>
                    </a:p>
                  </a:txBody>
                  <a:tcPr marL="91440" marR="91440" marT="45720" marB="45720" anchor="ctr">
                    <a:solidFill>
                      <a:srgbClr val="FFFFFF"/>
                    </a:solidFill>
                  </a:tcPr>
                </a:tc>
                <a:tc>
                  <a:txBody>
                    <a:bodyPr lIns="114300" tIns="114300" rIns="114300" bIns="114300"/>
                    <a:lstStyle/>
                    <a:p>
                      <a:r>
                        <a:rPr sz="1800" b="0">
                          <a:solidFill>
                            <a:srgbClr val="303044"/>
                          </a:solidFill>
                          <a:latin typeface="Malgun Gothic"/>
                          <a:ea typeface="Malgun Gothic"/>
                          <a:cs typeface="Malgun Gothic"/>
                        </a:rPr>
                        <a:t>[robots.txt 제한 규칙 캡처]</a:t>
                      </a:r>
                    </a:p>
                    <a:p>
                      <a:r>
                        <a:rPr sz="1800" b="0">
                          <a:solidFill>
                            <a:srgbClr val="303044"/>
                          </a:solidFill>
                          <a:latin typeface="Malgun Gothic"/>
                          <a:ea typeface="Malgun Gothic"/>
                          <a:cs typeface="Malgun Gothic"/>
                        </a:rPr>
                        <a:t>[점검 URL·확인 일자]</a:t>
                      </a:r>
                    </a:p>
                  </a:txBody>
                  <a:tcPr marL="91440" marR="91440" marT="45720" marB="45720" anchor="ctr">
                    <a:solidFill>
                      <a:srgbClr val="FFFFFF"/>
                    </a:solidFill>
                  </a:tcPr>
                </a:tc>
              </a:tr>
              <a:tr h="978694">
                <a:tc>
                  <a:txBody>
                    <a:bodyPr lIns="114300" tIns="114300" rIns="114300" bIns="114300"/>
                    <a:lstStyle/>
                    <a:p>
                      <a:r>
                        <a:rPr sz="1800" b="0">
                          <a:solidFill>
                            <a:srgbClr val="303044"/>
                          </a:solidFill>
                          <a:latin typeface="Malgun Gothic"/>
                          <a:ea typeface="Malgun Gothic"/>
                          <a:cs typeface="Malgun Gothic"/>
                        </a:rPr>
                        <a:t>컴투스 그룹</a:t>
                      </a:r>
                    </a:p>
                  </a:txBody>
                  <a:tcPr marL="91440" marR="91440" marT="45720" marB="45720" anchor="ctr">
                    <a:solidFill>
                      <a:srgbClr val="FFFFFF"/>
                    </a:solidFill>
                  </a:tcPr>
                </a:tc>
                <a:tc>
                  <a:txBody>
                    <a:bodyPr lIns="114300" tIns="114300" rIns="114300" bIns="114300"/>
                    <a:lstStyle/>
                    <a:p>
                      <a:r>
                        <a:rPr sz="1800" b="0">
                          <a:solidFill>
                            <a:srgbClr val="303044"/>
                          </a:solidFill>
                          <a:latin typeface="Malgun Gothic"/>
                          <a:ea typeface="Malgun Gothic"/>
                          <a:cs typeface="Malgun Gothic"/>
                        </a:rPr>
                        <a:t>확인한 작품 상세 페이지에</a:t>
                      </a:r>
                    </a:p>
                    <a:p>
                      <a:r>
                        <a:rPr sz="1800" b="0">
                          <a:solidFill>
                            <a:srgbClr val="303044"/>
                          </a:solidFill>
                          <a:latin typeface="Malgun Gothic"/>
                          <a:ea typeface="Malgun Gothic"/>
                          <a:cs typeface="Malgun Gothic"/>
                        </a:rPr>
                        <a:t>유튜브 영상 1개 게시</a:t>
                      </a:r>
                    </a:p>
                    <a:p>
                      <a:r>
                        <a:rPr sz="1800" b="0">
                          <a:solidFill>
                            <a:srgbClr val="303044"/>
                          </a:solidFill>
                          <a:latin typeface="Malgun Gothic"/>
                          <a:ea typeface="Malgun Gothic"/>
                          <a:cs typeface="Malgun Gothic"/>
                        </a:rPr>
                        <a:t>텍스트 메타데이터 부족</a:t>
                      </a:r>
                    </a:p>
                  </a:txBody>
                  <a:tcPr marL="91440" marR="91440" marT="45720" marB="45720" anchor="ctr">
                    <a:solidFill>
                      <a:srgbClr val="FFFFFF"/>
                    </a:solidFill>
                  </a:tcPr>
                </a:tc>
                <a:tc>
                  <a:txBody>
                    <a:bodyPr lIns="114300" tIns="114300" rIns="114300" bIns="114300"/>
                    <a:lstStyle/>
                    <a:p>
                      <a:r>
                        <a:rPr sz="1800" b="0">
                          <a:solidFill>
                            <a:srgbClr val="303044"/>
                          </a:solidFill>
                          <a:latin typeface="Malgun Gothic"/>
                          <a:ea typeface="Malgun Gothic"/>
                          <a:cs typeface="Malgun Gothic"/>
                        </a:rPr>
                        <a:t>[작품 상세 페이지 전체 캡처]</a:t>
                      </a:r>
                    </a:p>
                    <a:p>
                      <a:r>
                        <a:rPr sz="1800" b="0">
                          <a:solidFill>
                            <a:srgbClr val="303044"/>
                          </a:solidFill>
                          <a:latin typeface="Malgun Gothic"/>
                          <a:ea typeface="Malgun Gothic"/>
                          <a:cs typeface="Malgun Gothic"/>
                        </a:rPr>
                        <a:t>[작품명·URL·확인 일자]</a:t>
                      </a:r>
                    </a:p>
                  </a:txBody>
                  <a:tcPr marL="91440" marR="91440" marT="45720" marB="45720" anchor="ctr">
                    <a:solidFill>
                      <a:srgbClr val="FFFFFF"/>
                    </a:solidFill>
                  </a:tcPr>
                </a:tc>
              </a:tr>
              <a:tr h="978694">
                <a:tc>
                  <a:txBody>
                    <a:bodyPr lIns="114300" tIns="114300" rIns="114300" bIns="114300"/>
                    <a:lstStyle/>
                    <a:p>
                      <a:r>
                        <a:rPr sz="1800" b="0">
                          <a:solidFill>
                            <a:srgbClr val="303044"/>
                          </a:solidFill>
                          <a:latin typeface="Malgun Gothic"/>
                          <a:ea typeface="Malgun Gothic"/>
                          <a:cs typeface="Malgun Gothic"/>
                        </a:rPr>
                        <a:t>MBC 충북</a:t>
                      </a:r>
                    </a:p>
                  </a:txBody>
                  <a:tcPr marL="91440" marR="91440" marT="45720" marB="45720" anchor="ctr">
                    <a:solidFill>
                      <a:srgbClr val="FFFFFF"/>
                    </a:solidFill>
                  </a:tcPr>
                </a:tc>
                <a:tc>
                  <a:txBody>
                    <a:bodyPr lIns="114300" tIns="114300" rIns="114300" bIns="114300"/>
                    <a:lstStyle/>
                    <a:p>
                      <a:r>
                        <a:rPr sz="1800" b="0">
                          <a:solidFill>
                            <a:srgbClr val="303044"/>
                          </a:solidFill>
                          <a:latin typeface="Malgun Gothic"/>
                          <a:ea typeface="Malgun Gothic"/>
                          <a:cs typeface="Malgun Gothic"/>
                        </a:rPr>
                        <a:t>뉴스 페이지 직접 접속·점검</a:t>
                      </a:r>
                    </a:p>
                    <a:p>
                      <a:r>
                        <a:rPr sz="1800" b="0">
                          <a:solidFill>
                            <a:srgbClr val="303044"/>
                          </a:solidFill>
                          <a:latin typeface="Malgun Gothic"/>
                          <a:ea typeface="Malgun Gothic"/>
                          <a:cs typeface="Malgun Gothic"/>
                        </a:rPr>
                        <a:t>[세부 점검 결과 기입]</a:t>
                      </a:r>
                    </a:p>
                  </a:txBody>
                  <a:tcPr marL="91440" marR="91440" marT="45720" marB="45720" anchor="ctr">
                    <a:solidFill>
                      <a:srgbClr val="FFFFFF"/>
                    </a:solidFill>
                  </a:tcPr>
                </a:tc>
                <a:tc>
                  <a:txBody>
                    <a:bodyPr lIns="114300" tIns="114300" rIns="114300" bIns="114300"/>
                    <a:lstStyle/>
                    <a:p>
                      <a:r>
                        <a:rPr sz="1800" b="0">
                          <a:solidFill>
                            <a:srgbClr val="303044"/>
                          </a:solidFill>
                          <a:latin typeface="Malgun Gothic"/>
                          <a:ea typeface="Malgun Gothic"/>
                          <a:cs typeface="Malgun Gothic"/>
                        </a:rPr>
                        <a:t>[뉴스 상세 페이지 캡처]</a:t>
                      </a:r>
                    </a:p>
                    <a:p>
                      <a:r>
                        <a:rPr sz="1800" b="0">
                          <a:solidFill>
                            <a:srgbClr val="303044"/>
                          </a:solidFill>
                          <a:latin typeface="Malgun Gothic"/>
                          <a:ea typeface="Malgun Gothic"/>
                          <a:cs typeface="Malgun Gothic"/>
                        </a:rPr>
                        <a:t>[확보 가능 필드·URL·확인 일자]</a:t>
                      </a:r>
                    </a:p>
                  </a:txBody>
                  <a:tcPr marL="91440" marR="91440" marT="45720" marB="4572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FAAC9A9-14C4-4A86-93FA-8304ACD4FC3E}"/>
              </a:ext>
            </a:extLst>
          </p:cNvPr>
          <p:cNvSpPr>
            <a:spLocks xmlns:a="http://schemas.openxmlformats.org/drawingml/2006/main" noGrp="1"/>
          </p:cNvSpPr>
          <p:nvPr/>
        </p:nvSpPr>
        <p:spPr>
          <a:xfrm xmlns:a="http://schemas.openxmlformats.org/drawingml/2006/main">
            <a:off x="609600" y="57721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716095"/>
                </a:solidFill>
                <a:latin typeface="Malgun Gothic"/>
                <a:ea typeface="Malgun Gothic"/>
                <a:cs typeface="Malgun Gothic"/>
              </a:defRPr>
            </a:defPPr>
          </a:lstStyle>
          <a:p xmlns:a="http://schemas.openxmlformats.org/drawingml/2006/main">
            <a:pPr>
              <a:defRPr sz="1950" b="1">
                <a:solidFill>
                  <a:srgbClr val="716095"/>
                </a:solidFill>
                <a:latin typeface="Malgun Gothic"/>
                <a:ea typeface="Malgun Gothic"/>
                <a:cs typeface="Malgun Gothic"/>
              </a:defRPr>
            </a:pPr>
            <a:r>
              <a:rPr sz="1950" b="1">
                <a:solidFill>
                  <a:srgbClr val="716095"/>
                </a:solidFill>
                <a:latin typeface="Malgun Gothic"/>
                <a:ea typeface="Malgun Gothic"/>
                <a:cs typeface="Malgun Gothic"/>
              </a:rPr>
              <a:t>CJ ENM 콘텐츠는 TVING에서 확보하고, 나무위키로 프로그램 정보를 보완</a:t>
            </a:r>
          </a:p>
        </p:txBody>
      </p:sp>
      <p:sp>
        <p:nvSpPr>
          <p:cNvPr id="4" name="">
            <a:extLst xmlns:a="http://schemas.openxmlformats.org/drawingml/2006/main">
              <a:ext uri="{FF2B5EF4-FFF2-40B4-BE49-F238E27FC236}">
                <a16:creationId xmlns:a16="http://schemas.microsoft.com/office/drawing/2014/main" id="{9191A73E-D256-4288-86B9-17DB834AEAD6}"/>
              </a:ext>
            </a:extLst>
          </p:cNvPr>
          <p:cNvSpPr>
            <a:spLocks xmlns:a="http://schemas.openxmlformats.org/drawingml/2006/main" noGrp="1"/>
          </p:cNvSpPr>
          <p:nvPr/>
        </p:nvSpPr>
        <p:spPr>
          <a:xfrm xmlns:a="http://schemas.openxmlformats.org/drawingml/2006/main">
            <a:off x="609600" y="63055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797587"/>
                </a:solidFill>
                <a:latin typeface="Malgun Gothic"/>
                <a:ea typeface="Malgun Gothic"/>
                <a:cs typeface="Malgun Gothic"/>
              </a:defRPr>
            </a:defPPr>
          </a:lstStyle>
          <a:p xmlns:a="http://schemas.openxmlformats.org/drawingml/2006/main">
            <a:pPr>
              <a:defRPr sz="1350" b="0">
                <a:solidFill>
                  <a:srgbClr val="797587"/>
                </a:solidFill>
                <a:latin typeface="Malgun Gothic"/>
                <a:ea typeface="Malgun Gothic"/>
                <a:cs typeface="Malgun Gothic"/>
              </a:defRPr>
            </a:pPr>
            <a:r>
              <a:rPr sz="1350" b="0">
                <a:solidFill>
                  <a:srgbClr val="797587"/>
                </a:solidFill>
                <a:latin typeface="Malgun Gothic"/>
                <a:ea typeface="Malgun Gothic"/>
                <a:cs typeface="Malgun Gothic"/>
              </a:rPr>
              <a:t>직접 점검 결과 기준 / [ ] 표시는 후속 근거 첨부·작성 위치</a:t>
            </a:r>
          </a:p>
        </p:txBody>
      </p:sp>
      <p:sp>
        <p:nvSpPr>
          <p:cNvPr id="5" name="">
            <a:extLst xmlns:a="http://schemas.openxmlformats.org/drawingml/2006/main">
              <a:ext uri="{FF2B5EF4-FFF2-40B4-BE49-F238E27FC236}">
                <a16:creationId xmlns:a16="http://schemas.microsoft.com/office/drawing/2014/main" id="{ED5B06CF-8CD2-4B71-BA08-D875B02F8422}"/>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03</a:t>
            </a:r>
          </a:p>
        </p:txBody>
      </p:sp>
    </p:spTree>
    <p:extLst>
      <p:ext uri="{BB962C8B-B14F-4D97-AF65-F5344CB8AC3E}">
        <p14:creationId xmlns:p14="http://schemas.microsoft.com/office/powerpoint/2010/main" val="84728214"/>
      </p:ext>
    </p:extLst>
  </p:cSld>
</p:sld>
</file>

<file path=ppt/slides/slide4.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65911AF-C64E-4682-A3A6-5D6819AE10BE}"/>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작품과 회차별 시놉시스 수집 확인</a:t>
            </a:r>
          </a:p>
        </p:txBody>
      </p:sp>
      <p:sp>
        <p:nvSpPr>
          <p:cNvPr id="2" name="">
            <a:extLst xmlns:a="http://schemas.openxmlformats.org/drawingml/2006/main">
              <a:ext uri="{FF2B5EF4-FFF2-40B4-BE49-F238E27FC236}">
                <a16:creationId xmlns:a16="http://schemas.microsoft.com/office/drawing/2014/main" id="{F7048C92-E865-4C19-8BED-2E43FAD56EBC}"/>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04</a:t>
            </a:r>
          </a:p>
        </p:txBody>
      </p:sp>
      <p:sp>
        <p:nvSpPr>
          <p:cNvPr id="3" name="">
            <a:extLst xmlns:a="http://schemas.openxmlformats.org/drawingml/2006/main">
              <a:ext uri="{FF2B5EF4-FFF2-40B4-BE49-F238E27FC236}">
                <a16:creationId xmlns:a16="http://schemas.microsoft.com/office/drawing/2014/main" id="{47E86FE4-1368-44A0-B8E6-047B38AAFF2E}"/>
              </a:ext>
            </a:extLst>
          </p:cNvPr>
          <p:cNvSpPr>
            <a:spLocks xmlns:a="http://schemas.openxmlformats.org/drawingml/2006/main" noGrp="1"/>
          </p:cNvSpPr>
          <p:nvPr/>
        </p:nvSpPr>
        <p:spPr>
          <a:xfrm xmlns:a="http://schemas.openxmlformats.org/drawingml/2006/main">
            <a:off x="609600" y="13620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716095"/>
                </a:solidFill>
                <a:latin typeface="Malgun Gothic"/>
                <a:ea typeface="Malgun Gothic"/>
                <a:cs typeface="Malgun Gothic"/>
              </a:defRPr>
            </a:defPPr>
          </a:lstStyle>
          <a:p xmlns:a="http://schemas.openxmlformats.org/drawingml/2006/main">
            <a:pPr>
              <a:buNone/>
              <a:defRPr sz="3150" b="1">
                <a:solidFill>
                  <a:srgbClr val="716095"/>
                </a:solidFill>
                <a:latin typeface="Malgun Gothic"/>
                <a:ea typeface="Malgun Gothic"/>
                <a:cs typeface="Malgun Gothic"/>
              </a:defRPr>
            </a:pPr>
            <a:r>
              <a:rPr sz="3150" b="1">
                <a:solidFill>
                  <a:srgbClr val="716095"/>
                </a:solidFill>
                <a:latin typeface="Malgun Gothic"/>
                <a:ea typeface="Malgun Gothic"/>
                <a:cs typeface="Malgun Gothic"/>
              </a:rPr>
              <a:t>20개 작품   341개 회차</a:t>
            </a:r>
          </a:p>
        </p:txBody>
      </p:sp>
      <p:sp>
        <p:nvSpPr>
          <p:cNvPr id="4" name="">
            <a:extLst xmlns:a="http://schemas.openxmlformats.org/drawingml/2006/main">
              <a:ext uri="{FF2B5EF4-FFF2-40B4-BE49-F238E27FC236}">
                <a16:creationId xmlns:a16="http://schemas.microsoft.com/office/drawing/2014/main" id="{2EFEF946-0B0D-4E38-A61F-DB7D7ED9F93A}"/>
              </a:ext>
            </a:extLst>
          </p:cNvPr>
          <p:cNvSpPr>
            <a:spLocks xmlns:a="http://schemas.openxmlformats.org/drawingml/2006/main" noGrp="1"/>
          </p:cNvSpPr>
          <p:nvPr/>
        </p:nvSpPr>
        <p:spPr>
          <a:xfrm xmlns:a="http://schemas.openxmlformats.org/drawingml/2006/main">
            <a:off x="609600" y="20288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드라마 전체 상위 20개 수집 예시에서 341개 회차 시놉시스 저장</a:t>
            </a:r>
          </a:p>
        </p:txBody>
      </p:sp>
      <p:sp>
        <p:nvSpPr>
          <p:cNvPr id="5" name="">
            <a:extLst xmlns:a="http://schemas.openxmlformats.org/drawingml/2006/main">
              <a:ext uri="{FF2B5EF4-FFF2-40B4-BE49-F238E27FC236}">
                <a16:creationId xmlns:a16="http://schemas.microsoft.com/office/drawing/2014/main" id="{B40BFC60-4EB0-448B-856E-06ACEF3F840C}"/>
              </a:ext>
            </a:extLst>
          </p:cNvPr>
          <p:cNvSpPr>
            <a:spLocks xmlns:a="http://schemas.openxmlformats.org/drawingml/2006/main" noGrp="1"/>
          </p:cNvSpPr>
          <p:nvPr/>
        </p:nvSpPr>
        <p:spPr>
          <a:xfrm xmlns:a="http://schemas.openxmlformats.org/drawingml/2006/main">
            <a:off x="609600" y="2809875"/>
            <a:ext cx="4857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303044"/>
                </a:solidFill>
                <a:latin typeface="Malgun Gothic"/>
                <a:ea typeface="Malgun Gothic"/>
                <a:cs typeface="Malgun Gothic"/>
              </a:defRPr>
            </a:defPPr>
          </a:lstStyle>
          <a:p xmlns:a="http://schemas.openxmlformats.org/drawingml/2006/main">
            <a:pPr>
              <a:buNone/>
              <a:defRPr sz="2250" b="1">
                <a:solidFill>
                  <a:srgbClr val="303044"/>
                </a:solidFill>
                <a:latin typeface="Malgun Gothic"/>
                <a:ea typeface="Malgun Gothic"/>
                <a:cs typeface="Malgun Gothic"/>
              </a:defRPr>
            </a:pPr>
            <a:r>
              <a:rPr sz="2250" b="1">
                <a:solidFill>
                  <a:srgbClr val="303044"/>
                </a:solidFill>
                <a:latin typeface="Malgun Gothic"/>
                <a:ea typeface="Malgun Gothic"/>
                <a:cs typeface="Malgun Gothic"/>
              </a:rPr>
              <a:t>로또 1등도 출근합니다</a:t>
            </a:r>
          </a:p>
        </p:txBody>
      </p:sp>
      <p:graphicFrame>
        <p:nvGraphicFramePr>
          <p:cNvPr id="6" name="">
            <a:extLst xmlns:a="http://schemas.openxmlformats.org/drawingml/2006/main">
              <a:ext uri="{FF2B5EF4-FFF2-40B4-BE49-F238E27FC236}">
                <a16:creationId xmlns:a16="http://schemas.microsoft.com/office/drawing/2014/main" id="{5BA07BAB-8107-4C90-9C5A-E63FE913EE4D}"/>
              </a:ext>
            </a:extLst>
          </p:cNvPr>
          <p:cNvGraphicFramePr/>
          <p:nvPr/>
        </p:nvGraphicFramePr>
        <p:xfrm>
          <a:off xmlns:a="http://schemas.openxmlformats.org/drawingml/2006/main" x="609600" y="3381375"/>
          <a:ext xmlns:a="http://schemas.openxmlformats.org/drawingml/2006/main" cx="4953000" cy="2400300"/>
        </p:xfrm>
        <a:graphic xmlns:a="http://schemas.openxmlformats.org/drawingml/2006/main">
          <a:graphicData uri="http://schemas.openxmlformats.org/drawingml/2006/table">
            <a:tbl>
              <a:tblPr/>
              <a:tblGrid>
                <a:gridCol w="1381125"/>
                <a:gridCol w="3571875"/>
              </a:tblGrid>
              <a:tr h="480060">
                <a:tc>
                  <a:txBody>
                    <a:bodyPr lIns="133350" tIns="133350" rIns="133350" bIns="13335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33350" tIns="133350" rIns="133350" bIns="133350"/>
                    <a:lstStyle/>
                    <a:p>
                      <a:r>
                        <a:rPr sz="1725" b="1">
                          <a:solidFill>
                            <a:srgbClr val="716095"/>
                          </a:solidFill>
                          <a:latin typeface="Malgun Gothic"/>
                          <a:ea typeface="Malgun Gothic"/>
                          <a:cs typeface="Malgun Gothic"/>
                        </a:rPr>
                        <a:t>수집 값</a:t>
                      </a:r>
                    </a:p>
                  </a:txBody>
                  <a:tcPr marL="91440" marR="91440" marT="45720" marB="45720" anchor="ctr">
                    <a:solidFill>
                      <a:srgbClr val="EEEBF7"/>
                    </a:solidFill>
                  </a:tcPr>
                </a:tc>
              </a:tr>
              <a:tr h="480060">
                <a:tc>
                  <a:txBody>
                    <a:bodyPr lIns="133350" tIns="133350" rIns="133350" bIns="133350"/>
                    <a:lstStyle/>
                    <a:p>
                      <a:r>
                        <a:rPr sz="1725" b="0">
                          <a:solidFill>
                            <a:srgbClr val="303044"/>
                          </a:solidFill>
                          <a:latin typeface="Malgun Gothic"/>
                          <a:ea typeface="Malgun Gothic"/>
                          <a:cs typeface="Malgun Gothic"/>
                        </a:rPr>
                        <a:t>장르</a:t>
                      </a:r>
                    </a:p>
                  </a:txBody>
                  <a:tcPr marL="91440" marR="91440" marT="45720" marB="45720" anchor="ctr">
                    <a:solidFill>
                      <a:srgbClr val="FFFFFF"/>
                    </a:solidFill>
                  </a:tcPr>
                </a:tc>
                <a:tc>
                  <a:txBody>
                    <a:bodyPr lIns="133350" tIns="133350" rIns="133350" bIns="133350"/>
                    <a:lstStyle/>
                    <a:p>
                      <a:r>
                        <a:rPr sz="1725" b="0">
                          <a:solidFill>
                            <a:srgbClr val="303044"/>
                          </a:solidFill>
                          <a:latin typeface="Malgun Gothic"/>
                          <a:ea typeface="Malgun Gothic"/>
                          <a:cs typeface="Malgun Gothic"/>
                        </a:rPr>
                        <a:t>오피스 드라마</a:t>
                      </a:r>
                    </a:p>
                  </a:txBody>
                  <a:tcPr marL="91440" marR="91440" marT="45720" marB="45720" anchor="ctr">
                    <a:solidFill>
                      <a:srgbClr val="FFFFFF"/>
                    </a:solidFill>
                  </a:tcPr>
                </a:tc>
              </a:tr>
              <a:tr h="480060">
                <a:tc>
                  <a:txBody>
                    <a:bodyPr lIns="133350" tIns="133350" rIns="133350" bIns="133350"/>
                    <a:lstStyle/>
                    <a:p>
                      <a:r>
                        <a:rPr sz="1725" b="0">
                          <a:solidFill>
                            <a:srgbClr val="303044"/>
                          </a:solidFill>
                          <a:latin typeface="Malgun Gothic"/>
                          <a:ea typeface="Malgun Gothic"/>
                          <a:cs typeface="Malgun Gothic"/>
                        </a:rPr>
                        <a:t>연출</a:t>
                      </a:r>
                    </a:p>
                  </a:txBody>
                  <a:tcPr marL="91440" marR="91440" marT="45720" marB="45720" anchor="ctr">
                    <a:solidFill>
                      <a:srgbClr val="FFFFFF"/>
                    </a:solidFill>
                  </a:tcPr>
                </a:tc>
                <a:tc>
                  <a:txBody>
                    <a:bodyPr lIns="133350" tIns="133350" rIns="133350" bIns="133350"/>
                    <a:lstStyle/>
                    <a:p>
                      <a:r>
                        <a:rPr sz="1725" b="0">
                          <a:solidFill>
                            <a:srgbClr val="303044"/>
                          </a:solidFill>
                          <a:latin typeface="Malgun Gothic"/>
                          <a:ea typeface="Malgun Gothic"/>
                          <a:cs typeface="Malgun Gothic"/>
                        </a:rPr>
                        <a:t>윤영빈</a:t>
                      </a:r>
                    </a:p>
                  </a:txBody>
                  <a:tcPr marL="91440" marR="91440" marT="45720" marB="45720" anchor="ctr">
                    <a:solidFill>
                      <a:srgbClr val="FFFFFF"/>
                    </a:solidFill>
                  </a:tcPr>
                </a:tc>
              </a:tr>
              <a:tr h="480060">
                <a:tc>
                  <a:txBody>
                    <a:bodyPr lIns="133350" tIns="133350" rIns="133350" bIns="133350"/>
                    <a:lstStyle/>
                    <a:p>
                      <a:r>
                        <a:rPr sz="1725" b="0">
                          <a:solidFill>
                            <a:srgbClr val="303044"/>
                          </a:solidFill>
                          <a:latin typeface="Malgun Gothic"/>
                          <a:ea typeface="Malgun Gothic"/>
                          <a:cs typeface="Malgun Gothic"/>
                        </a:rPr>
                        <a:t>출연</a:t>
                      </a:r>
                    </a:p>
                  </a:txBody>
                  <a:tcPr marL="91440" marR="91440" marT="45720" marB="45720" anchor="ctr">
                    <a:solidFill>
                      <a:srgbClr val="FFFFFF"/>
                    </a:solidFill>
                  </a:tcPr>
                </a:tc>
                <a:tc>
                  <a:txBody>
                    <a:bodyPr lIns="133350" tIns="133350" rIns="133350" bIns="133350"/>
                    <a:lstStyle/>
                    <a:p>
                      <a:r>
                        <a:rPr sz="1725" b="0">
                          <a:solidFill>
                            <a:srgbClr val="303044"/>
                          </a:solidFill>
                          <a:latin typeface="Malgun Gothic"/>
                          <a:ea typeface="Malgun Gothic"/>
                          <a:cs typeface="Malgun Gothic"/>
                        </a:rPr>
                        <a:t>이준혁, 서현우, 오대환</a:t>
                      </a:r>
                    </a:p>
                  </a:txBody>
                  <a:tcPr marL="91440" marR="91440" marT="45720" marB="45720" anchor="ctr">
                    <a:solidFill>
                      <a:srgbClr val="FFFFFF"/>
                    </a:solidFill>
                  </a:tcPr>
                </a:tc>
              </a:tr>
              <a:tr h="480060">
                <a:tc>
                  <a:txBody>
                    <a:bodyPr lIns="133350" tIns="133350" rIns="133350" bIns="133350"/>
                    <a:lstStyle/>
                    <a:p>
                      <a:r>
                        <a:rPr sz="1725" b="0">
                          <a:solidFill>
                            <a:srgbClr val="303044"/>
                          </a:solidFill>
                          <a:latin typeface="Malgun Gothic"/>
                          <a:ea typeface="Malgun Gothic"/>
                          <a:cs typeface="Malgun Gothic"/>
                        </a:rPr>
                        <a:t>회차 정보</a:t>
                      </a:r>
                    </a:p>
                  </a:txBody>
                  <a:tcPr marL="91440" marR="91440" marT="45720" marB="45720" anchor="ctr">
                    <a:solidFill>
                      <a:srgbClr val="FFFFFF"/>
                    </a:solidFill>
                  </a:tcPr>
                </a:tc>
                <a:tc>
                  <a:txBody>
                    <a:bodyPr lIns="133350" tIns="133350" rIns="133350" bIns="133350"/>
                    <a:lstStyle/>
                    <a:p>
                      <a:r>
                        <a:rPr sz="1725" b="0">
                          <a:solidFill>
                            <a:srgbClr val="303044"/>
                          </a:solidFill>
                          <a:latin typeface="Malgun Gothic"/>
                          <a:ea typeface="Malgun Gothic"/>
                          <a:cs typeface="Malgun Gothic"/>
                        </a:rPr>
                        <a:t>8개 회차 저장</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496985F-9EEF-44E9-94CE-7788643D455A}"/>
              </a:ext>
            </a:extLst>
          </p:cNvPr>
          <p:cNvSpPr>
            <a:spLocks xmlns:a="http://schemas.openxmlformats.org/drawingml/2006/main" noGrp="1"/>
          </p:cNvSpPr>
          <p:nvPr/>
        </p:nvSpPr>
        <p:spPr>
          <a:xfrm xmlns:a="http://schemas.openxmlformats.org/drawingml/2006/main">
            <a:off x="6019800" y="2809875"/>
            <a:ext cx="5562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회차별 데이터 예시</a:t>
            </a:r>
          </a:p>
        </p:txBody>
      </p:sp>
      <p:sp>
        <p:nvSpPr>
          <p:cNvPr id="8" name="">
            <a:extLst xmlns:a="http://schemas.openxmlformats.org/drawingml/2006/main">
              <a:ext uri="{FF2B5EF4-FFF2-40B4-BE49-F238E27FC236}">
                <a16:creationId xmlns:a16="http://schemas.microsoft.com/office/drawing/2014/main" id="{2407496D-1FAE-41A6-856F-161B34301F9D}"/>
              </a:ext>
            </a:extLst>
          </p:cNvPr>
          <p:cNvSpPr>
            <a:spLocks xmlns:a="http://schemas.openxmlformats.org/drawingml/2006/main" noGrp="1"/>
          </p:cNvSpPr>
          <p:nvPr/>
        </p:nvSpPr>
        <p:spPr>
          <a:xfrm xmlns:a="http://schemas.openxmlformats.org/drawingml/2006/main">
            <a:off x="6019800" y="3409950"/>
            <a:ext cx="5562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303044"/>
                </a:solidFill>
                <a:latin typeface="Malgun Gothic"/>
                <a:ea typeface="Malgun Gothic"/>
                <a:cs typeface="Malgun Gothic"/>
              </a:defRPr>
            </a:defPPr>
          </a:lstStyle>
          <a:p xmlns:a="http://schemas.openxmlformats.org/drawingml/2006/main">
            <a:pPr>
              <a:buNone/>
              <a:defRPr sz="1875" b="1">
                <a:solidFill>
                  <a:srgbClr val="303044"/>
                </a:solidFill>
                <a:latin typeface="Malgun Gothic"/>
                <a:ea typeface="Malgun Gothic"/>
                <a:cs typeface="Malgun Gothic"/>
              </a:defRPr>
            </a:pPr>
            <a:r>
              <a:rPr sz="1875" b="1">
                <a:solidFill>
                  <a:srgbClr val="303044"/>
                </a:solidFill>
                <a:latin typeface="Malgun Gothic"/>
                <a:ea typeface="Malgun Gothic"/>
                <a:cs typeface="Malgun Gothic"/>
              </a:rPr>
              <a:t>1. 참는 자에게 복이 있나니</a:t>
            </a:r>
          </a:p>
        </p:txBody>
      </p:sp>
      <p:sp>
        <p:nvSpPr>
          <p:cNvPr id="9" name="">
            <a:extLst xmlns:a="http://schemas.openxmlformats.org/drawingml/2006/main">
              <a:ext uri="{FF2B5EF4-FFF2-40B4-BE49-F238E27FC236}">
                <a16:creationId xmlns:a16="http://schemas.microsoft.com/office/drawing/2014/main" id="{432EE70F-4528-4F07-9D8E-D6190A53F90A}"/>
              </a:ext>
            </a:extLst>
          </p:cNvPr>
          <p:cNvSpPr>
            <a:spLocks xmlns:a="http://schemas.openxmlformats.org/drawingml/2006/main" noGrp="1"/>
          </p:cNvSpPr>
          <p:nvPr/>
        </p:nvSpPr>
        <p:spPr>
          <a:xfrm xmlns:a="http://schemas.openxmlformats.org/drawingml/2006/main">
            <a:off x="6019800" y="3829050"/>
            <a:ext cx="55626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303044"/>
                </a:solidFill>
                <a:latin typeface="Malgun Gothic"/>
                <a:ea typeface="Malgun Gothic"/>
                <a:cs typeface="Malgun Gothic"/>
              </a:defRPr>
            </a:defPPr>
          </a:lstStyle>
          <a:p xmlns:a="http://schemas.openxmlformats.org/drawingml/2006/main">
            <a:pPr>
              <a:buNone/>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어제와 같았고, 내일과도 같을 오늘을 살아가는 은태. 맥주를 사러 들렸던 편의점에서 얼떨결에 로또를 사게 된다</a:t>
            </a:r>
          </a:p>
        </p:txBody>
      </p:sp>
      <p:sp>
        <p:nvSpPr>
          <p:cNvPr id="10" name="">
            <a:extLst xmlns:a="http://schemas.openxmlformats.org/drawingml/2006/main">
              <a:ext uri="{FF2B5EF4-FFF2-40B4-BE49-F238E27FC236}">
                <a16:creationId xmlns:a16="http://schemas.microsoft.com/office/drawing/2014/main" id="{A0FA59CB-0D6E-4580-B5A7-481FBB3632AF}"/>
              </a:ext>
            </a:extLst>
          </p:cNvPr>
          <p:cNvSpPr>
            <a:spLocks xmlns:a="http://schemas.openxmlformats.org/drawingml/2006/main" noGrp="1"/>
          </p:cNvSpPr>
          <p:nvPr/>
        </p:nvSpPr>
        <p:spPr>
          <a:xfrm xmlns:a="http://schemas.openxmlformats.org/drawingml/2006/main">
            <a:off x="6019800" y="4676775"/>
            <a:ext cx="5562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303044"/>
                </a:solidFill>
                <a:latin typeface="Malgun Gothic"/>
                <a:ea typeface="Malgun Gothic"/>
                <a:cs typeface="Malgun Gothic"/>
              </a:defRPr>
            </a:defPPr>
          </a:lstStyle>
          <a:p xmlns:a="http://schemas.openxmlformats.org/drawingml/2006/main">
            <a:pPr>
              <a:buNone/>
              <a:defRPr sz="1875" b="1">
                <a:solidFill>
                  <a:srgbClr val="303044"/>
                </a:solidFill>
                <a:latin typeface="Malgun Gothic"/>
                <a:ea typeface="Malgun Gothic"/>
                <a:cs typeface="Malgun Gothic"/>
              </a:defRPr>
            </a:pPr>
            <a:r>
              <a:rPr sz="1875" b="1">
                <a:solidFill>
                  <a:srgbClr val="303044"/>
                </a:solidFill>
                <a:latin typeface="Malgun Gothic"/>
                <a:ea typeface="Malgun Gothic"/>
                <a:cs typeface="Malgun Gothic"/>
              </a:rPr>
              <a:t>2. 8,145,060분의 1</a:t>
            </a:r>
          </a:p>
        </p:txBody>
      </p:sp>
      <p:sp>
        <p:nvSpPr>
          <p:cNvPr id="11" name="">
            <a:extLst xmlns:a="http://schemas.openxmlformats.org/drawingml/2006/main">
              <a:ext uri="{FF2B5EF4-FFF2-40B4-BE49-F238E27FC236}">
                <a16:creationId xmlns:a16="http://schemas.microsoft.com/office/drawing/2014/main" id="{69431F36-13B0-4768-8960-C78488631EA7}"/>
              </a:ext>
            </a:extLst>
          </p:cNvPr>
          <p:cNvSpPr>
            <a:spLocks xmlns:a="http://schemas.openxmlformats.org/drawingml/2006/main" noGrp="1"/>
          </p:cNvSpPr>
          <p:nvPr/>
        </p:nvSpPr>
        <p:spPr>
          <a:xfrm xmlns:a="http://schemas.openxmlformats.org/drawingml/2006/main">
            <a:off x="6019800" y="5095875"/>
            <a:ext cx="55626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303044"/>
                </a:solidFill>
                <a:latin typeface="Malgun Gothic"/>
                <a:ea typeface="Malgun Gothic"/>
                <a:cs typeface="Malgun Gothic"/>
              </a:defRPr>
            </a:defPPr>
          </a:lstStyle>
          <a:p xmlns:a="http://schemas.openxmlformats.org/drawingml/2006/main">
            <a:pPr>
              <a:buNone/>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당첨금을 찾느라 처음으로 늦은 출근을 하는 은태. 모두가 일하는 그 시각, 사무실에는 5팀의 자리만 비어있다</a:t>
            </a:r>
          </a:p>
        </p:txBody>
      </p:sp>
      <p:sp>
        <p:nvSpPr>
          <p:cNvPr id="12" name="">
            <a:extLst xmlns:a="http://schemas.openxmlformats.org/drawingml/2006/main">
              <a:ext uri="{FF2B5EF4-FFF2-40B4-BE49-F238E27FC236}">
                <a16:creationId xmlns:a16="http://schemas.microsoft.com/office/drawing/2014/main" id="{CB317C77-32E6-4C44-B65B-1C6C597DC161}"/>
              </a:ext>
            </a:extLst>
          </p:cNvPr>
          <p:cNvSpPr>
            <a:spLocks xmlns:a="http://schemas.openxmlformats.org/drawingml/2006/main" noGrp="1"/>
          </p:cNvSpPr>
          <p:nvPr/>
        </p:nvSpPr>
        <p:spPr>
          <a:xfrm xmlns:a="http://schemas.openxmlformats.org/drawingml/2006/main">
            <a:off x="609600" y="61817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797587"/>
                </a:solidFill>
                <a:latin typeface="Malgun Gothic"/>
                <a:ea typeface="Malgun Gothic"/>
                <a:cs typeface="Malgun Gothic"/>
              </a:defRPr>
            </a:defPPr>
          </a:lstStyle>
          <a:p xmlns:a="http://schemas.openxmlformats.org/drawingml/2006/main">
            <a:pPr>
              <a:buNone/>
              <a:defRPr sz="1350" b="0">
                <a:solidFill>
                  <a:srgbClr val="797587"/>
                </a:solidFill>
                <a:latin typeface="Malgun Gothic"/>
                <a:ea typeface="Malgun Gothic"/>
                <a:cs typeface="Malgun Gothic"/>
              </a:defRPr>
            </a:pPr>
            <a:r>
              <a:rPr sz="1350" b="0">
                <a:solidFill>
                  <a:srgbClr val="797587"/>
                </a:solidFill>
                <a:latin typeface="Malgun Gothic"/>
                <a:ea typeface="Malgun Gothic"/>
                <a:cs typeface="Malgun Gothic"/>
              </a:rPr>
              <a:t>저장 데이터 기준: 2026.10.07~08 / 시놉시스는 회차 소개이며 대본 원문은 아님</a:t>
            </a:r>
          </a:p>
        </p:txBody>
      </p:sp>
    </p:spTree>
    <p:extLst>
      <p:ext uri="{BB962C8B-B14F-4D97-AF65-F5344CB8AC3E}">
        <p14:creationId xmlns:p14="http://schemas.microsoft.com/office/powerpoint/2010/main" val="1664551700"/>
      </p:ext>
    </p:extLst>
  </p:cSld>
</p:sld>
</file>

<file path=ppt/slides/slide5.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65DD0E9-083E-4984-B241-4B58E875EE63}"/>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나무위키: 프로그램 메타데이터 수집 확인</a:t>
            </a:r>
          </a:p>
        </p:txBody>
      </p:sp>
      <p:sp>
        <p:nvSpPr>
          <p:cNvPr id="2" name="">
            <a:extLst xmlns:a="http://schemas.openxmlformats.org/drawingml/2006/main">
              <a:ext uri="{FF2B5EF4-FFF2-40B4-BE49-F238E27FC236}">
                <a16:creationId xmlns:a16="http://schemas.microsoft.com/office/drawing/2014/main" id="{29416870-2752-4476-A56F-02B9DFCFF38F}"/>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05</a:t>
            </a:r>
          </a:p>
        </p:txBody>
      </p:sp>
      <p:sp>
        <p:nvSpPr>
          <p:cNvPr id="3" name="">
            <a:extLst xmlns:a="http://schemas.openxmlformats.org/drawingml/2006/main">
              <a:ext uri="{FF2B5EF4-FFF2-40B4-BE49-F238E27FC236}">
                <a16:creationId xmlns:a16="http://schemas.microsoft.com/office/drawing/2014/main" id="{A7572A8A-FF55-459D-BB18-06368E07DF52}"/>
              </a:ext>
            </a:extLst>
          </p:cNvPr>
          <p:cNvSpPr>
            <a:spLocks xmlns:a="http://schemas.openxmlformats.org/drawingml/2006/main" noGrp="1"/>
          </p:cNvSpPr>
          <p:nvPr/>
        </p:nvSpPr>
        <p:spPr>
          <a:xfrm xmlns:a="http://schemas.openxmlformats.org/drawingml/2006/main">
            <a:off x="609600" y="13525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716095"/>
                </a:solidFill>
                <a:latin typeface="Malgun Gothic"/>
                <a:ea typeface="Malgun Gothic"/>
                <a:cs typeface="Malgun Gothic"/>
              </a:defRPr>
            </a:defPPr>
          </a:lstStyle>
          <a:p xmlns:a="http://schemas.openxmlformats.org/drawingml/2006/main">
            <a:pPr>
              <a:buNone/>
              <a:defRPr sz="2700" b="1">
                <a:solidFill>
                  <a:srgbClr val="716095"/>
                </a:solidFill>
                <a:latin typeface="Malgun Gothic"/>
                <a:ea typeface="Malgun Gothic"/>
                <a:cs typeface="Malgun Gothic"/>
              </a:defRPr>
            </a:pPr>
            <a:r>
              <a:rPr sz="2700" b="1">
                <a:solidFill>
                  <a:srgbClr val="716095"/>
                </a:solidFill>
                <a:latin typeface="Malgun Gothic"/>
                <a:ea typeface="Malgun Gothic"/>
                <a:cs typeface="Malgun Gothic"/>
              </a:rPr>
              <a:t>냉장고를 부탁해</a:t>
            </a:r>
          </a:p>
        </p:txBody>
      </p:sp>
      <p:graphicFrame>
        <p:nvGraphicFramePr>
          <p:cNvPr id="4" name="">
            <a:extLst xmlns:a="http://schemas.openxmlformats.org/drawingml/2006/main">
              <a:ext uri="{FF2B5EF4-FFF2-40B4-BE49-F238E27FC236}">
                <a16:creationId xmlns:a16="http://schemas.microsoft.com/office/drawing/2014/main" id="{F59BF588-0430-4616-A210-ED6E6B55053A}"/>
              </a:ext>
            </a:extLst>
          </p:cNvPr>
          <p:cNvGraphicFramePr/>
          <p:nvPr/>
        </p:nvGraphicFramePr>
        <p:xfrm>
          <a:off xmlns:a="http://schemas.openxmlformats.org/drawingml/2006/main" x="609600" y="2095500"/>
          <a:ext xmlns:a="http://schemas.openxmlformats.org/drawingml/2006/main" cx="6381750" cy="3629025"/>
        </p:xfrm>
        <a:graphic xmlns:a="http://schemas.openxmlformats.org/drawingml/2006/main">
          <a:graphicData uri="http://schemas.openxmlformats.org/drawingml/2006/table">
            <a:tbl>
              <a:tblPr/>
              <a:tblGrid>
                <a:gridCol w="2000250"/>
                <a:gridCol w="4381500"/>
              </a:tblGrid>
              <a:tr h="518432">
                <a:tc>
                  <a:txBody>
                    <a:bodyPr lIns="133350" tIns="133350" rIns="133350" bIns="13335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33350" tIns="133350" rIns="133350" bIns="133350"/>
                    <a:lstStyle/>
                    <a:p>
                      <a:r>
                        <a:rPr sz="1725" b="1">
                          <a:solidFill>
                            <a:srgbClr val="716095"/>
                          </a:solidFill>
                          <a:latin typeface="Malgun Gothic"/>
                          <a:ea typeface="Malgun Gothic"/>
                          <a:cs typeface="Malgun Gothic"/>
                        </a:rPr>
                        <a:t>수집 값</a:t>
                      </a:r>
                    </a:p>
                  </a:txBody>
                  <a:tcPr marL="91440" marR="91440" marT="45720" marB="45720" anchor="ctr">
                    <a:solidFill>
                      <a:srgbClr val="EEEBF7"/>
                    </a:solidFill>
                  </a:tcPr>
                </a:tc>
              </a:tr>
              <a:tr h="518432">
                <a:tc>
                  <a:txBody>
                    <a:bodyPr lIns="133350" tIns="133350" rIns="133350" bIns="133350"/>
                    <a:lstStyle/>
                    <a:p>
                      <a:r>
                        <a:rPr sz="1725" b="0">
                          <a:solidFill>
                            <a:srgbClr val="303044"/>
                          </a:solidFill>
                          <a:latin typeface="Malgun Gothic"/>
                          <a:ea typeface="Malgun Gothic"/>
                          <a:cs typeface="Malgun Gothic"/>
                        </a:rPr>
                        <a:t>방송사 / 제작사</a:t>
                      </a:r>
                    </a:p>
                  </a:txBody>
                  <a:tcPr marL="91440" marR="91440" marT="45720" marB="45720" anchor="ctr">
                    <a:solidFill>
                      <a:srgbClr val="FFFFFF"/>
                    </a:solidFill>
                  </a:tcPr>
                </a:tc>
                <a:tc>
                  <a:txBody>
                    <a:bodyPr lIns="133350" tIns="133350" rIns="133350" bIns="133350"/>
                    <a:lstStyle/>
                    <a:p>
                      <a:r>
                        <a:rPr sz="1725" b="0">
                          <a:solidFill>
                            <a:srgbClr val="303044"/>
                          </a:solidFill>
                          <a:latin typeface="Malgun Gothic"/>
                          <a:ea typeface="Malgun Gothic"/>
                          <a:cs typeface="Malgun Gothic"/>
                        </a:rPr>
                        <a:t>JTBC / 미스틱스토리</a:t>
                      </a:r>
                    </a:p>
                  </a:txBody>
                  <a:tcPr marL="91440" marR="91440" marT="45720" marB="45720" anchor="ctr">
                    <a:solidFill>
                      <a:srgbClr val="FFFFFF"/>
                    </a:solidFill>
                  </a:tcPr>
                </a:tc>
              </a:tr>
              <a:tr h="518432">
                <a:tc>
                  <a:txBody>
                    <a:bodyPr lIns="133350" tIns="133350" rIns="133350" bIns="133350"/>
                    <a:lstStyle/>
                    <a:p>
                      <a:r>
                        <a:rPr sz="1725" b="0">
                          <a:solidFill>
                            <a:srgbClr val="303044"/>
                          </a:solidFill>
                          <a:latin typeface="Malgun Gothic"/>
                          <a:ea typeface="Malgun Gothic"/>
                          <a:cs typeface="Malgun Gothic"/>
                        </a:rPr>
                        <a:t>연출</a:t>
                      </a:r>
                    </a:p>
                  </a:txBody>
                  <a:tcPr marL="91440" marR="91440" marT="45720" marB="45720" anchor="ctr">
                    <a:solidFill>
                      <a:srgbClr val="FFFFFF"/>
                    </a:solidFill>
                  </a:tcPr>
                </a:tc>
                <a:tc>
                  <a:txBody>
                    <a:bodyPr lIns="133350" tIns="133350" rIns="133350" bIns="133350"/>
                    <a:lstStyle/>
                    <a:p>
                      <a:r>
                        <a:rPr sz="1725" b="0">
                          <a:solidFill>
                            <a:srgbClr val="303044"/>
                          </a:solidFill>
                          <a:latin typeface="Malgun Gothic"/>
                          <a:ea typeface="Malgun Gothic"/>
                          <a:cs typeface="Malgun Gothic"/>
                        </a:rPr>
                        <a:t>성희성, 이건영</a:t>
                      </a:r>
                    </a:p>
                  </a:txBody>
                  <a:tcPr marL="91440" marR="91440" marT="45720" marB="45720" anchor="ctr">
                    <a:solidFill>
                      <a:srgbClr val="FFFFFF"/>
                    </a:solidFill>
                  </a:tcPr>
                </a:tc>
              </a:tr>
              <a:tr h="518432">
                <a:tc>
                  <a:txBody>
                    <a:bodyPr lIns="133350" tIns="133350" rIns="133350" bIns="133350"/>
                    <a:lstStyle/>
                    <a:p>
                      <a:r>
                        <a:rPr sz="1725" b="0">
                          <a:solidFill>
                            <a:srgbClr val="303044"/>
                          </a:solidFill>
                          <a:latin typeface="Malgun Gothic"/>
                          <a:ea typeface="Malgun Gothic"/>
                          <a:cs typeface="Malgun Gothic"/>
                        </a:rPr>
                        <a:t>작가 예시</a:t>
                      </a:r>
                    </a:p>
                  </a:txBody>
                  <a:tcPr marL="91440" marR="91440" marT="45720" marB="45720" anchor="ctr">
                    <a:solidFill>
                      <a:srgbClr val="FFFFFF"/>
                    </a:solidFill>
                  </a:tcPr>
                </a:tc>
                <a:tc>
                  <a:txBody>
                    <a:bodyPr lIns="133350" tIns="133350" rIns="133350" bIns="133350"/>
                    <a:lstStyle/>
                    <a:p>
                      <a:r>
                        <a:rPr sz="1725" b="0">
                          <a:solidFill>
                            <a:srgbClr val="303044"/>
                          </a:solidFill>
                          <a:latin typeface="Malgun Gothic"/>
                          <a:ea typeface="Malgun Gothic"/>
                          <a:cs typeface="Malgun Gothic"/>
                        </a:rPr>
                        <a:t>강윤정, 문정선, 김희연</a:t>
                      </a:r>
                    </a:p>
                  </a:txBody>
                  <a:tcPr marL="91440" marR="91440" marT="45720" marB="45720" anchor="ctr">
                    <a:solidFill>
                      <a:srgbClr val="FFFFFF"/>
                    </a:solidFill>
                  </a:tcPr>
                </a:tc>
              </a:tr>
              <a:tr h="518432">
                <a:tc>
                  <a:txBody>
                    <a:bodyPr lIns="133350" tIns="133350" rIns="133350" bIns="133350"/>
                    <a:lstStyle/>
                    <a:p>
                      <a:r>
                        <a:rPr sz="1725" b="0">
                          <a:solidFill>
                            <a:srgbClr val="303044"/>
                          </a:solidFill>
                          <a:latin typeface="Malgun Gothic"/>
                          <a:ea typeface="Malgun Gothic"/>
                          <a:cs typeface="Malgun Gothic"/>
                        </a:rPr>
                        <a:t>진행자</a:t>
                      </a:r>
                    </a:p>
                  </a:txBody>
                  <a:tcPr marL="91440" marR="91440" marT="45720" marB="45720" anchor="ctr">
                    <a:solidFill>
                      <a:srgbClr val="FFFFFF"/>
                    </a:solidFill>
                  </a:tcPr>
                </a:tc>
                <a:tc>
                  <a:txBody>
                    <a:bodyPr lIns="133350" tIns="133350" rIns="133350" bIns="133350"/>
                    <a:lstStyle/>
                    <a:p>
                      <a:r>
                        <a:rPr sz="1725" b="0">
                          <a:solidFill>
                            <a:srgbClr val="303044"/>
                          </a:solidFill>
                          <a:latin typeface="Malgun Gothic"/>
                          <a:ea typeface="Malgun Gothic"/>
                          <a:cs typeface="Malgun Gothic"/>
                        </a:rPr>
                        <a:t>김성주, 안정환, 정형돈</a:t>
                      </a:r>
                    </a:p>
                  </a:txBody>
                  <a:tcPr marL="91440" marR="91440" marT="45720" marB="45720" anchor="ctr">
                    <a:solidFill>
                      <a:srgbClr val="FFFFFF"/>
                    </a:solidFill>
                  </a:tcPr>
                </a:tc>
              </a:tr>
              <a:tr h="518432">
                <a:tc>
                  <a:txBody>
                    <a:bodyPr lIns="133350" tIns="133350" rIns="133350" bIns="133350"/>
                    <a:lstStyle/>
                    <a:p>
                      <a:r>
                        <a:rPr sz="1725" b="0">
                          <a:solidFill>
                            <a:srgbClr val="303044"/>
                          </a:solidFill>
                          <a:latin typeface="Malgun Gothic"/>
                          <a:ea typeface="Malgun Gothic"/>
                          <a:cs typeface="Malgun Gothic"/>
                        </a:rPr>
                        <a:t>방송 기간</a:t>
                      </a:r>
                    </a:p>
                  </a:txBody>
                  <a:tcPr marL="91440" marR="91440" marT="45720" marB="45720" anchor="ctr">
                    <a:solidFill>
                      <a:srgbClr val="FFFFFF"/>
                    </a:solidFill>
                  </a:tcPr>
                </a:tc>
                <a:tc>
                  <a:txBody>
                    <a:bodyPr lIns="133350" tIns="133350" rIns="133350" bIns="133350"/>
                    <a:lstStyle/>
                    <a:p>
                      <a:r>
                        <a:rPr sz="1725" b="0">
                          <a:solidFill>
                            <a:srgbClr val="303044"/>
                          </a:solidFill>
                          <a:latin typeface="Malgun Gothic"/>
                          <a:ea typeface="Malgun Gothic"/>
                          <a:cs typeface="Malgun Gothic"/>
                        </a:rPr>
                        <a:t>2014-11-17 ~ 2019-11-25</a:t>
                      </a:r>
                    </a:p>
                  </a:txBody>
                  <a:tcPr marL="91440" marR="91440" marT="45720" marB="45720" anchor="ctr">
                    <a:solidFill>
                      <a:srgbClr val="FFFFFF"/>
                    </a:solidFill>
                  </a:tcPr>
                </a:tc>
              </a:tr>
              <a:tr h="518432">
                <a:tc>
                  <a:txBody>
                    <a:bodyPr lIns="133350" tIns="133350" rIns="133350" bIns="133350"/>
                    <a:lstStyle/>
                    <a:p>
                      <a:r>
                        <a:rPr sz="1725" b="0">
                          <a:solidFill>
                            <a:srgbClr val="303044"/>
                          </a:solidFill>
                          <a:latin typeface="Malgun Gothic"/>
                          <a:ea typeface="Malgun Gothic"/>
                          <a:cs typeface="Malgun Gothic"/>
                        </a:rPr>
                        <a:t>총 회차 수</a:t>
                      </a:r>
                    </a:p>
                  </a:txBody>
                  <a:tcPr marL="91440" marR="91440" marT="45720" marB="45720" anchor="ctr">
                    <a:solidFill>
                      <a:srgbClr val="FFFFFF"/>
                    </a:solidFill>
                  </a:tcPr>
                </a:tc>
                <a:tc>
                  <a:txBody>
                    <a:bodyPr lIns="133350" tIns="133350" rIns="133350" bIns="133350"/>
                    <a:lstStyle/>
                    <a:p>
                      <a:r>
                        <a:rPr sz="1725" b="0">
                          <a:solidFill>
                            <a:srgbClr val="303044"/>
                          </a:solidFill>
                          <a:latin typeface="Malgun Gothic"/>
                          <a:ea typeface="Malgun Gothic"/>
                          <a:cs typeface="Malgun Gothic"/>
                        </a:rPr>
                        <a:t>254회 (문서의 시즌 1 정보)</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FB7C10EF-C575-43C3-992C-0639177D5BD5}"/>
              </a:ext>
            </a:extLst>
          </p:cNvPr>
          <p:cNvSpPr>
            <a:spLocks xmlns:a="http://schemas.openxmlformats.org/drawingml/2006/main" noGrp="1"/>
          </p:cNvSpPr>
          <p:nvPr/>
        </p:nvSpPr>
        <p:spPr>
          <a:xfrm xmlns:a="http://schemas.openxmlformats.org/drawingml/2006/main">
            <a:off x="7486650" y="21526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303044"/>
                </a:solidFill>
                <a:latin typeface="Malgun Gothic"/>
                <a:ea typeface="Malgun Gothic"/>
                <a:cs typeface="Malgun Gothic"/>
              </a:defRPr>
            </a:defPPr>
          </a:lstStyle>
          <a:p xmlns:a="http://schemas.openxmlformats.org/drawingml/2006/main">
            <a:pPr>
              <a:buNone/>
              <a:defRPr sz="2100" b="1">
                <a:solidFill>
                  <a:srgbClr val="303044"/>
                </a:solidFill>
                <a:latin typeface="Malgun Gothic"/>
                <a:ea typeface="Malgun Gothic"/>
                <a:cs typeface="Malgun Gothic"/>
              </a:defRPr>
            </a:pPr>
            <a:r>
              <a:rPr sz="2100" b="1">
                <a:solidFill>
                  <a:srgbClr val="303044"/>
                </a:solidFill>
                <a:latin typeface="Malgun Gothic"/>
                <a:ea typeface="Malgun Gothic"/>
                <a:cs typeface="Malgun Gothic"/>
              </a:rPr>
              <a:t>프로그램 설명도 수집</a:t>
            </a:r>
          </a:p>
        </p:txBody>
      </p:sp>
      <p:sp>
        <p:nvSpPr>
          <p:cNvPr id="6" name="">
            <a:extLst xmlns:a="http://schemas.openxmlformats.org/drawingml/2006/main">
              <a:ext uri="{FF2B5EF4-FFF2-40B4-BE49-F238E27FC236}">
                <a16:creationId xmlns:a16="http://schemas.microsoft.com/office/drawing/2014/main" id="{D8A55292-FED1-4AB4-805C-AE361DF258CD}"/>
              </a:ext>
            </a:extLst>
          </p:cNvPr>
          <p:cNvSpPr>
            <a:spLocks xmlns:a="http://schemas.openxmlformats.org/drawingml/2006/main" noGrp="1"/>
          </p:cNvSpPr>
          <p:nvPr/>
        </p:nvSpPr>
        <p:spPr>
          <a:xfrm xmlns:a="http://schemas.openxmlformats.org/drawingml/2006/main">
            <a:off x="7486650" y="2809875"/>
            <a:ext cx="40957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게스트의 냉장고 속 재료를 이용해</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셰프들이 제한 시간 15분 안에</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요리를 만들어 대결하는 프로그램</a:t>
            </a:r>
          </a:p>
        </p:txBody>
      </p:sp>
      <p:sp>
        <p:nvSpPr>
          <p:cNvPr id="7" name="">
            <a:extLst xmlns:a="http://schemas.openxmlformats.org/drawingml/2006/main">
              <a:ext uri="{FF2B5EF4-FFF2-40B4-BE49-F238E27FC236}">
                <a16:creationId xmlns:a16="http://schemas.microsoft.com/office/drawing/2014/main" id="{0D895BAB-3F4B-4E3A-B8A3-F545FEA4A3BB}"/>
              </a:ext>
            </a:extLst>
          </p:cNvPr>
          <p:cNvSpPr>
            <a:spLocks xmlns:a="http://schemas.openxmlformats.org/drawingml/2006/main" noGrp="1"/>
          </p:cNvSpPr>
          <p:nvPr/>
        </p:nvSpPr>
        <p:spPr>
          <a:xfrm xmlns:a="http://schemas.openxmlformats.org/drawingml/2006/main">
            <a:off x="7486650" y="4429125"/>
            <a:ext cx="4095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716095"/>
                </a:solidFill>
                <a:latin typeface="Malgun Gothic"/>
                <a:ea typeface="Malgun Gothic"/>
                <a:cs typeface="Malgun Gothic"/>
              </a:defRPr>
            </a:defPPr>
          </a:lstStyle>
          <a:p xmlns:a="http://schemas.openxmlformats.org/drawingml/2006/main">
            <a:pPr>
              <a:buNone/>
              <a:defRPr sz="1875" b="1">
                <a:solidFill>
                  <a:srgbClr val="716095"/>
                </a:solidFill>
                <a:latin typeface="Malgun Gothic"/>
                <a:ea typeface="Malgun Gothic"/>
                <a:cs typeface="Malgun Gothic"/>
              </a:defRPr>
            </a:pPr>
            <a:r>
              <a:rPr sz="1875" b="1">
                <a:solidFill>
                  <a:srgbClr val="716095"/>
                </a:solidFill>
                <a:latin typeface="Malgun Gothic"/>
                <a:ea typeface="Malgun Gothic"/>
                <a:cs typeface="Malgun Gothic"/>
              </a:rPr>
              <a:t>수집 범위</a:t>
            </a:r>
          </a:p>
        </p:txBody>
      </p:sp>
      <p:sp>
        <p:nvSpPr>
          <p:cNvPr id="8" name="">
            <a:extLst xmlns:a="http://schemas.openxmlformats.org/drawingml/2006/main">
              <a:ext uri="{FF2B5EF4-FFF2-40B4-BE49-F238E27FC236}">
                <a16:creationId xmlns:a16="http://schemas.microsoft.com/office/drawing/2014/main" id="{294A15B1-1A6A-419F-9A3D-39D68D43208F}"/>
              </a:ext>
            </a:extLst>
          </p:cNvPr>
          <p:cNvSpPr>
            <a:spLocks xmlns:a="http://schemas.openxmlformats.org/drawingml/2006/main" noGrp="1"/>
          </p:cNvSpPr>
          <p:nvPr/>
        </p:nvSpPr>
        <p:spPr>
          <a:xfrm xmlns:a="http://schemas.openxmlformats.org/drawingml/2006/main">
            <a:off x="7486650" y="4895850"/>
            <a:ext cx="4095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303044"/>
                </a:solidFill>
                <a:latin typeface="Malgun Gothic"/>
                <a:ea typeface="Malgun Gothic"/>
                <a:cs typeface="Malgun Gothic"/>
              </a:defRPr>
            </a:defPPr>
          </a:lstStyle>
          <a:p xmlns:a="http://schemas.openxmlformats.org/drawingml/2006/main">
            <a:pPr>
              <a:buNone/>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관련 문서 링크 저장</a:t>
            </a:r>
          </a:p>
          <a:p xmlns:a="http://schemas.openxmlformats.org/drawingml/2006/main">
            <a:pPr>
              <a:buNone/>
              <a:defRPr sz="1725" b="0">
                <a:solidFill>
                  <a:srgbClr val="303044"/>
                </a:solidFill>
                <a:latin typeface="Malgun Gothic"/>
                <a:ea typeface="Malgun Gothic"/>
                <a:cs typeface="Malgun Gothic"/>
              </a:defRPr>
            </a:pPr>
            <a:r>
              <a:rPr sz="1725" b="0">
                <a:solidFill>
                  <a:srgbClr val="303044"/>
                </a:solidFill>
                <a:latin typeface="Malgun Gothic"/>
                <a:ea typeface="Malgun Gothic"/>
                <a:cs typeface="Malgun Gothic"/>
              </a:rPr>
              <a:t>현재 예시의 회차별 데이터는 없음</a:t>
            </a:r>
          </a:p>
        </p:txBody>
      </p:sp>
      <p:sp>
        <p:nvSpPr>
          <p:cNvPr id="9" name="">
            <a:extLst xmlns:a="http://schemas.openxmlformats.org/drawingml/2006/main">
              <a:ext uri="{FF2B5EF4-FFF2-40B4-BE49-F238E27FC236}">
                <a16:creationId xmlns:a16="http://schemas.microsoft.com/office/drawing/2014/main" id="{93AF65D1-0BB4-46E2-9C04-89CA2C7C64A2}"/>
              </a:ext>
            </a:extLst>
          </p:cNvPr>
          <p:cNvSpPr>
            <a:spLocks xmlns:a="http://schemas.openxmlformats.org/drawingml/2006/main" noGrp="1"/>
          </p:cNvSpPr>
          <p:nvPr/>
        </p:nvSpPr>
        <p:spPr>
          <a:xfrm xmlns:a="http://schemas.openxmlformats.org/drawingml/2006/main">
            <a:off x="609600" y="61817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797587"/>
                </a:solidFill>
                <a:latin typeface="Malgun Gothic"/>
                <a:ea typeface="Malgun Gothic"/>
                <a:cs typeface="Malgun Gothic"/>
              </a:defRPr>
            </a:defPPr>
          </a:lstStyle>
          <a:p xmlns:a="http://schemas.openxmlformats.org/drawingml/2006/main">
            <a:pPr>
              <a:buNone/>
              <a:defRPr sz="1350" b="0">
                <a:solidFill>
                  <a:srgbClr val="797587"/>
                </a:solidFill>
                <a:latin typeface="Malgun Gothic"/>
                <a:ea typeface="Malgun Gothic"/>
                <a:cs typeface="Malgun Gothic"/>
              </a:defRPr>
            </a:pPr>
            <a:r>
              <a:rPr sz="1350" b="0">
                <a:solidFill>
                  <a:srgbClr val="797587"/>
                </a:solidFill>
                <a:latin typeface="Malgun Gothic"/>
                <a:ea typeface="Malgun Gothic"/>
                <a:cs typeface="Malgun Gothic"/>
              </a:rPr>
              <a:t>저장 데이터 기준: 2026.10.08 / 총 회차 수와 회차별 시놉시스 확보는 구분</a:t>
            </a:r>
          </a:p>
        </p:txBody>
      </p:sp>
    </p:spTree>
    <p:extLst>
      <p:ext uri="{BB962C8B-B14F-4D97-AF65-F5344CB8AC3E}">
        <p14:creationId xmlns:p14="http://schemas.microsoft.com/office/powerpoint/2010/main" val="758448600"/>
      </p:ext>
    </p:extLst>
  </p:cSld>
</p:sld>
</file>

<file path=ppt/slides/slide6.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3392474-0DCF-4F3F-9B36-C7FB6E44F730}"/>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수집 도구 구현과 다음 단계</a:t>
            </a:r>
          </a:p>
        </p:txBody>
      </p:sp>
      <p:sp>
        <p:nvSpPr>
          <p:cNvPr id="2" name="">
            <a:extLst xmlns:a="http://schemas.openxmlformats.org/drawingml/2006/main">
              <a:ext uri="{FF2B5EF4-FFF2-40B4-BE49-F238E27FC236}">
                <a16:creationId xmlns:a16="http://schemas.microsoft.com/office/drawing/2014/main" id="{48D0B8EF-0252-4E15-B0D6-5E3181ACE283}"/>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06</a:t>
            </a:r>
          </a:p>
        </p:txBody>
      </p:sp>
      <p:pic>
        <p:nvPicPr>
          <p:cNvPr id="3" name="">
            <a:extLst xmlns:a="http://schemas.openxmlformats.org/drawingml/2006/main">
              <a:ext uri="{FF2B5EF4-FFF2-40B4-BE49-F238E27FC236}">
                <a16:creationId xmlns:a16="http://schemas.microsoft.com/office/drawing/2014/main" id="{57B54D64-5879-4DF2-83E1-D624D15D71B4}"/>
              </a:ext>
            </a:extLst>
          </p:cNvPr>
          <p:cNvPicPr>
            <a:picLocks xmlns:a="http://schemas.openxmlformats.org/drawingml/2006/main" noChangeAspect="1"/>
          </p:cNvPicPr>
          <p:nvPr/>
        </p:nvPicPr>
        <p:blipFill>
          <a:blip xmlns:r="http://schemas.openxmlformats.org/officeDocument/2006/relationships" xmlns:a="http://schemas.openxmlformats.org/drawingml/2006/main" r:embed="Rb9e6ced5af4347ec"/>
          <a:stretch xmlns:a="http://schemas.openxmlformats.org/drawingml/2006/main"/>
        </p:blipFill>
        <p:spPr>
          <a:xfrm xmlns:a="http://schemas.openxmlformats.org/drawingml/2006/main">
            <a:off x="609600" y="1440442"/>
            <a:ext cx="7239000" cy="468196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0672C41-CCD1-44C2-855E-EAFD1F8F4EF1}"/>
              </a:ext>
            </a:extLst>
          </p:cNvPr>
          <p:cNvSpPr>
            <a:spLocks xmlns:a="http://schemas.openxmlformats.org/drawingml/2006/main" noGrp="1"/>
          </p:cNvSpPr>
          <p:nvPr/>
        </p:nvSpPr>
        <p:spPr>
          <a:xfrm xmlns:a="http://schemas.openxmlformats.org/drawingml/2006/main">
            <a:off x="8286750" y="1485900"/>
            <a:ext cx="32956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현재 구현</a:t>
            </a:r>
          </a:p>
        </p:txBody>
      </p:sp>
      <p:sp>
        <p:nvSpPr>
          <p:cNvPr id="5" name="">
            <a:extLst xmlns:a="http://schemas.openxmlformats.org/drawingml/2006/main">
              <a:ext uri="{FF2B5EF4-FFF2-40B4-BE49-F238E27FC236}">
                <a16:creationId xmlns:a16="http://schemas.microsoft.com/office/drawing/2014/main" id="{4B8563FC-5FC3-4E7A-880F-44A9FD837E64}"/>
              </a:ext>
            </a:extLst>
          </p:cNvPr>
          <p:cNvSpPr>
            <a:spLocks xmlns:a="http://schemas.openxmlformats.org/drawingml/2006/main" noGrp="1"/>
          </p:cNvSpPr>
          <p:nvPr/>
        </p:nvSpPr>
        <p:spPr>
          <a:xfrm xmlns:a="http://schemas.openxmlformats.org/drawingml/2006/main">
            <a:off x="8286750" y="2066925"/>
            <a:ext cx="32956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URL 입력과 수집 범위 설정</a:t>
            </a: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작품 정보·회차·JSON 조회</a:t>
            </a: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실행별 폴더에 결과 저장</a:t>
            </a:r>
          </a:p>
        </p:txBody>
      </p:sp>
      <p:sp>
        <p:nvSpPr>
          <p:cNvPr id="6" name="">
            <a:extLst xmlns:a="http://schemas.openxmlformats.org/drawingml/2006/main">
              <a:ext uri="{FF2B5EF4-FFF2-40B4-BE49-F238E27FC236}">
                <a16:creationId xmlns:a16="http://schemas.microsoft.com/office/drawing/2014/main" id="{3ECA2808-98EF-47E6-A47F-4935E069734B}"/>
              </a:ext>
            </a:extLst>
          </p:cNvPr>
          <p:cNvSpPr>
            <a:spLocks xmlns:a="http://schemas.openxmlformats.org/drawingml/2006/main" noGrp="1"/>
          </p:cNvSpPr>
          <p:nvPr/>
        </p:nvSpPr>
        <p:spPr>
          <a:xfrm xmlns:a="http://schemas.openxmlformats.org/drawingml/2006/main">
            <a:off x="8286750" y="3876675"/>
            <a:ext cx="32956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다음 확인 사항</a:t>
            </a:r>
          </a:p>
        </p:txBody>
      </p:sp>
      <p:sp>
        <p:nvSpPr>
          <p:cNvPr id="7" name="">
            <a:extLst xmlns:a="http://schemas.openxmlformats.org/drawingml/2006/main">
              <a:ext uri="{FF2B5EF4-FFF2-40B4-BE49-F238E27FC236}">
                <a16:creationId xmlns:a16="http://schemas.microsoft.com/office/drawing/2014/main" id="{ACD8B456-9AE9-482B-8C30-388DE5A109EF}"/>
              </a:ext>
            </a:extLst>
          </p:cNvPr>
          <p:cNvSpPr>
            <a:spLocks xmlns:a="http://schemas.openxmlformats.org/drawingml/2006/main" noGrp="1"/>
          </p:cNvSpPr>
          <p:nvPr/>
        </p:nvSpPr>
        <p:spPr>
          <a:xfrm xmlns:a="http://schemas.openxmlformats.org/drawingml/2006/main">
            <a:off x="8286750" y="4457700"/>
            <a:ext cx="32956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필드 누락 및 회차 완전성</a:t>
            </a: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출처별 데이터 품질</a:t>
            </a: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위키 관련 문서의 수집 범위</a:t>
            </a:r>
          </a:p>
        </p:txBody>
      </p:sp>
      <p:sp>
        <p:nvSpPr>
          <p:cNvPr id="8" name="">
            <a:extLst xmlns:a="http://schemas.openxmlformats.org/drawingml/2006/main">
              <a:ext uri="{FF2B5EF4-FFF2-40B4-BE49-F238E27FC236}">
                <a16:creationId xmlns:a16="http://schemas.microsoft.com/office/drawing/2014/main" id="{735AA77D-75B0-4F24-B876-E2D90C3DCF41}"/>
              </a:ext>
            </a:extLst>
          </p:cNvPr>
          <p:cNvSpPr>
            <a:spLocks xmlns:a="http://schemas.openxmlformats.org/drawingml/2006/main" noGrp="1"/>
          </p:cNvSpPr>
          <p:nvPr/>
        </p:nvSpPr>
        <p:spPr>
          <a:xfrm xmlns:a="http://schemas.openxmlformats.org/drawingml/2006/main">
            <a:off x="609600" y="631507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797587"/>
                </a:solidFill>
                <a:latin typeface="Malgun Gothic"/>
                <a:ea typeface="Malgun Gothic"/>
                <a:cs typeface="Malgun Gothic"/>
              </a:defRPr>
            </a:defPPr>
          </a:lstStyle>
          <a:p xmlns:a="http://schemas.openxmlformats.org/drawingml/2006/main">
            <a:pPr>
              <a:buNone/>
              <a:defRPr sz="1425" b="0">
                <a:solidFill>
                  <a:srgbClr val="797587"/>
                </a:solidFill>
                <a:latin typeface="Malgun Gothic"/>
                <a:ea typeface="Malgun Gothic"/>
                <a:cs typeface="Malgun Gothic"/>
              </a:defRPr>
            </a:pPr>
            <a:r>
              <a:rPr sz="1425" b="0">
                <a:solidFill>
                  <a:srgbClr val="797587"/>
                </a:solidFill>
                <a:latin typeface="Malgun Gothic"/>
                <a:ea typeface="Malgun Gothic"/>
                <a:cs typeface="Malgun Gothic"/>
              </a:rPr>
              <a:t>TVING과 나무위키의 수집 로직을 분리하고 공통 콘텐츠 스키마로 저장</a:t>
            </a:r>
          </a:p>
        </p:txBody>
      </p:sp>
    </p:spTree>
    <p:extLst>
      <p:ext uri="{BB962C8B-B14F-4D97-AF65-F5344CB8AC3E}">
        <p14:creationId xmlns:p14="http://schemas.microsoft.com/office/powerpoint/2010/main" val="15873584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2026-10-11T11:18:10.0370000Z</dcterms:created>
  <dcterms:modified xsi:type="dcterms:W3CDTF">2026-10-11T11:18:10.0370000Z</dcterms:modified>
</coreProperties>
</file>