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23d9391e0a40d4" /><Relationship Type="http://schemas.openxmlformats.org/officeDocument/2006/relationships/extended-properties" Target="/docProps/app.xml" Id="R9c8b982929e34471" /><Relationship Type="http://schemas.openxmlformats.org/officeDocument/2006/relationships/officeDocument" Target="/ppt/presentation.xml" Id="R7efa2c18c57f407b" /></Relationships>
</file>

<file path=ppt/presentation.xml><?xml version="1.0" encoding="utf-8"?>
<p:presentation xmlns:p="http://schemas.openxmlformats.org/presentationml/2006/main">
  <p:sldMasterIdLst>
    <p:sldMasterId xmlns:r="http://schemas.openxmlformats.org/officeDocument/2006/relationships" id="2147483648" r:id="R0f9a389925ae49f7"/>
  </p:sldMasterIdLst>
  <p:notesMasterIdLst>
    <p:notesMasterId xmlns:r="http://schemas.openxmlformats.org/officeDocument/2006/relationships" r:id="R326648b356ed41a0"/>
  </p:notesMasterIdLst>
  <p:sldIdLst>
    <p:sldId xmlns:r="http://schemas.openxmlformats.org/officeDocument/2006/relationships" id="256" r:id="R2d3788fc59d44f6d"/>
    <p:sldId xmlns:r="http://schemas.openxmlformats.org/officeDocument/2006/relationships" id="257" r:id="R29cffe9eab9f4782"/>
    <p:sldId xmlns:r="http://schemas.openxmlformats.org/officeDocument/2006/relationships" id="258" r:id="R61ab097d6b3241ff"/>
    <p:sldId xmlns:r="http://schemas.openxmlformats.org/officeDocument/2006/relationships" id="259" r:id="R4fb6a4db943c4124"/>
    <p:sldId xmlns:r="http://schemas.openxmlformats.org/officeDocument/2006/relationships" id="260" r:id="Rb6d148c359e24c23"/>
    <p:sldId xmlns:r="http://schemas.openxmlformats.org/officeDocument/2006/relationships" id="261" r:id="R93a7630ca08b4e00"/>
    <p:sldId xmlns:r="http://schemas.openxmlformats.org/officeDocument/2006/relationships" id="262" r:id="Rd11c7a4c1fae4d97"/>
    <p:sldId xmlns:r="http://schemas.openxmlformats.org/officeDocument/2006/relationships" id="263" r:id="R9fc98f5a7e514f7f"/>
    <p:sldId xmlns:r="http://schemas.openxmlformats.org/officeDocument/2006/relationships" id="264" r:id="R37cec66da501430a"/>
    <p:sldId xmlns:r="http://schemas.openxmlformats.org/officeDocument/2006/relationships" id="265" r:id="R121f6ebfe3df40e5"/>
    <p:sldId xmlns:r="http://schemas.openxmlformats.org/officeDocument/2006/relationships" id="266" r:id="Rb73805adcb2043ba"/>
    <p:sldId xmlns:r="http://schemas.openxmlformats.org/officeDocument/2006/relationships" id="267" r:id="Rc05f4c3282304679"/>
    <p:sldId xmlns:r="http://schemas.openxmlformats.org/officeDocument/2006/relationships" id="268" r:id="Rc8994f0fd2de4550"/>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4d1d45bf47334474" /><Relationship Type="http://schemas.openxmlformats.org/officeDocument/2006/relationships/slideMaster" Target="/ppt/slideMasters/slideMaster1.xml" Id="R0f9a389925ae49f7" /><Relationship Type="http://schemas.openxmlformats.org/officeDocument/2006/relationships/notesMaster" Target="/ppt/notesMasters/notesMaster1.xml" Id="R326648b356ed41a0" /><Relationship Type="http://schemas.openxmlformats.org/officeDocument/2006/relationships/presProps" Target="/ppt/presProps.xml" Id="R2703eb25a59743f8" /><Relationship Type="http://schemas.openxmlformats.org/officeDocument/2006/relationships/viewProps" Target="/ppt/viewProps.xml" Id="Rcb189f337b824431" /><Relationship Type="http://schemas.openxmlformats.org/officeDocument/2006/relationships/tableStyles" Target="/ppt/tableStyles.xml" Id="Rfb3c502577c2426f" /><Relationship Type="http://schemas.openxmlformats.org/officeDocument/2006/relationships/slide" Target="/ppt/slides/slide1.xml" Id="R2d3788fc59d44f6d" /><Relationship Type="http://schemas.openxmlformats.org/officeDocument/2006/relationships/slide" Target="/ppt/slides/slide2.xml" Id="R29cffe9eab9f4782" /><Relationship Type="http://schemas.openxmlformats.org/officeDocument/2006/relationships/slide" Target="/ppt/slides/slide3.xml" Id="R61ab097d6b3241ff" /><Relationship Type="http://schemas.openxmlformats.org/officeDocument/2006/relationships/slide" Target="/ppt/slides/slide4.xml" Id="R4fb6a4db943c4124" /><Relationship Type="http://schemas.openxmlformats.org/officeDocument/2006/relationships/slide" Target="/ppt/slides/slide5.xml" Id="Rb6d148c359e24c23" /><Relationship Type="http://schemas.openxmlformats.org/officeDocument/2006/relationships/slide" Target="/ppt/slides/slide6.xml" Id="R93a7630ca08b4e00" /><Relationship Type="http://schemas.openxmlformats.org/officeDocument/2006/relationships/slide" Target="/ppt/slides/slide7.xml" Id="Rd11c7a4c1fae4d97" /><Relationship Type="http://schemas.openxmlformats.org/officeDocument/2006/relationships/slide" Target="/ppt/slides/slide8.xml" Id="R9fc98f5a7e514f7f" /><Relationship Type="http://schemas.openxmlformats.org/officeDocument/2006/relationships/slide" Target="/ppt/slides/slide9.xml" Id="R37cec66da501430a" /><Relationship Type="http://schemas.openxmlformats.org/officeDocument/2006/relationships/slide" Target="/ppt/slides/slide10.xml" Id="R121f6ebfe3df40e5" /><Relationship Type="http://schemas.openxmlformats.org/officeDocument/2006/relationships/slide" Target="/ppt/slides/slide11.xml" Id="Rb73805adcb2043ba" /><Relationship Type="http://schemas.openxmlformats.org/officeDocument/2006/relationships/slide" Target="/ppt/slides/slide12.xml" Id="Rc05f4c3282304679" /><Relationship Type="http://schemas.openxmlformats.org/officeDocument/2006/relationships/slide" Target="/ppt/slides/slide13.xml" Id="Rc8994f0fd2de455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6aa7cc2c95400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380470b6924284" /><Relationship Type="http://schemas.openxmlformats.org/officeDocument/2006/relationships/notesMaster" Target="/ppt/notesMasters/notesMaster1.xml" Id="R5d76b69a1d334aea"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9f06dae51f4cd8" /><Relationship Type="http://schemas.openxmlformats.org/officeDocument/2006/relationships/notesMaster" Target="/ppt/notesMasters/notesMaster1.xml" Id="R93ecf4b1aa2547e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d1bdea7ab634395" /><Relationship Type="http://schemas.openxmlformats.org/officeDocument/2006/relationships/notesMaster" Target="/ppt/notesMasters/notesMaster1.xml" Id="R369ac64a3e284d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6166dac7ee034f6f" /><Relationship Type="http://schemas.openxmlformats.org/officeDocument/2006/relationships/notesMaster" Target="/ppt/notesMasters/notesMaster1.xml" Id="R9d06cf4c730c4442" /></Relationships>
</file>

<file path=ppt/notesSlides/_rels/notesSlide5.xml.rels>&#65279;<?xml version="1.0" encoding="utf-8"?><Relationships xmlns="http://schemas.openxmlformats.org/package/2006/relationships"><Relationship Type="http://schemas.openxmlformats.org/officeDocument/2006/relationships/slide" Target="/ppt/slides/slide5.xml" Id="R395089cc484d4b88" /><Relationship Type="http://schemas.openxmlformats.org/officeDocument/2006/relationships/notesMaster" Target="/ppt/notesMasters/notesMaster1.xml" Id="Rdbf23f1bd27547c6" /></Relationships>
</file>

<file path=ppt/notesSlides/_rels/notesSlide6.xml.rels>&#65279;<?xml version="1.0" encoding="utf-8"?><Relationships xmlns="http://schemas.openxmlformats.org/package/2006/relationships"><Relationship Type="http://schemas.openxmlformats.org/officeDocument/2006/relationships/slide" Target="/ppt/slides/slide6.xml" Id="Rc2a20bfc941c42a0" /><Relationship Type="http://schemas.openxmlformats.org/officeDocument/2006/relationships/notesMaster" Target="/ppt/notesMasters/notesMaster1.xml" Id="R79ddc8f284214ac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10520051c224ee5" /><Relationship Type="http://schemas.openxmlformats.org/officeDocument/2006/relationships/notesMaster" Target="/ppt/notesMasters/notesMaster1.xml" Id="Rd44e783221664b6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00ea06c711434f" /><Relationship Type="http://schemas.openxmlformats.org/officeDocument/2006/relationships/notesMaster" Target="/ppt/notesMasters/notesMaster1.xml" Id="R5aab1fc516e54ba9"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b8261acc884747" /><Relationship Type="http://schemas.openxmlformats.org/officeDocument/2006/relationships/notesMaster" Target="/ppt/notesMasters/notesMaster1.xml" Id="Ra95c62fca644461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9d781ae0e9f4edf" /><Relationship Type="http://schemas.openxmlformats.org/officeDocument/2006/relationships/notesMaster" Target="/ppt/notesMasters/notesMaster1.xml" Id="Ra1feeb3fc1ea455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86649d9a5848db" /><Relationship Type="http://schemas.openxmlformats.org/officeDocument/2006/relationships/notesMaster" Target="/ppt/notesMasters/notesMaster1.xml" Id="R1e9624026dbd482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e20021772f54c7a" /><Relationship Type="http://schemas.openxmlformats.org/officeDocument/2006/relationships/notesMaster" Target="/ppt/notesMasters/notesMaster1.xml" Id="Raf46e64750b24c0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7327adaf2b24e52" /><Relationship Type="http://schemas.openxmlformats.org/officeDocument/2006/relationships/notesMaster" Target="/ppt/notesMasters/notesMaster1.xml" Id="Rbac43ba93785488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CJ ENM·컴투스 그룹·MBC 충북을 기본 검토 대상으로 유지합니다. TVING과 나무위키는 추가 수집원입니다. CJ ENM 기술 검증은 2026-10-12, TVING 배치 수집은 2026-10-07, 나무위키 기존 수집 사례는 2026-10-08 기준입니다. 사용자 제공 캡처는 reports/1에서 확보했고 촬영일 자체는 확인하지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기본 검토 대상 출처: C:/Users/moon/Documents/카카오톡 받은 파일/(260929)ETRI_용역과제_킥오프미팅_발표자료.pdf, PDF 6페이지(슬라이드 인쇄 번호 9), 검토 대상 웹사이트 리스트. 원문에는 CJ ENM: 드라마, 예능 / 컴투스 그룹(위지윅스튜디오): 드라마 / MBC 충북(중앙 MBC와 별개): 뉴스가 명시되어 있습니다. 또한 CJ ENM 콘텐츠는 TVING 등 실제 콘텐츠 제공 경로도 함께 검토하도록 제시합니다. 나무위키는 사용자와의 작업 과정에서 추가한 보완 수집원입니다. 유튜브 개인방송은 원문의 추가 검토 대상이나 이번 보고 범위에서는 다루지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D:/MMLAB/projects/broadcast_web_crawler/reports/1/com2us_detail.png</a:t>
            </a:r>
          </a:p>
          <a:p xmlns:a="http://schemas.openxmlformats.org/drawingml/2006/main">
            <a:r>
              <a:t>원문 URL: https://com2usn.com/work/255</a:t>
            </a:r>
          </a:p>
          <a:p xmlns:a="http://schemas.openxmlformats.org/drawingml/2006/main">
            <a:r>
              <a:t>작품: 킬러들의 쇼핑몰2. 사용자 캡처에서 작품명과 YouTube 티저 영상 및 이전/다음 글을 확인했습니다. 이 점검 페이지에서 제작진·출연진·줄거리·회차 정보 등의 텍스트는 확인하지 못했습니다. 사이트 전체의 정보 부재로 일반화하지 않습니다. 기본 대상은 첨부 킥오프 자료의 컴투스 그룹(위지윅스튜디오)이며 실제 점검 경로는 컴투스엔입니다.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D:/MMLAB/projects/broadcast_web_crawler/reports/1/mbc충북_뉴스세부.png</a:t>
            </a:r>
          </a:p>
          <a:p xmlns:a="http://schemas.openxmlformats.org/drawingml/2006/main">
            <a:r>
              <a:t>D:/MMLAB/projects/broadcast_web_crawler/reports/1/mbc충북_뉴스세부2.png</a:t>
            </a:r>
          </a:p>
          <a:p xmlns:a="http://schemas.openxmlformats.org/drawingml/2006/main">
            <a:r>
              <a:t>원문: https://news.mbccb.co.kr/home/sub.php?menukey=61&amp;mod=view&amp;RECEIVE_DATE=20261011&amp;SEQUENCE=0110&amp;page=1&amp;sccode=99999999&amp;datepicker_st=&amp;datepicker_ed=</a:t>
            </a:r>
          </a:p>
          <a:p xmlns:a="http://schemas.openxmlformats.org/drawingml/2006/main">
            <a:r>
              <a:t>캡처에서 제목, 정재영 기자, 송고 2026-10-11 17:01, 임베드 영상, 앵커/인터뷰 포함 기사 원고, 영상 김현준 표기를 확인했습니다. 구조와 데이터 존재를 확인한 단계이며 MBC 충북의 자동 수집·정책 검증을 완료했다는 뜻은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메인 사이트 캡처: D:/MMLAB/projects/broadcast_web_crawler/reports/1/cjenm_robots.png</a:t>
            </a:r>
          </a:p>
          <a:p xmlns:a="http://schemas.openxmlformats.org/drawingml/2006/main">
            <a:r>
              <a:t>캡처 주소 cjenm.com/robots.txt는 기본 제한과 특정 봇에 대한 허용 예외를 함께 보여줍니다.</a:t>
            </a:r>
          </a:p>
          <a:p xmlns:a="http://schemas.openxmlformats.org/drawingml/2006/main">
            <a:r>
              <a:t>API 호스트 실측: https://web2-cf-api.cjenm.com/robots.txt</a:t>
            </a:r>
          </a:p>
          <a:p xmlns:a="http://schemas.openxmlformats.org/drawingml/2006/main">
            <a:r>
              <a:t>저장 근거: D:/MMLAB/projects/broadcast_web_crawler/reports/cjenm-api-verification/20261012_085630/robots.txt</a:t>
            </a:r>
          </a:p>
          <a:p xmlns:a="http://schemas.openxmlformats.org/drawingml/2006/main">
            <a:r>
              <a:t>API 호스트는 User-Agent: * / Disallow: /만 반환했습니다. robots.txt는 접근 차단 장치가 아니며 이번 직접 호출은 실제 성공했습니다. 본 자료는 법률상 금지 또는 공식 공개 API 제공을 단정하지 않습니다. 지속 자동 수집 적용에는 허용 범위 확인이 필요합니다.</a:t>
            </a:r>
          </a:p>
          <a:p xmlns:a="http://schemas.openxmlformats.org/drawingml/2006/main">
            <a:r>
              <a:t>발표 순서: robots.txt의 자동 수집 제한을 먼저 설명하고, 사람이 상세페이지를 직접 열어 페이지의 API 요청·응답에서 작품 메타데이터를 발견한 과정으로 이어갑니다. 정책상 제한을 기술적인 호출 불가능으로 표현하지 않습니다. 이후 별도 Python 직접 호출 검증에서 두 API의 HTTP 200 및 쿠키·인증 불필요 결과를 설명합니다.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D:/MMLAB/projects/broadcast_web_crawler/reports/1/cjenm_detail1.png</a:t>
            </a:r>
          </a:p>
          <a:p xmlns:a="http://schemas.openxmlformats.org/drawingml/2006/main">
            <a:r>
              <a:t>원문: https://www.cjenm.com/ko/featured-contents/%ED%8F%AC%ED%95%B8%EC%A6%88/</a:t>
            </a:r>
          </a:p>
          <a:p xmlns:a="http://schemas.openxmlformats.org/drawingml/2006/main">
            <a:r>
              <a:t>출처 JSON: D:/MMLAB/projects/broadcast_web_crawler/reports/cjenm-api-verification/20261012_085630/content-metadata.json</a:t>
            </a:r>
          </a:p>
          <a:p xmlns:a="http://schemas.openxmlformats.org/drawingml/2006/main">
            <a:r>
              <a:t>API는 프로그램 정보와 등장인물 2명 정보를 제공했습니다. 전체 등장인물 완전성은 검증하지 않았습니다. 이미지 필드는 정규화 결과에서 제외했습니다.</a:t>
            </a:r>
          </a:p>
          <a:p xmlns:a="http://schemas.openxmlformats.org/drawingml/2006/main">
            <a:r>
              <a:t>사용자 수정 반영: 이 슬라이드의 표는 제공한 웹사이트 화면에서 확인한 정보만 다룹니다. 15세 이상은 API의 dlbrtGrd에서 확인한 값이며 화면 기본 정보에 표시된 항목으로 제시하지 않습니다. 화면에 표시된 출연진은 송강·이준영·장규리·정진영 4명이고 등장인물 설명은 강비오(송강)·최정요(이준영) 2명만 제공합니다. 사이트의 전체 출연진 또는 다른 문서의 등장인물 수로 일반화하지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브라우저 캡처: D:/MMLAB/projects/broadcast_web_crawler/reports/1/cjenm_console1.png</a:t>
            </a:r>
          </a:p>
          <a:p xmlns:a="http://schemas.openxmlformats.org/drawingml/2006/main">
            <a:r>
              <a:t>실측 보고서: D:/MMLAB/projects/broadcast_web_crawler/reports/cjenm-api-verification/20261012_085630/verification-report.json</a:t>
            </a:r>
          </a:p>
          <a:p xmlns:a="http://schemas.openxmlformats.org/drawingml/2006/main">
            <a:r>
              <a:t>응답 비교: D:/MMLAB/projects/broadcast_web_crawler/reports/cjenm-api-verification/20261012_085630/response-comparison.json</a:t>
            </a:r>
          </a:p>
          <a:p xmlns:a="http://schemas.openxmlformats.org/drawingml/2006/main">
            <a:r>
              <a:t>프로그램 GET https://web2-cf-api.cjenm.com/apis/v1/conts/detail?pgmSeq=220264&amp;svcCd=SV001&amp;siteCd=ST000001&amp;ctgCd=MC010003</a:t>
            </a:r>
          </a:p>
          <a:p xmlns:a="http://schemas.openxmlformats.org/drawingml/2006/main">
            <a:r>
              <a:t>등장인물 GET https://web2-cf-api.cjenm.com/apis/v1/conts/detail/prsn?pgmSeq=220264</a:t>
            </a:r>
          </a:p>
          <a:p xmlns:a="http://schemas.openxmlformats.org/drawingml/2006/main">
            <a:r>
              <a:t>Python urllib의 직접 HTTP 요청입니다. User-Agent BroadcastMetadataVerifier/1.0, Accept application/json만 전송했습니다. Cookie, Authorization, Origin, Referer 없이 두 API 모두 HTTP 200, resultCd 0000 응답. 사용자 저장 JSON과 파싱 후 전체 내용 일치. 해당 작품의 두 요청에 한정되며 다른 작품·반복·대량 수집·URL 식별자 자동 추출을 검증한 결과는 아닙니다.</a:t>
            </a:r>
          </a:p>
          <a:p xmlns:a="http://schemas.openxmlformats.org/drawingml/2006/main">
            <a:r>
              <a:t>브라우저에서 발생한 API 요청·응답을 먼저 확인했고, 그 요청 구조로 Python 직접 호출을 추가 검증했습니다. 브라우저에서만 데이터가 제공된다거나 모든 자동 요청이 기술적으로 실패한다고 주장하지 않습니다.</a:t>
            </a:r>
          </a:p>
          <a:p xmlns:a="http://schemas.openxmlformats.org/drawingml/2006/main">
            <a:r>
              <a:t>화면과 API 비교 수정: 제공 캡처 cjenm_detail1.png에는 시청 등급이 표시되지 않고 소개문은 접힌 상태로 더보기 링크가 있습니다. API dlbrtGrd는 15세 이상이며 pgmDescp는 전체 소개문 텍스트입니다. 더보기 클릭 후 화면에 같은 전체 소개문이 표시되는지는 이번 비교에서 확인하지 않았으므로 전체 소개문을 API에서만 존재하는 정보로 단정하지 않습니다. 제작진·출연진·회차 수는 화면과 API에 공통이며 구조화된 필드로 확보할 수 있습니다. 등장인물 응답은 화면과 같은 2명으로 추가 인물이 없고, 두 API에는 회차별 시놉시스가 없습니다. API 실측 근거 reports/cjenm-api-verification/20261012_085630의 원본 응답과 검증 보고서입니다.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캡처 reports/1/cjenm_detail2.png는 이름과 달리 TVING 포핸즈 화면입니다.</a:t>
            </a:r>
          </a:p>
          <a:p xmlns:a="http://schemas.openxmlformats.org/drawingml/2006/main">
            <a:r>
              <a:t>원문: https://www.tving.com/contents/P001790301</a:t>
            </a:r>
          </a:p>
          <a:p xmlns:a="http://schemas.openxmlformats.org/drawingml/2006/main">
            <a:r>
              <a:t>실제 수집 JSON: D:/MMLAB/projects/broadcast_web_crawler/data/tving/20261007_210908_251349_드라마_전체/contents.json</a:t>
            </a:r>
          </a:p>
          <a:p xmlns:a="http://schemas.openxmlformats.org/drawingml/2006/main">
            <a:r>
              <a:t>포핸즈의 episodes 배열 길이 12, 시놉시스 12개를 확인했습니다. 2화 소개 예시는 원문 시놉시스의 일부를 발표용으로 요약했습니다. 회차 시놉시스는 대본이 아닙니다. 이번 요청에서 TVING을 다시 호출한 결과가 아니라 저장된 수집 데이터 기준입니다.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캡처: D:/MMLAB/projects/broadcast_web_crawler/reports/1/tving_drama_detail2.png</a:t>
            </a:r>
          </a:p>
          <a:p xmlns:a="http://schemas.openxmlformats.org/drawingml/2006/main">
            <a:r>
              <a:t>D:/MMLAB/projects/broadcast_web_crawler/reports/1/tving_drama_detail3.png</a:t>
            </a:r>
          </a:p>
          <a:p xmlns:a="http://schemas.openxmlformats.org/drawingml/2006/main">
            <a:r>
              <a:t>작품 URL: https://www.tving.com/contents/P001790301</a:t>
            </a:r>
          </a:p>
          <a:p xmlns:a="http://schemas.openxmlformats.org/drawingml/2006/main">
            <a:r>
              <a:t>episode.code/frequency/broadcast_date/synopsis.ko/duration 필드와 1·2화 데이터를 확인했습니다. 화면의 header.status 200은 JSON 내부 값이며 HTTP 상태를 나타내는 Headers 캡처와 구분합니다.</a:t>
            </a:r>
          </a:p>
          <a:p xmlns:a="http://schemas.openxmlformats.org/drawingml/2006/main">
            <a:r>
              <a:t>저장 JSON: D:/MMLAB/projects/broadcast_web_crawler/data/tving/20261007_210908_251349_드라마_전체/contents.json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화면: D:/MMLAB/projects/broadcast_web_crawler/reports/1/tving_drama1.png</a:t>
            </a:r>
          </a:p>
          <a:p xmlns:a="http://schemas.openxmlformats.org/drawingml/2006/main">
            <a:r>
              <a:t>원문: https://www.tving.com/more/genre/PCA</a:t>
            </a:r>
          </a:p>
          <a:p xmlns:a="http://schemas.openxmlformats.org/drawingml/2006/main">
            <a:r>
              <a:t>실제 집계: D:/MMLAB/projects/broadcast_web_crawler/data/tving/20261007_210908_251349_드라마_전체/collection-report.json</a:t>
            </a:r>
          </a:p>
          <a:p xmlns:a="http://schemas.openxmlformats.org/drawingml/2006/main">
            <a:r>
              <a:t>2026-10-07 저장 배치의 성공 작품 20, 수집 회차 341, 시놉시스 있는 회차 341. 화면 캡처의 작품 순서는 해당 과거 배치 순서를 증명하지 않습니다. 작품별 전체 시즌의 완전성을 뜻하지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수집 근거: D:/MMLAB/projects/broadcast_web_crawler/data/namuwiki/20261008_144044_283930_나무위키_냉장고를 부탁해/contents.json</a:t>
            </a:r>
          </a:p>
          <a:p xmlns:a="http://schemas.openxmlformats.org/drawingml/2006/main">
            <a:r>
              <a:t>위키 포핸즈 URL: https://namu.wiki/w/%ED%8F%AC%ED%95%B8%EC%A6%88</a:t>
            </a:r>
          </a:p>
          <a:p xmlns:a="http://schemas.openxmlformats.org/drawingml/2006/main">
            <a:r>
              <a:t>포핸즈 본문 및 하위 문서 존재는 사용자 직접 확인 근거입니다. 도구 조회는 실패했으므로 구체적 하위 문서 목록이나 수집 결과는 검증 완료로 제시하지 않습니다. 현재 namuwiki.py는 관련 문서 링크 저장까지 지원하며 선택 문서 추가 수집 UI는 후속 구현입니다. 폴더 reports/1에는 나무위키 캡처가 없습니다. 냉장고를 부탁해의 254회는 시즌 1 정보이고 episodes 배열은 비어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앱 캡처: D:/MMLAB/projects/broadcast_web_crawler/reports/desktop/studio.png</a:t>
            </a:r>
          </a:p>
          <a:p xmlns:a="http://schemas.openxmlformats.org/drawingml/2006/main">
            <a:r>
              <a:t>기존 Electron React Python 앱입니다. CJ ENM의 두 API 검증 스크립트는 별도이며 앱의 URL 라우팅에 CJ ENM을 연결하지 않았습니다.</a:t>
            </a:r>
          </a:p>
          <a:p xmlns:a="http://schemas.openxmlformats.org/drawingml/2006/main">
            <a:r>
              <a:t>CJ ENM의 pgmReplayUrlAddr로 TVING 작품 식별자를 연결합니다. TVING director 배열에는 작가 등 역할이 혼재할 수 있으므로 원본을 유지하고 CJ ENM의 pdNm/writrNm 및 seoData와 비교합니다. 나무위키 값으로 자동 덮어쓰기하지 않고 출처별 값을 유지합니다.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추가 캡처: D:/MMLAB/projects/broadcast_web_crawler/reports/1/mbc충북_뉴스탭.png</a:t>
            </a:r>
          </a:p>
          <a:p xmlns:a="http://schemas.openxmlformats.org/drawingml/2006/main">
            <a:r>
              <a:t>D:/MMLAB/projects/broadcast_web_crawler/reports/1/tving_drama_detail1.png</a:t>
            </a:r>
          </a:p>
          <a:p xmlns:a="http://schemas.openxmlformats.org/drawingml/2006/main">
            <a:r>
              <a:t>MBC 뉴스 목록 원문: https://news.mbccb.co.kr/home/sub.php?menukey=61</a:t>
            </a:r>
          </a:p>
          <a:p xmlns:a="http://schemas.openxmlformats.org/drawingml/2006/main">
            <a:r>
              <a:t>TVING 작품: https://www.tving.com/contents/P001790301</a:t>
            </a:r>
          </a:p>
          <a:p xmlns:a="http://schemas.openxmlformats.org/drawingml/2006/main">
            <a:r>
              <a:t>MBC 목록의 제목·기자·시각·미리보기, TVING 응답의 출연진·작품 소개 등의 존재를 확인합니다. TVING director 필드에 제작 역할이 혼재할 가능성이 있으므로 연출·작가를 그대로 확정하지 말고 출처별 비교가 필요합니다.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ae8de8a9c564d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0fb0874067b433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c87b1e6598049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b4a7b1c230949b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39534bf015940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882e1e7f89482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84A48D-1C1B-49B6-8F76-1A5E7DAD43C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B1236E81-BFBF-4176-81B4-8D5BFA98379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A1DBB26-EF0B-4EDC-A068-43CB5D2E43E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307AD2E-3EF1-4241-A1C2-D4AB4386E13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3218865C-51CE-489C-84F9-8F54D67511F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5AA8F2-E995-4220-AD2F-9B43A4BCBE2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284DFB79-FC89-493E-AC6F-1430733373C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5E7D3B14-98C5-4D2E-98A4-1A24B3C960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A13007-8306-4F7D-A84C-0C55B4D818C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3B7DFD7-2F77-4F1F-A905-E56AD332036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a6cf79481a54c77" /><Relationship Type="http://schemas.openxmlformats.org/officeDocument/2006/relationships/slideLayout" Target="/ppt/slideLayouts/slideLayout1.xml" Id="Rfd338e8d072542de" /><Relationship Type="http://schemas.openxmlformats.org/officeDocument/2006/relationships/slideLayout" Target="/ppt/slideLayouts/slideLayout2.xml" Id="R986e8e08c5f74875" /><Relationship Type="http://schemas.openxmlformats.org/officeDocument/2006/relationships/slideLayout" Target="/ppt/slideLayouts/slideLayout3.xml" Id="Rbe81a390a5d04b5c" /><Relationship Type="http://schemas.openxmlformats.org/officeDocument/2006/relationships/slideLayout" Target="/ppt/slideLayouts/slideLayout4.xml" Id="Rb8e37079886446ee" /><Relationship Type="http://schemas.openxmlformats.org/officeDocument/2006/relationships/slideLayout" Target="/ppt/slideLayouts/slideLayout5.xml" Id="Rf2d6d7fa7d454cf2" /><Relationship Type="http://schemas.openxmlformats.org/officeDocument/2006/relationships/slideLayout" Target="/ppt/slideLayouts/slideLayout6.xml" Id="R23ee31eda6e244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d338e8d072542de"/>
    <p:sldLayoutId xmlns:r="http://schemas.openxmlformats.org/officeDocument/2006/relationships" id="2147483650" r:id="R986e8e08c5f74875"/>
    <p:sldLayoutId xmlns:r="http://schemas.openxmlformats.org/officeDocument/2006/relationships" id="2147483651" r:id="Rbe81a390a5d04b5c"/>
    <p:sldLayoutId xmlns:r="http://schemas.openxmlformats.org/officeDocument/2006/relationships" id="2147483652" r:id="Rb8e37079886446ee"/>
    <p:sldLayoutId xmlns:r="http://schemas.openxmlformats.org/officeDocument/2006/relationships" id="2147483653" r:id="Rf2d6d7fa7d454cf2"/>
    <p:sldLayoutId xmlns:r="http://schemas.openxmlformats.org/officeDocument/2006/relationships" id="2147483654" r:id="R23ee31eda6e244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e1a67b1b90847d9" /><Relationship Type="http://schemas.openxmlformats.org/officeDocument/2006/relationships/notesSlide" Target="/ppt/notesSlides/notesSlide1.xml" Id="Rf0fa9764c9ac431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dc0d38cce514090" /><Relationship Type="http://schemas.openxmlformats.org/officeDocument/2006/relationships/notesSlide" Target="/ppt/notesSlides/notesSlide2.xml" Id="R35f3f1850093405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3a02b7b17154454" /><Relationship Type="http://schemas.openxmlformats.org/officeDocument/2006/relationships/image" Target="/ppt/media/image.png" Id="R8f138836992d4fe0" /><Relationship Type="http://schemas.openxmlformats.org/officeDocument/2006/relationships/notesSlide" Target="/ppt/notesSlides/notesSlide3.xml" Id="R0c2155ef8208433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04e87cf37c54cca" /><Relationship Type="http://schemas.openxmlformats.org/officeDocument/2006/relationships/image" Target="/ppt/media/image2.png" Id="R03773d142f8642a7" /><Relationship Type="http://schemas.openxmlformats.org/officeDocument/2006/relationships/image" Target="/ppt/media/image3.png" Id="R58effa28e2cf4ef1" /><Relationship Type="http://schemas.openxmlformats.org/officeDocument/2006/relationships/notesSlide" Target="/ppt/notesSlides/notesSlide4.xml" Id="R0878982c6a204e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a7c82d266814afd" /><Relationship Type="http://schemas.openxmlformats.org/officeDocument/2006/relationships/image" Target="/ppt/media/image4.png" Id="Rda00b9cd0b25477a" /><Relationship Type="http://schemas.openxmlformats.org/officeDocument/2006/relationships/notesSlide" Target="/ppt/notesSlides/notesSlide5.xml" Id="R3171616a2d3c410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251d7e7b674438" /><Relationship Type="http://schemas.openxmlformats.org/officeDocument/2006/relationships/image" Target="/ppt/media/image5.png" Id="R9a2f1202d0ae4a5a" /><Relationship Type="http://schemas.openxmlformats.org/officeDocument/2006/relationships/notesSlide" Target="/ppt/notesSlides/notesSlide6.xml" Id="Rd73df32068c44b5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ee996bda68a4b7f" /><Relationship Type="http://schemas.openxmlformats.org/officeDocument/2006/relationships/image" Target="/ppt/media/image6.png" Id="R1667f91ddf3c40de" /><Relationship Type="http://schemas.openxmlformats.org/officeDocument/2006/relationships/notesSlide" Target="/ppt/notesSlides/notesSlide7.xml" Id="R7057c042c93341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ff99ee320614288" /><Relationship Type="http://schemas.openxmlformats.org/officeDocument/2006/relationships/image" Target="/ppt/media/image7.png" Id="R39500875abb24e67" /><Relationship Type="http://schemas.openxmlformats.org/officeDocument/2006/relationships/notesSlide" Target="/ppt/notesSlides/notesSlide8.xml" Id="R7ab30ee8251348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3341e94bf164f68" /><Relationship Type="http://schemas.openxmlformats.org/officeDocument/2006/relationships/image" Target="/ppt/media/image8.png" Id="Re0533c7117004f98" /><Relationship Type="http://schemas.openxmlformats.org/officeDocument/2006/relationships/image" Target="/ppt/media/image9.png" Id="R19522e56d7954fda" /><Relationship Type="http://schemas.openxmlformats.org/officeDocument/2006/relationships/notesSlide" Target="/ppt/notesSlides/notesSlide9.xml" Id="Rcb08058fd95c478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178ab2a5524db2" /><Relationship Type="http://schemas.openxmlformats.org/officeDocument/2006/relationships/image" Target="/ppt/media/image10.png" Id="R696b14316f41468d" /><Relationship Type="http://schemas.openxmlformats.org/officeDocument/2006/relationships/notesSlide" Target="/ppt/notesSlides/notesSlide10.xml" Id="R7e671bfac1d44cf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aa941bbe1ea41fa" /><Relationship Type="http://schemas.openxmlformats.org/officeDocument/2006/relationships/notesSlide" Target="/ppt/notesSlides/notesSlide11.xml" Id="R7df62e0590e04a9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e25edc71c0e4619" /><Relationship Type="http://schemas.openxmlformats.org/officeDocument/2006/relationships/image" Target="/ppt/media/image11.png" Id="R96f5fdf73c1d41f2" /><Relationship Type="http://schemas.openxmlformats.org/officeDocument/2006/relationships/notesSlide" Target="/ppt/notesSlides/notesSlide12.xml" Id="Rc152d901df0b445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30a5e7508d040b1" /><Relationship Type="http://schemas.openxmlformats.org/officeDocument/2006/relationships/image" Target="/ppt/media/image12.png" Id="Rdb34c03355644a7f" /><Relationship Type="http://schemas.openxmlformats.org/officeDocument/2006/relationships/image" Target="/ppt/media/image13.png" Id="R33d93c772d4e48b5" /><Relationship Type="http://schemas.openxmlformats.org/officeDocument/2006/relationships/notesSlide" Target="/ppt/notesSlides/notesSlide13.xml" Id="Rfae16db634704a5b" /></Relationships>
</file>

<file path=ppt/slides/slide1.xml><?xml version="1.0" encoding="utf-8"?>
<p:sld xmlns:p="http://schemas.openxmlformats.org/presentationml/2006/main">
  <p:cSld>
    <p:bg>
      <p:bgPr>
        <a:solidFill xmlns:a="http://schemas.openxmlformats.org/drawingml/2006/main">
          <a:srgbClr val="EEEBF7"/>
        </a:solidFill>
      </p:bgPr>
    </p:bg>
    <p:spTree>
      <p:nvGrpSpPr>
        <p:cNvPr id="1" name=""/>
        <p:cNvGrpSpPr/>
        <p:nvPr/>
      </p:nvGrpSpPr>
      <p:grpSpPr>
        <a:xfrm xmlns:a="http://schemas.openxmlformats.org/drawingml/2006/main"/>
      </p:grpSpPr>
      <p:sp>
        <p:nvSpPr>
          <p:cNvPr id="5" name="직사각형 4">
            <a:extLst xmlns:a="http://schemas.openxmlformats.org/drawingml/2006/main">
              <a:ext uri="{FF2B5EF4-FFF2-40B4-BE49-F238E27FC236}">
                <a16:creationId xmlns:a16="http://schemas.microsoft.com/office/drawing/2014/main" id="{6C9C689E-CC8C-4631-AD9E-A54250F9E43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01</a:t>
            </a:r>
          </a:p>
        </p:txBody>
      </p:sp>
      <p:sp>
        <p:nvSpPr>
          <p:cNvPr id="2" name="직사각형 1">
            <a:extLst xmlns:a="http://schemas.openxmlformats.org/drawingml/2006/main">
              <a:ext uri="{FF2B5EF4-FFF2-40B4-BE49-F238E27FC236}">
                <a16:creationId xmlns:a16="http://schemas.microsoft.com/office/drawing/2014/main" id="{19E7746D-8039-443E-8095-6EE45374C56A}"/>
              </a:ext>
            </a:extLst>
          </p:cNvPr>
          <p:cNvSpPr>
            <a:spLocks xmlns:a="http://schemas.openxmlformats.org/drawingml/2006/main" noGrp="1"/>
          </p:cNvSpPr>
          <p:nvPr/>
        </p:nvSpPr>
        <p:spPr>
          <a:xfrm xmlns:a="http://schemas.openxmlformats.org/drawingml/2006/main">
            <a:off x="685800" y="1524000"/>
            <a:ext cx="10477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425" b="1">
                <a:solidFill>
                  <a:srgbClr val="303044"/>
                </a:solidFill>
                <a:latin typeface="Malgun Gothic"/>
                <a:ea typeface="Malgun Gothic"/>
                <a:cs typeface="Malgun Gothic"/>
              </a:defRPr>
            </a:defPPr>
          </a:lstStyle>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방송 콘텐츠</a:t>
            </a:r>
          </a:p>
          <a:p xmlns:a="http://schemas.openxmlformats.org/drawingml/2006/main">
            <a:pPr>
              <a:buNone/>
              <a:defRPr sz="4425" b="1">
                <a:solidFill>
                  <a:srgbClr val="303044"/>
                </a:solidFill>
                <a:latin typeface="Malgun Gothic"/>
                <a:ea typeface="Malgun Gothic"/>
                <a:cs typeface="Malgun Gothic"/>
              </a:defRPr>
            </a:pPr>
            <a:r>
              <a:rPr sz="4425" b="1">
                <a:solidFill>
                  <a:srgbClr val="303044"/>
                </a:solidFill>
                <a:latin typeface="Malgun Gothic"/>
                <a:ea typeface="Malgun Gothic"/>
                <a:cs typeface="Malgun Gothic"/>
              </a:rPr>
              <a:t>메타데이터 수집 가능성 검토</a:t>
            </a:r>
          </a:p>
        </p:txBody>
      </p:sp>
      <p:sp>
        <p:nvSpPr>
          <p:cNvPr id="3" name="직사각형 2">
            <a:extLst xmlns:a="http://schemas.openxmlformats.org/drawingml/2006/main">
              <a:ext uri="{FF2B5EF4-FFF2-40B4-BE49-F238E27FC236}">
                <a16:creationId xmlns:a16="http://schemas.microsoft.com/office/drawing/2014/main" id="{0FCE1160-821C-4DA6-A139-25A4BEB966C5}"/>
              </a:ext>
            </a:extLst>
          </p:cNvPr>
          <p:cNvSpPr>
            <a:spLocks xmlns:a="http://schemas.openxmlformats.org/drawingml/2006/main" noGrp="1"/>
          </p:cNvSpPr>
          <p:nvPr/>
        </p:nvSpPr>
        <p:spPr>
          <a:xfrm xmlns:a="http://schemas.openxmlformats.org/drawingml/2006/main">
            <a:off x="723900" y="3867150"/>
            <a:ext cx="9906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716095"/>
                </a:solidFill>
                <a:latin typeface="Malgun Gothic"/>
                <a:ea typeface="Malgun Gothic"/>
                <a:cs typeface="Malgun Gothic"/>
              </a:defRPr>
            </a:defPPr>
          </a:lstStyle>
          <a:p xmlns:a="http://schemas.openxmlformats.org/drawingml/2006/main">
            <a:pPr>
              <a:buNone/>
              <a:defRPr sz="2325" b="0">
                <a:solidFill>
                  <a:srgbClr val="716095"/>
                </a:solidFill>
                <a:latin typeface="Malgun Gothic"/>
                <a:ea typeface="Malgun Gothic"/>
                <a:cs typeface="Malgun Gothic"/>
              </a:defRPr>
            </a:pPr>
            <a:r>
              <a:rPr sz="2325" b="0">
                <a:solidFill>
                  <a:srgbClr val="716095"/>
                </a:solidFill>
                <a:latin typeface="Malgun Gothic"/>
                <a:ea typeface="Malgun Gothic"/>
                <a:cs typeface="Malgun Gothic"/>
              </a:rPr>
              <a:t>CJ ENM API 검증과 동일 작품의 출처별 정보 보완</a:t>
            </a:r>
          </a:p>
        </p:txBody>
      </p:sp>
      <p:sp>
        <p:nvSpPr>
          <p:cNvPr id="4" name="직사각형 3">
            <a:extLst xmlns:a="http://schemas.openxmlformats.org/drawingml/2006/main">
              <a:ext uri="{FF2B5EF4-FFF2-40B4-BE49-F238E27FC236}">
                <a16:creationId xmlns:a16="http://schemas.microsoft.com/office/drawing/2014/main" id="{3B56ED18-2177-4897-97D5-1BCC97EC2AA7}"/>
              </a:ext>
            </a:extLst>
          </p:cNvPr>
          <p:cNvSpPr>
            <a:spLocks xmlns:a="http://schemas.openxmlformats.org/drawingml/2006/main" noGrp="1"/>
          </p:cNvSpPr>
          <p:nvPr/>
        </p:nvSpPr>
        <p:spPr>
          <a:xfrm xmlns:a="http://schemas.openxmlformats.org/drawingml/2006/main">
            <a:off x="723900" y="5162550"/>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797587"/>
                </a:solidFill>
                <a:latin typeface="Malgun Gothic"/>
                <a:ea typeface="Malgun Gothic"/>
                <a:cs typeface="Malgun Gothic"/>
              </a:defRPr>
            </a:defPPr>
          </a:lstStyle>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국가 용역과제 진행 보고</a:t>
            </a:r>
          </a:p>
          <a:p xmlns:a="http://schemas.openxmlformats.org/drawingml/2006/main">
            <a:pPr>
              <a:buNone/>
              <a:defRPr sz="1800" b="0">
                <a:solidFill>
                  <a:srgbClr val="797587"/>
                </a:solidFill>
                <a:latin typeface="Malgun Gothic"/>
                <a:ea typeface="Malgun Gothic"/>
                <a:cs typeface="Malgun Gothic"/>
              </a:defRPr>
            </a:pPr>
            <a:r>
              <a:rPr sz="1800" b="0">
                <a:solidFill>
                  <a:srgbClr val="797587"/>
                </a:solidFill>
                <a:latin typeface="Malgun Gothic"/>
                <a:ea typeface="Malgun Gothic"/>
                <a:cs typeface="Malgun Gothic"/>
              </a:rPr>
              <a:t>2026.10.12</a:t>
            </a:r>
          </a:p>
        </p:txBody>
      </p:sp>
    </p:spTree>
    <p:extLst>
      <p:ext uri="{BB962C8B-B14F-4D97-AF65-F5344CB8AC3E}">
        <p14:creationId xmlns:p14="http://schemas.microsoft.com/office/powerpoint/2010/main" val="1271877683"/>
      </p:ext>
    </p:extLst>
  </p:cSld>
</p:sld>
</file>

<file path=ppt/slides/slide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D1B2DD84-D4DE-4587-B739-FEE55B32287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검토 대상과 확인 방법</a:t>
            </a:r>
          </a:p>
        </p:txBody>
      </p:sp>
      <p:sp>
        <p:nvSpPr>
          <p:cNvPr id="2" name="직사각형 1">
            <a:extLst xmlns:a="http://schemas.openxmlformats.org/drawingml/2006/main">
              <a:ext uri="{FF2B5EF4-FFF2-40B4-BE49-F238E27FC236}">
                <a16:creationId xmlns:a16="http://schemas.microsoft.com/office/drawing/2014/main" id="{D60A42ED-558D-43A7-8FE5-CD6E0B4D0249}"/>
              </a:ext>
            </a:extLst>
          </p:cNvPr>
          <p:cNvSpPr>
            <a:spLocks xmlns:a="http://schemas.openxmlformats.org/drawingml/2006/main" noGrp="1"/>
          </p:cNvSpPr>
          <p:nvPr/>
        </p:nvSpPr>
        <p:spPr>
          <a:xfrm xmlns:a="http://schemas.openxmlformats.org/drawingml/2006/main">
            <a:off x="609600" y="1381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기본 검토 대상</a:t>
            </a:r>
          </a:p>
        </p:txBody>
      </p:sp>
      <p:graphicFrame>
        <p:nvGraphicFramePr>
          <p:cNvPr id="3" name="표 2">
            <a:extLst xmlns:a="http://schemas.openxmlformats.org/drawingml/2006/main">
              <a:ext uri="{FF2B5EF4-FFF2-40B4-BE49-F238E27FC236}">
                <a16:creationId xmlns:a16="http://schemas.microsoft.com/office/drawing/2014/main" id="{4E5591E8-B7B3-4834-B261-79BAA9EBB3F0}"/>
              </a:ext>
            </a:extLst>
          </p:cNvPr>
          <p:cNvGraphicFramePr/>
          <p:nvPr/>
        </p:nvGraphicFramePr>
        <p:xfrm>
          <a:off xmlns:a="http://schemas.openxmlformats.org/drawingml/2006/main" x="609600" y="1952625"/>
          <a:ext xmlns:a="http://schemas.openxmlformats.org/drawingml/2006/main" cx="10972800" cy="2381252"/>
        </p:xfrm>
        <a:graphic xmlns:a="http://schemas.openxmlformats.org/drawingml/2006/main">
          <a:graphicData uri="http://schemas.openxmlformats.org/drawingml/2006/table">
            <a:tbl>
              <a:tblPr/>
              <a:tblGrid>
                <a:gridCol w="5619750"/>
                <a:gridCol w="5353050"/>
              </a:tblGrid>
              <a:tr h="595313">
                <a:tc>
                  <a:txBody>
                    <a:bodyPr/>
                    <a:lstStyle/>
                    <a:p>
                      <a:r>
                        <a:rPr sz="1875" b="1">
                          <a:solidFill>
                            <a:srgbClr val="716095"/>
                          </a:solidFill>
                          <a:latin typeface="Malgun Gothic"/>
                          <a:ea typeface="Malgun Gothic"/>
                          <a:cs typeface="Malgun Gothic"/>
                        </a:rPr>
                        <a:t>대상 웹사이트</a:t>
                      </a:r>
                    </a:p>
                  </a:txBody>
                  <a:tcPr marL="91440" marR="91440" marT="45720" marB="45720" anchor="ctr">
                    <a:solidFill>
                      <a:srgbClr val="EEEBF7"/>
                    </a:solidFill>
                  </a:tcPr>
                </a:tc>
                <a:tc>
                  <a:txBody>
                    <a:bodyPr/>
                    <a:lstStyle/>
                    <a:p>
                      <a:r>
                        <a:rPr sz="1875" b="1">
                          <a:solidFill>
                            <a:srgbClr val="716095"/>
                          </a:solidFill>
                          <a:latin typeface="Malgun Gothic"/>
                          <a:ea typeface="Malgun Gothic"/>
                          <a:cs typeface="Malgun Gothic"/>
                        </a:rPr>
                        <a:t>콘텐츠 범위</a:t>
                      </a:r>
                    </a:p>
                  </a:txBody>
                  <a:tcPr marL="91440" marR="91440" marT="45720" marB="45720" anchor="ctr">
                    <a:solidFill>
                      <a:srgbClr val="EEEBF7"/>
                    </a:solidFill>
                  </a:tcPr>
                </a:tc>
              </a:tr>
              <a:tr h="595313">
                <a:tc>
                  <a:txBody>
                    <a:bodyPr/>
                    <a:lstStyle/>
                    <a:p>
                      <a:r>
                        <a:rPr sz="1875" b="0">
                          <a:solidFill>
                            <a:srgbClr val="303044"/>
                          </a:solidFill>
                          <a:latin typeface="Malgun Gothic"/>
                          <a:ea typeface="Malgun Gothic"/>
                          <a:cs typeface="Malgun Gothic"/>
                        </a:rPr>
                        <a:t>CJ ENM</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 예능</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컴투스 그룹(위지윅스튜디오)</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드라마</a:t>
                      </a:r>
                    </a:p>
                  </a:txBody>
                  <a:tcPr marL="91440" marR="91440" marT="45720" marB="45720" anchor="ctr">
                    <a:solidFill>
                      <a:srgbClr val="FFFFFF"/>
                    </a:solidFill>
                  </a:tcPr>
                </a:tc>
              </a:tr>
              <a:tr h="595313">
                <a:tc>
                  <a:txBody>
                    <a:bodyPr/>
                    <a:lstStyle/>
                    <a:p>
                      <a:r>
                        <a:rPr sz="1875" b="0">
                          <a:solidFill>
                            <a:srgbClr val="303044"/>
                          </a:solidFill>
                          <a:latin typeface="Malgun Gothic"/>
                          <a:ea typeface="Malgun Gothic"/>
                          <a:cs typeface="Malgun Gothic"/>
                        </a:rPr>
                        <a:t>MBC 충북</a:t>
                      </a:r>
                    </a:p>
                  </a:txBody>
                  <a:tcPr marL="91440" marR="91440" marT="45720" marB="45720" anchor="ctr">
                    <a:solidFill>
                      <a:srgbClr val="FFFFFF"/>
                    </a:solidFill>
                  </a:tcPr>
                </a:tc>
                <a:tc>
                  <a:txBody>
                    <a:bodyPr/>
                    <a:lstStyle/>
                    <a:p>
                      <a:r>
                        <a:rPr sz="1875" b="0">
                          <a:solidFill>
                            <a:srgbClr val="303044"/>
                          </a:solidFill>
                          <a:latin typeface="Malgun Gothic"/>
                          <a:ea typeface="Malgun Gothic"/>
                          <a:cs typeface="Malgun Gothic"/>
                        </a:rPr>
                        <a:t>뉴스 (중앙 MBC와 별도)</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6F9974D8-8E98-42AB-B18D-5EA9C6AAC483}"/>
              </a:ext>
            </a:extLst>
          </p:cNvPr>
          <p:cNvSpPr>
            <a:spLocks xmlns:a="http://schemas.openxmlformats.org/drawingml/2006/main" noGrp="1"/>
          </p:cNvSpPr>
          <p:nvPr/>
        </p:nvSpPr>
        <p:spPr>
          <a:xfrm xmlns:a="http://schemas.openxmlformats.org/drawingml/2006/main">
            <a:off x="609600" y="4676775"/>
            <a:ext cx="190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추가 수집원</a:t>
            </a:r>
          </a:p>
        </p:txBody>
      </p:sp>
      <p:sp>
        <p:nvSpPr>
          <p:cNvPr id="5" name="직사각형 4">
            <a:extLst xmlns:a="http://schemas.openxmlformats.org/drawingml/2006/main">
              <a:ext uri="{FF2B5EF4-FFF2-40B4-BE49-F238E27FC236}">
                <a16:creationId xmlns:a16="http://schemas.microsoft.com/office/drawing/2014/main" id="{8C131ACA-695B-418C-986A-0114CC69620E}"/>
              </a:ext>
            </a:extLst>
          </p:cNvPr>
          <p:cNvSpPr>
            <a:spLocks xmlns:a="http://schemas.openxmlformats.org/drawingml/2006/main" noGrp="1"/>
          </p:cNvSpPr>
          <p:nvPr/>
        </p:nvSpPr>
        <p:spPr>
          <a:xfrm xmlns:a="http://schemas.openxmlformats.org/drawingml/2006/main">
            <a:off x="609600" y="52006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 CJ ENM 콘텐츠의 실제 제공 경로에서 작품·회차 정보 확보</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 프로그램 설명과 제작진·방송 정보 보완</a:t>
            </a:r>
          </a:p>
        </p:txBody>
      </p:sp>
      <p:sp>
        <p:nvSpPr>
          <p:cNvPr id="6" name="직사각형 5">
            <a:extLst xmlns:a="http://schemas.openxmlformats.org/drawingml/2006/main">
              <a:ext uri="{FF2B5EF4-FFF2-40B4-BE49-F238E27FC236}">
                <a16:creationId xmlns:a16="http://schemas.microsoft.com/office/drawing/2014/main" id="{09E076D5-356B-44DB-BAC4-9CF1F4F04372}"/>
              </a:ext>
            </a:extLst>
          </p:cNvPr>
          <p:cNvSpPr>
            <a:spLocks xmlns:a="http://schemas.openxmlformats.org/drawingml/2006/main" noGrp="1"/>
          </p:cNvSpPr>
          <p:nvPr/>
        </p:nvSpPr>
        <p:spPr>
          <a:xfrm xmlns:a="http://schemas.openxmlformats.org/drawingml/2006/main">
            <a:off x="609600" y="6238875"/>
            <a:ext cx="104775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797587"/>
                </a:solidFill>
                <a:latin typeface="Malgun Gothic"/>
                <a:ea typeface="Malgun Gothic"/>
                <a:cs typeface="Malgun Gothic"/>
              </a:defRPr>
            </a:defPPr>
          </a:lstStyle>
          <a:p xmlns:a="http://schemas.openxmlformats.org/drawingml/2006/main">
            <a:pPr>
              <a:buNone/>
              <a:defRPr sz="1350" b="0">
                <a:solidFill>
                  <a:srgbClr val="797587"/>
                </a:solidFill>
                <a:latin typeface="Malgun Gothic"/>
                <a:ea typeface="Malgun Gothic"/>
                <a:cs typeface="Malgun Gothic"/>
              </a:defRPr>
            </a:pPr>
            <a:r>
              <a:rPr sz="1350" b="0">
                <a:solidFill>
                  <a:srgbClr val="797587"/>
                </a:solidFill>
                <a:latin typeface="Malgun Gothic"/>
                <a:ea typeface="Malgun Gothic"/>
                <a:cs typeface="Malgun Gothic"/>
              </a:rPr>
              <a:t>확인 방법: 직접 접속 및 구조 점검 / 자동 수집 가능성 확인 / 메타데이터 추출</a:t>
            </a:r>
          </a:p>
        </p:txBody>
      </p:sp>
      <p:sp>
        <p:nvSpPr>
          <p:cNvPr id="7" name="직사각형 6">
            <a:extLst xmlns:a="http://schemas.openxmlformats.org/drawingml/2006/main">
              <a:ext uri="{FF2B5EF4-FFF2-40B4-BE49-F238E27FC236}">
                <a16:creationId xmlns:a16="http://schemas.microsoft.com/office/drawing/2014/main" id="{1BBE0D46-3FAF-4A74-AD6C-9E2C6AA32F20}"/>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02</a:t>
            </a:r>
          </a:p>
        </p:txBody>
      </p:sp>
    </p:spTree>
    <p:extLst>
      <p:ext uri="{BB962C8B-B14F-4D97-AF65-F5344CB8AC3E}">
        <p14:creationId xmlns:p14="http://schemas.microsoft.com/office/powerpoint/2010/main" val="580745084"/>
      </p:ext>
    </p:extLst>
  </p:cSld>
</p:sld>
</file>

<file path=ppt/slides/slide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07ACC2ED-ED7E-4261-B13E-C05F73BC1970}"/>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컴투스 그룹 검토 경로: 작품 상세 정보 부족</a:t>
            </a:r>
          </a:p>
        </p:txBody>
      </p:sp>
      <p:pic>
        <p:nvPicPr>
          <p:cNvPr id="2" name="그림 1">
            <a:extLst xmlns:a="http://schemas.openxmlformats.org/drawingml/2006/main">
              <a:ext uri="{FF2B5EF4-FFF2-40B4-BE49-F238E27FC236}">
                <a16:creationId xmlns:a16="http://schemas.microsoft.com/office/drawing/2014/main" id="{B094E82D-D09A-4D19-8FCF-B49442BE4863}"/>
              </a:ext>
            </a:extLst>
          </p:cNvPr>
          <p:cNvPicPr>
            <a:picLocks xmlns:a="http://schemas.openxmlformats.org/drawingml/2006/main" noChangeAspect="1"/>
          </p:cNvPicPr>
          <p:nvPr/>
        </p:nvPicPr>
        <p:blipFill>
          <a:blip xmlns:r="http://schemas.openxmlformats.org/officeDocument/2006/relationships" xmlns:a="http://schemas.openxmlformats.org/drawingml/2006/main" r:embed="R8f138836992d4fe0"/>
          <a:stretch xmlns:a="http://schemas.openxmlformats.org/drawingml/2006/main"/>
        </p:blipFill>
        <p:spPr>
          <a:xfrm xmlns:a="http://schemas.openxmlformats.org/drawingml/2006/main">
            <a:off x="1704975" y="1495425"/>
            <a:ext cx="5143500" cy="428625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23179758-BC52-4BAB-AD6D-76C0238B9908}"/>
              </a:ext>
            </a:extLst>
          </p:cNvPr>
          <p:cNvSpPr>
            <a:spLocks xmlns:a="http://schemas.openxmlformats.org/drawingml/2006/main" noGrp="1"/>
          </p:cNvSpPr>
          <p:nvPr/>
        </p:nvSpPr>
        <p:spPr>
          <a:xfrm xmlns:a="http://schemas.openxmlformats.org/drawingml/2006/main">
            <a:off x="8343900" y="15240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킬러들의 쇼핑몰2</a:t>
            </a:r>
          </a:p>
        </p:txBody>
      </p:sp>
      <p:sp>
        <p:nvSpPr>
          <p:cNvPr id="4" name="직사각형 3">
            <a:extLst xmlns:a="http://schemas.openxmlformats.org/drawingml/2006/main">
              <a:ext uri="{FF2B5EF4-FFF2-40B4-BE49-F238E27FC236}">
                <a16:creationId xmlns:a16="http://schemas.microsoft.com/office/drawing/2014/main" id="{35DDA79D-2ABB-4974-BBA0-152158A8515D}"/>
              </a:ext>
            </a:extLst>
          </p:cNvPr>
          <p:cNvSpPr>
            <a:spLocks xmlns:a="http://schemas.openxmlformats.org/drawingml/2006/main" noGrp="1"/>
          </p:cNvSpPr>
          <p:nvPr/>
        </p:nvSpPr>
        <p:spPr>
          <a:xfrm xmlns:a="http://schemas.openxmlformats.org/drawingml/2006/main">
            <a:off x="8343900" y="21336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확인한 상세 페이지에는</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작품명과 티저 영상 1개 표시</a:t>
            </a:r>
          </a:p>
        </p:txBody>
      </p:sp>
      <p:sp>
        <p:nvSpPr>
          <p:cNvPr id="5" name="직사각형 4">
            <a:extLst xmlns:a="http://schemas.openxmlformats.org/drawingml/2006/main">
              <a:ext uri="{FF2B5EF4-FFF2-40B4-BE49-F238E27FC236}">
                <a16:creationId xmlns:a16="http://schemas.microsoft.com/office/drawing/2014/main" id="{477BDD1E-BC0C-4B3C-B99C-9F52AE318B3A}"/>
              </a:ext>
            </a:extLst>
          </p:cNvPr>
          <p:cNvSpPr>
            <a:spLocks xmlns:a="http://schemas.openxmlformats.org/drawingml/2006/main" noGrp="1"/>
          </p:cNvSpPr>
          <p:nvPr/>
        </p:nvSpPr>
        <p:spPr>
          <a:xfrm xmlns:a="http://schemas.openxmlformats.org/drawingml/2006/main">
            <a:off x="8343900" y="349567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점검한 페이지의 한계</a:t>
            </a:r>
          </a:p>
        </p:txBody>
      </p:sp>
      <p:sp>
        <p:nvSpPr>
          <p:cNvPr id="6" name="직사각형 5">
            <a:extLst xmlns:a="http://schemas.openxmlformats.org/drawingml/2006/main">
              <a:ext uri="{FF2B5EF4-FFF2-40B4-BE49-F238E27FC236}">
                <a16:creationId xmlns:a16="http://schemas.microsoft.com/office/drawing/2014/main" id="{9E8B5E26-C48F-4D88-A53B-0D7B06E2611B}"/>
              </a:ext>
            </a:extLst>
          </p:cNvPr>
          <p:cNvSpPr>
            <a:spLocks xmlns:a="http://schemas.openxmlformats.org/drawingml/2006/main" noGrp="1"/>
          </p:cNvSpPr>
          <p:nvPr/>
        </p:nvSpPr>
        <p:spPr>
          <a:xfrm xmlns:a="http://schemas.openxmlformats.org/drawingml/2006/main">
            <a:off x="8343900" y="4067175"/>
            <a:ext cx="3238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소개·제작진·출연진 및</a:t>
            </a: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회차 텍스트 정보 미확인</a:t>
            </a:r>
          </a:p>
          <a:p xmlns:a="http://schemas.openxmlformats.org/drawingml/2006/main">
            <a:endParaRPr sz="1800" b="0">
              <a:solidFill>
                <a:srgbClr val="303044"/>
              </a:solidFill>
              <a:latin typeface="Malgun Gothic"/>
              <a:ea typeface="Malgun Gothic"/>
              <a:cs typeface="Malgun Gothic"/>
            </a:endParaRPr>
          </a:p>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다른 공개 출처로 보완 검토</a:t>
            </a:r>
          </a:p>
        </p:txBody>
      </p:sp>
      <p:sp>
        <p:nvSpPr>
          <p:cNvPr id="7" name="직사각형 6">
            <a:extLst xmlns:a="http://schemas.openxmlformats.org/drawingml/2006/main">
              <a:ext uri="{FF2B5EF4-FFF2-40B4-BE49-F238E27FC236}">
                <a16:creationId xmlns:a16="http://schemas.microsoft.com/office/drawing/2014/main" id="{1FB329E2-8051-4299-AA60-4B022BB49AF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점검 URL: com2usn.com/work/255 / 이 사례는 확인한 작품 페이지에 한정</a:t>
            </a:r>
          </a:p>
        </p:txBody>
      </p:sp>
      <p:sp>
        <p:nvSpPr>
          <p:cNvPr id="8" name="직사각형 7">
            <a:extLst xmlns:a="http://schemas.openxmlformats.org/drawingml/2006/main">
              <a:ext uri="{FF2B5EF4-FFF2-40B4-BE49-F238E27FC236}">
                <a16:creationId xmlns:a16="http://schemas.microsoft.com/office/drawing/2014/main" id="{3B8DACA9-5AFB-49E1-862E-01B91EAF491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03</a:t>
            </a:r>
          </a:p>
        </p:txBody>
      </p:sp>
    </p:spTree>
    <p:extLst>
      <p:ext uri="{BB962C8B-B14F-4D97-AF65-F5344CB8AC3E}">
        <p14:creationId xmlns:p14="http://schemas.microsoft.com/office/powerpoint/2010/main" val="1323805457"/>
      </p:ext>
    </p:extLst>
  </p:cSld>
</p:sld>
</file>

<file path=ppt/slides/slide4.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12DCF6B4-FB81-4151-ACA6-4D5348C08921}"/>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MBC 충북: 기사 정보와 뉴스 원고 확인</a:t>
            </a:r>
          </a:p>
        </p:txBody>
      </p:sp>
      <p:sp>
        <p:nvSpPr>
          <p:cNvPr id="2" name="직사각형 1">
            <a:extLst xmlns:a="http://schemas.openxmlformats.org/drawingml/2006/main">
              <a:ext uri="{FF2B5EF4-FFF2-40B4-BE49-F238E27FC236}">
                <a16:creationId xmlns:a16="http://schemas.microsoft.com/office/drawing/2014/main" id="{830617A6-8D35-4A01-B9E6-29614F1227ED}"/>
              </a:ext>
            </a:extLst>
          </p:cNvPr>
          <p:cNvSpPr>
            <a:spLocks xmlns:a="http://schemas.openxmlformats.org/drawingml/2006/main" noGrp="1"/>
          </p:cNvSpPr>
          <p:nvPr/>
        </p:nvSpPr>
        <p:spPr>
          <a:xfrm xmlns:a="http://schemas.openxmlformats.org/drawingml/2006/main">
            <a:off x="60960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제목·기자·송고 시각·영상</a:t>
            </a:r>
          </a:p>
        </p:txBody>
      </p:sp>
      <p:sp>
        <p:nvSpPr>
          <p:cNvPr id="3" name="직사각형 2">
            <a:extLst xmlns:a="http://schemas.openxmlformats.org/drawingml/2006/main">
              <a:ext uri="{FF2B5EF4-FFF2-40B4-BE49-F238E27FC236}">
                <a16:creationId xmlns:a16="http://schemas.microsoft.com/office/drawing/2014/main" id="{974CE915-197D-4DCE-904C-1253E6973F15}"/>
              </a:ext>
            </a:extLst>
          </p:cNvPr>
          <p:cNvSpPr>
            <a:spLocks xmlns:a="http://schemas.openxmlformats.org/drawingml/2006/main" noGrp="1"/>
          </p:cNvSpPr>
          <p:nvPr/>
        </p:nvSpPr>
        <p:spPr>
          <a:xfrm xmlns:a="http://schemas.openxmlformats.org/drawingml/2006/main">
            <a:off x="6343650" y="130492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앵커·인터뷰를 포함한 원고</a:t>
            </a:r>
          </a:p>
        </p:txBody>
      </p:sp>
      <p:pic>
        <p:nvPicPr>
          <p:cNvPr id="4" name="그림 3">
            <a:extLst xmlns:a="http://schemas.openxmlformats.org/drawingml/2006/main">
              <a:ext uri="{FF2B5EF4-FFF2-40B4-BE49-F238E27FC236}">
                <a16:creationId xmlns:a16="http://schemas.microsoft.com/office/drawing/2014/main" id="{F7939DAD-27FC-4B79-8883-82724BC4CFCD}"/>
              </a:ext>
            </a:extLst>
          </p:cNvPr>
          <p:cNvPicPr>
            <a:picLocks xmlns:a="http://schemas.openxmlformats.org/drawingml/2006/main" noChangeAspect="1"/>
          </p:cNvPicPr>
          <p:nvPr/>
        </p:nvPicPr>
        <p:blipFill>
          <a:blip xmlns:r="http://schemas.openxmlformats.org/officeDocument/2006/relationships" xmlns:a="http://schemas.openxmlformats.org/drawingml/2006/main" r:embed="R03773d142f8642a7"/>
          <a:stretch xmlns:a="http://schemas.openxmlformats.org/drawingml/2006/main"/>
        </p:blipFill>
        <p:spPr>
          <a:xfrm xmlns:a="http://schemas.openxmlformats.org/drawingml/2006/main">
            <a:off x="1146464" y="1809750"/>
            <a:ext cx="4165023" cy="3524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3F78147E-F2E6-421A-8D92-CF36641A9C4D}"/>
              </a:ext>
            </a:extLst>
          </p:cNvPr>
          <p:cNvPicPr>
            <a:picLocks xmlns:a="http://schemas.openxmlformats.org/drawingml/2006/main" noChangeAspect="1"/>
          </p:cNvPicPr>
          <p:nvPr/>
        </p:nvPicPr>
        <p:blipFill>
          <a:blip xmlns:r="http://schemas.openxmlformats.org/officeDocument/2006/relationships" xmlns:a="http://schemas.openxmlformats.org/drawingml/2006/main" r:embed="R58effa28e2cf4ef1"/>
          <a:stretch xmlns:a="http://schemas.openxmlformats.org/drawingml/2006/main"/>
        </p:blipFill>
        <p:spPr>
          <a:xfrm xmlns:a="http://schemas.openxmlformats.org/drawingml/2006/main">
            <a:off x="6343650" y="2059498"/>
            <a:ext cx="5238750" cy="3024754"/>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567D30A7-A84C-4A86-8668-C1DD8D7AA539}"/>
              </a:ext>
            </a:extLst>
          </p:cNvPr>
          <p:cNvSpPr>
            <a:spLocks xmlns:a="http://schemas.openxmlformats.org/drawingml/2006/main" noGrp="1"/>
          </p:cNvSpPr>
          <p:nvPr/>
        </p:nvSpPr>
        <p:spPr>
          <a:xfrm xmlns:a="http://schemas.openxmlformats.org/drawingml/2006/main">
            <a:off x="609600" y="550545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303044"/>
                </a:solidFill>
                <a:latin typeface="Malgun Gothic"/>
                <a:ea typeface="Malgun Gothic"/>
                <a:cs typeface="Malgun Gothic"/>
              </a:defRPr>
            </a:defPPr>
          </a:lstStyle>
          <a:p xmlns:a="http://schemas.openxmlformats.org/drawingml/2006/main">
            <a:pPr>
              <a:buNone/>
              <a:defRPr sz="1875" b="1">
                <a:solidFill>
                  <a:srgbClr val="303044"/>
                </a:solidFill>
                <a:latin typeface="Malgun Gothic"/>
                <a:ea typeface="Malgun Gothic"/>
                <a:cs typeface="Malgun Gothic"/>
              </a:defRPr>
            </a:pPr>
            <a:r>
              <a:rPr sz="1875" b="1">
                <a:solidFill>
                  <a:srgbClr val="303044"/>
                </a:solidFill>
                <a:latin typeface="Malgun Gothic"/>
                <a:ea typeface="Malgun Gothic"/>
                <a:cs typeface="Malgun Gothic"/>
              </a:rPr>
              <a:t>소풍·교육 한 번에.. 아이 동반 명소로 변신한 청남대</a:t>
            </a:r>
          </a:p>
        </p:txBody>
      </p:sp>
      <p:sp>
        <p:nvSpPr>
          <p:cNvPr id="7" name="직사각형 6">
            <a:extLst xmlns:a="http://schemas.openxmlformats.org/drawingml/2006/main">
              <a:ext uri="{FF2B5EF4-FFF2-40B4-BE49-F238E27FC236}">
                <a16:creationId xmlns:a16="http://schemas.microsoft.com/office/drawing/2014/main" id="{28C86C62-A240-4FD3-BE5A-BECC574A4BD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기사 송고: 2026.10.11 17:01 / 데이터 존재 확인 완료, 자동 수집 검증은 별도 진행</a:t>
            </a:r>
          </a:p>
        </p:txBody>
      </p:sp>
      <p:sp>
        <p:nvSpPr>
          <p:cNvPr id="8" name="직사각형 7">
            <a:extLst xmlns:a="http://schemas.openxmlformats.org/drawingml/2006/main">
              <a:ext uri="{FF2B5EF4-FFF2-40B4-BE49-F238E27FC236}">
                <a16:creationId xmlns:a16="http://schemas.microsoft.com/office/drawing/2014/main" id="{12E78895-C102-4D2D-95A4-3051604E450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04</a:t>
            </a:r>
          </a:p>
        </p:txBody>
      </p:sp>
    </p:spTree>
    <p:extLst>
      <p:ext uri="{BB962C8B-B14F-4D97-AF65-F5344CB8AC3E}">
        <p14:creationId xmlns:p14="http://schemas.microsoft.com/office/powerpoint/2010/main" val="910136699"/>
      </p:ext>
    </p:extLst>
  </p:cSld>
</p:sld>
</file>

<file path=ppt/slides/slide5.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1" name="직사각형 10">
            <a:extLst xmlns:a="http://schemas.openxmlformats.org/drawingml/2006/main">
              <a:ext uri="{FF2B5EF4-FFF2-40B4-BE49-F238E27FC236}">
                <a16:creationId xmlns:a16="http://schemas.microsoft.com/office/drawing/2014/main" id="{37031A1F-F67A-40CF-A65C-CA3B8184E8E2}"/>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자동 수집 제한과 페이지 직접 확인</a:t>
            </a:r>
          </a:p>
        </p:txBody>
      </p:sp>
      <p:pic>
        <p:nvPicPr>
          <p:cNvPr id="2" name="그림 1">
            <a:extLst xmlns:a="http://schemas.openxmlformats.org/drawingml/2006/main">
              <a:ext uri="{FF2B5EF4-FFF2-40B4-BE49-F238E27FC236}">
                <a16:creationId xmlns:a16="http://schemas.microsoft.com/office/drawing/2014/main" id="{F0F074F0-150A-4ADB-8582-D79D2902E27C}"/>
              </a:ext>
            </a:extLst>
          </p:cNvPr>
          <p:cNvPicPr>
            <a:picLocks xmlns:a="http://schemas.openxmlformats.org/drawingml/2006/main" noChangeAspect="1"/>
          </p:cNvPicPr>
          <p:nvPr/>
        </p:nvPicPr>
        <p:blipFill>
          <a:blip xmlns:r="http://schemas.openxmlformats.org/officeDocument/2006/relationships" xmlns:a="http://schemas.openxmlformats.org/drawingml/2006/main" r:embed="Rda00b9cd0b25477a"/>
          <a:stretch xmlns:a="http://schemas.openxmlformats.org/drawingml/2006/main"/>
        </p:blipFill>
        <p:spPr>
          <a:xfrm xmlns:a="http://schemas.openxmlformats.org/drawingml/2006/main">
            <a:off x="610789" y="1419225"/>
            <a:ext cx="2874172" cy="4543425"/>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08B1C359-6A95-465F-8088-57AC318300A7}"/>
              </a:ext>
            </a:extLst>
          </p:cNvPr>
          <p:cNvSpPr>
            <a:spLocks xmlns:a="http://schemas.openxmlformats.org/drawingml/2006/main" noGrp="1"/>
          </p:cNvSpPr>
          <p:nvPr/>
        </p:nvSpPr>
        <p:spPr>
          <a:xfrm xmlns:a="http://schemas.openxmlformats.org/drawingml/2006/main">
            <a:off x="3952875" y="14287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API 호스트의 robots.txt에서 수집 제한 확인</a:t>
            </a:r>
          </a:p>
        </p:txBody>
      </p:sp>
      <p:sp>
        <p:nvSpPr>
          <p:cNvPr id="4" name="직사각형 3">
            <a:extLst xmlns:a="http://schemas.openxmlformats.org/drawingml/2006/main">
              <a:ext uri="{FF2B5EF4-FFF2-40B4-BE49-F238E27FC236}">
                <a16:creationId xmlns:a16="http://schemas.microsoft.com/office/drawing/2014/main" id="{2D247BB1-A00F-4E99-AC3C-AED968759C19}"/>
              </a:ext>
            </a:extLst>
          </p:cNvPr>
          <p:cNvSpPr>
            <a:spLocks xmlns:a="http://schemas.openxmlformats.org/drawingml/2006/main" noGrp="1"/>
          </p:cNvSpPr>
          <p:nvPr/>
        </p:nvSpPr>
        <p:spPr>
          <a:xfrm xmlns:a="http://schemas.openxmlformats.org/drawingml/2006/main">
            <a:off x="3952875" y="2076450"/>
            <a:ext cx="76295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303044"/>
                </a:solidFill>
                <a:latin typeface="Malgun Gothic"/>
                <a:ea typeface="Malgun Gothic"/>
                <a:cs typeface="Malgun Gothic"/>
              </a:defRPr>
            </a:defPPr>
          </a:lstStyle>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User-Agent: *</a:t>
            </a:r>
          </a:p>
          <a:p xmlns:a="http://schemas.openxmlformats.org/drawingml/2006/main">
            <a:pPr>
              <a:buNone/>
              <a:defRPr sz="2175" b="1">
                <a:solidFill>
                  <a:srgbClr val="303044"/>
                </a:solidFill>
                <a:latin typeface="Malgun Gothic"/>
                <a:ea typeface="Malgun Gothic"/>
                <a:cs typeface="Malgun Gothic"/>
              </a:defRPr>
            </a:pPr>
            <a:r>
              <a:rPr sz="2175" b="1">
                <a:solidFill>
                  <a:srgbClr val="303044"/>
                </a:solidFill>
                <a:latin typeface="Malgun Gothic"/>
                <a:ea typeface="Malgun Gothic"/>
                <a:cs typeface="Malgun Gothic"/>
              </a:rPr>
              <a:t>Disallow: /</a:t>
            </a:r>
          </a:p>
        </p:txBody>
      </p:sp>
      <p:sp>
        <p:nvSpPr>
          <p:cNvPr id="5" name="직사각형 4">
            <a:extLst xmlns:a="http://schemas.openxmlformats.org/drawingml/2006/main">
              <a:ext uri="{FF2B5EF4-FFF2-40B4-BE49-F238E27FC236}">
                <a16:creationId xmlns:a16="http://schemas.microsoft.com/office/drawing/2014/main" id="{39516780-DDB6-4011-AAB6-D3B5E91CAB18}"/>
              </a:ext>
            </a:extLst>
          </p:cNvPr>
          <p:cNvSpPr>
            <a:spLocks xmlns:a="http://schemas.openxmlformats.org/drawingml/2006/main" noGrp="1"/>
          </p:cNvSpPr>
          <p:nvPr/>
        </p:nvSpPr>
        <p:spPr>
          <a:xfrm xmlns:a="http://schemas.openxmlformats.org/drawingml/2006/main">
            <a:off x="3952875" y="3286125"/>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716095"/>
                </a:solidFill>
                <a:latin typeface="Malgun Gothic"/>
                <a:ea typeface="Malgun Gothic"/>
                <a:cs typeface="Malgun Gothic"/>
              </a:defRPr>
            </a:defPPr>
          </a:lstStyle>
          <a:p xmlns:a="http://schemas.openxmlformats.org/drawingml/2006/main">
            <a:pPr>
              <a:buNone/>
              <a:defRPr sz="2250" b="1">
                <a:solidFill>
                  <a:srgbClr val="716095"/>
                </a:solidFill>
                <a:latin typeface="Malgun Gothic"/>
                <a:ea typeface="Malgun Gothic"/>
                <a:cs typeface="Malgun Gothic"/>
              </a:defRPr>
            </a:pPr>
            <a:r>
              <a:rPr sz="2250" b="1">
                <a:solidFill>
                  <a:srgbClr val="716095"/>
                </a:solidFill>
                <a:latin typeface="Malgun Gothic"/>
                <a:ea typeface="Malgun Gothic"/>
                <a:cs typeface="Malgun Gothic"/>
              </a:rPr>
              <a:t>자동화 크롤러의 접근·수집: 정책상 제한</a:t>
            </a:r>
          </a:p>
        </p:txBody>
      </p:sp>
      <p:sp>
        <p:nvSpPr>
          <p:cNvPr id="6" name="직사각형 5">
            <a:extLst xmlns:a="http://schemas.openxmlformats.org/drawingml/2006/main">
              <a:ext uri="{FF2B5EF4-FFF2-40B4-BE49-F238E27FC236}">
                <a16:creationId xmlns:a16="http://schemas.microsoft.com/office/drawing/2014/main" id="{67F50303-FB3E-47EE-B999-C46572DFF01C}"/>
              </a:ext>
            </a:extLst>
          </p:cNvPr>
          <p:cNvSpPr>
            <a:spLocks xmlns:a="http://schemas.openxmlformats.org/drawingml/2006/main" noGrp="1"/>
          </p:cNvSpPr>
          <p:nvPr/>
        </p:nvSpPr>
        <p:spPr>
          <a:xfrm xmlns:a="http://schemas.openxmlformats.org/drawingml/2006/main">
            <a:off x="3952875" y="3800475"/>
            <a:ext cx="76295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일반 크롤러에 전체 경로 제한 명시</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지속적인 자동 수집 적용은 허용 범위 확인 후 결정</a:t>
            </a:r>
          </a:p>
        </p:txBody>
      </p:sp>
      <p:sp>
        <p:nvSpPr>
          <p:cNvPr id="7" name="직사각형 6">
            <a:extLst xmlns:a="http://schemas.openxmlformats.org/drawingml/2006/main">
              <a:ext uri="{FF2B5EF4-FFF2-40B4-BE49-F238E27FC236}">
                <a16:creationId xmlns:a16="http://schemas.microsoft.com/office/drawing/2014/main" id="{D2678C99-9537-497A-906A-FFDB1AE9AA43}"/>
              </a:ext>
            </a:extLst>
          </p:cNvPr>
          <p:cNvSpPr>
            <a:spLocks xmlns:a="http://schemas.openxmlformats.org/drawingml/2006/main" noGrp="1"/>
          </p:cNvSpPr>
          <p:nvPr/>
        </p:nvSpPr>
        <p:spPr>
          <a:xfrm xmlns:a="http://schemas.openxmlformats.org/drawingml/2006/main">
            <a:off x="3952875" y="4781550"/>
            <a:ext cx="7629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사람이 상세페이지에 접속해 API 응답 확인</a:t>
            </a:r>
          </a:p>
        </p:txBody>
      </p:sp>
      <p:sp>
        <p:nvSpPr>
          <p:cNvPr id="8" name="직사각형 7">
            <a:extLst xmlns:a="http://schemas.openxmlformats.org/drawingml/2006/main">
              <a:ext uri="{FF2B5EF4-FFF2-40B4-BE49-F238E27FC236}">
                <a16:creationId xmlns:a16="http://schemas.microsoft.com/office/drawing/2014/main" id="{66D80350-DAA6-41A1-8521-36CC2EDC80C4}"/>
              </a:ext>
            </a:extLst>
          </p:cNvPr>
          <p:cNvSpPr>
            <a:spLocks xmlns:a="http://schemas.openxmlformats.org/drawingml/2006/main" noGrp="1"/>
          </p:cNvSpPr>
          <p:nvPr/>
        </p:nvSpPr>
        <p:spPr>
          <a:xfrm xmlns:a="http://schemas.openxmlformats.org/drawingml/2006/main">
            <a:off x="3952875" y="5276850"/>
            <a:ext cx="76295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페이지가 요청한 응답에 작품 소개·제작진·인물 정보 존재</a:t>
            </a:r>
          </a:p>
        </p:txBody>
      </p:sp>
      <p:sp>
        <p:nvSpPr>
          <p:cNvPr id="9" name="직사각형 8">
            <a:extLst xmlns:a="http://schemas.openxmlformats.org/drawingml/2006/main">
              <a:ext uri="{FF2B5EF4-FFF2-40B4-BE49-F238E27FC236}">
                <a16:creationId xmlns:a16="http://schemas.microsoft.com/office/drawing/2014/main" id="{5F73614D-F6F4-4F9F-AB60-A3AFA7B4FE93}"/>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자동 수집 제한 확인 후 브라우저에서 데이터 존재 점검 / 직접 API 조회 결과는 다음 검증에서 설명</a:t>
            </a:r>
          </a:p>
        </p:txBody>
      </p:sp>
      <p:sp>
        <p:nvSpPr>
          <p:cNvPr id="10" name="직사각형 9">
            <a:extLst xmlns:a="http://schemas.openxmlformats.org/drawingml/2006/main">
              <a:ext uri="{FF2B5EF4-FFF2-40B4-BE49-F238E27FC236}">
                <a16:creationId xmlns:a16="http://schemas.microsoft.com/office/drawing/2014/main" id="{3D012AD1-2895-4C24-A6C8-1F01B1E21B08}"/>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05</a:t>
            </a:r>
          </a:p>
        </p:txBody>
      </p:sp>
    </p:spTree>
    <p:extLst>
      <p:ext uri="{BB962C8B-B14F-4D97-AF65-F5344CB8AC3E}">
        <p14:creationId xmlns:p14="http://schemas.microsoft.com/office/powerpoint/2010/main" val="1330298906"/>
      </p:ext>
    </p:extLst>
  </p:cSld>
</p:sld>
</file>

<file path=ppt/slides/slide6.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7" name="직사각형 6">
            <a:extLst xmlns:a="http://schemas.openxmlformats.org/drawingml/2006/main">
              <a:ext uri="{FF2B5EF4-FFF2-40B4-BE49-F238E27FC236}">
                <a16:creationId xmlns:a16="http://schemas.microsoft.com/office/drawing/2014/main" id="{B0E72042-D7E3-4864-BE56-F4E820ED05EA}"/>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상세페이지에서 확인한 작품 정보</a:t>
            </a:r>
          </a:p>
        </p:txBody>
      </p:sp>
      <p:pic>
        <p:nvPicPr>
          <p:cNvPr id="2" name="그림 1">
            <a:extLst xmlns:a="http://schemas.openxmlformats.org/drawingml/2006/main">
              <a:ext uri="{FF2B5EF4-FFF2-40B4-BE49-F238E27FC236}">
                <a16:creationId xmlns:a16="http://schemas.microsoft.com/office/drawing/2014/main" id="{3560E9BB-D6B1-40DA-83AF-627CAE2EEE99}"/>
              </a:ext>
            </a:extLst>
          </p:cNvPr>
          <p:cNvPicPr>
            <a:picLocks xmlns:a="http://schemas.openxmlformats.org/drawingml/2006/main" noChangeAspect="1"/>
          </p:cNvPicPr>
          <p:nvPr/>
        </p:nvPicPr>
        <p:blipFill>
          <a:blip xmlns:r="http://schemas.openxmlformats.org/officeDocument/2006/relationships" xmlns:a="http://schemas.openxmlformats.org/drawingml/2006/main" r:embed="R9a2f1202d0ae4a5a"/>
          <a:stretch xmlns:a="http://schemas.openxmlformats.org/drawingml/2006/main"/>
        </p:blipFill>
        <p:spPr>
          <a:xfrm xmlns:a="http://schemas.openxmlformats.org/drawingml/2006/main">
            <a:off x="727309" y="1352550"/>
            <a:ext cx="3498382" cy="4648200"/>
          </a:xfrm>
          <a:prstGeom xmlns:a="http://schemas.openxmlformats.org/drawingml/2006/main" prst="rect">
            <a:avLst/>
          </a:prstGeom>
        </p:spPr>
      </p:pic>
      <p:graphicFrame>
        <p:nvGraphicFramePr>
          <p:cNvPr id="3" name="표 2">
            <a:extLst xmlns:a="http://schemas.openxmlformats.org/drawingml/2006/main">
              <a:ext uri="{FF2B5EF4-FFF2-40B4-BE49-F238E27FC236}">
                <a16:creationId xmlns:a16="http://schemas.microsoft.com/office/drawing/2014/main" id="{2BB15FFE-CAE5-470F-BD23-E3BD90D47951}"/>
              </a:ext>
            </a:extLst>
          </p:cNvPr>
          <p:cNvGraphicFramePr/>
          <p:nvPr/>
        </p:nvGraphicFramePr>
        <p:xfrm>
          <a:off xmlns:a="http://schemas.openxmlformats.org/drawingml/2006/main" x="4724400" y="1438275"/>
          <a:ext xmlns:a="http://schemas.openxmlformats.org/drawingml/2006/main" cx="6858000" cy="3435035"/>
        </p:xfrm>
        <a:graphic xmlns:a="http://schemas.openxmlformats.org/drawingml/2006/main">
          <a:graphicData uri="http://schemas.openxmlformats.org/drawingml/2006/table">
            <a:tbl>
              <a:tblPr/>
              <a:tblGrid>
                <a:gridCol w="1666875"/>
                <a:gridCol w="5191125"/>
              </a:tblGrid>
              <a:tr h="563563">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화면에서 확인한 정보</a:t>
                      </a:r>
                    </a:p>
                  </a:txBody>
                  <a:tcPr marL="91440" marR="91440" marT="45720" marB="45720" anchor="ctr">
                    <a:solidFill>
                      <a:srgbClr val="EEEBF7"/>
                    </a:solidFill>
                  </a:tcPr>
                </a:tc>
              </a:tr>
              <a:tr h="563563">
                <a:tc>
                  <a:txBody>
                    <a:bodyPr/>
                    <a:lstStyle/>
                    <a:p>
                      <a:r>
                        <a:rPr sz="1725" b="0">
                          <a:solidFill>
                            <a:srgbClr val="303044"/>
                          </a:solidFill>
                          <a:latin typeface="Malgun Gothic"/>
                          <a:ea typeface="Malgun Gothic"/>
                          <a:cs typeface="Malgun Gothic"/>
                        </a:rPr>
                        <a:t>기본 정보</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포핸즈, tvN, 12회</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제작진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연출 박현석 / 극본 신이원</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출연진</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송강, 이준영, 장규리, 정진영</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강비오(송강), 최정요(이준영)</a:t>
                      </a:r>
                    </a:p>
                    <a:p>
                      <a:r>
                        <a:rPr sz="1725" b="0">
                          <a:solidFill>
                            <a:srgbClr val="303044"/>
                          </a:solidFill>
                          <a:latin typeface="Malgun Gothic"/>
                          <a:ea typeface="Malgun Gothic"/>
                          <a:cs typeface="Malgun Gothic"/>
                        </a:rPr>
                        <a:t>출연진 4명 중 2명 정보만 제공</a:t>
                      </a:r>
                    </a:p>
                  </a:txBody>
                  <a:tcPr marL="91440" marR="91440" marT="45720" marB="45720" anchor="ctr">
                    <a:solidFill>
                      <a:srgbClr val="FFFFFF"/>
                    </a:solidFill>
                  </a:tcPr>
                </a:tc>
              </a:tr>
              <a:tr h="563563">
                <a:tc>
                  <a:txBody>
                    <a:bodyPr/>
                    <a:lstStyle/>
                    <a:p>
                      <a:r>
                        <a:rPr sz="1725" b="0">
                          <a:solidFill>
                            <a:srgbClr val="303044"/>
                          </a:solidFill>
                          <a:latin typeface="Malgun Gothic"/>
                          <a:ea typeface="Malgun Gothic"/>
                          <a:cs typeface="Malgun Gothic"/>
                        </a:rPr>
                        <a:t>TVING 연결</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P001790301 / 동일 작품 URL</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43107228-6E9A-45FC-8799-BCCD4DBF8844}"/>
              </a:ext>
            </a:extLst>
          </p:cNvPr>
          <p:cNvSpPr>
            <a:spLocks xmlns:a="http://schemas.openxmlformats.org/drawingml/2006/main" noGrp="1"/>
          </p:cNvSpPr>
          <p:nvPr/>
        </p:nvSpPr>
        <p:spPr>
          <a:xfrm xmlns:a="http://schemas.openxmlformats.org/drawingml/2006/main">
            <a:off x="4724400" y="5133975"/>
            <a:ext cx="68580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등장인물 설명은 화면의 출연진 전체를 다루지 않음</a:t>
            </a:r>
          </a:p>
        </p:txBody>
      </p:sp>
      <p:sp>
        <p:nvSpPr>
          <p:cNvPr id="5" name="직사각형 4">
            <a:extLst xmlns:a="http://schemas.openxmlformats.org/drawingml/2006/main">
              <a:ext uri="{FF2B5EF4-FFF2-40B4-BE49-F238E27FC236}">
                <a16:creationId xmlns:a16="http://schemas.microsoft.com/office/drawing/2014/main" id="{2C3A6030-0FA0-4D26-9318-26F39D0FE951}"/>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 기본 정보에는 연령 등급 미표시 / 15세 이상은 API 응답에서 확인</a:t>
            </a:r>
          </a:p>
        </p:txBody>
      </p:sp>
      <p:sp>
        <p:nvSpPr>
          <p:cNvPr id="6" name="직사각형 5">
            <a:extLst xmlns:a="http://schemas.openxmlformats.org/drawingml/2006/main">
              <a:ext uri="{FF2B5EF4-FFF2-40B4-BE49-F238E27FC236}">
                <a16:creationId xmlns:a16="http://schemas.microsoft.com/office/drawing/2014/main" id="{99446A49-A0F4-4CAF-AE05-D01797387AE2}"/>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06</a:t>
            </a:r>
          </a:p>
        </p:txBody>
      </p:sp>
    </p:spTree>
    <p:extLst>
      <p:ext uri="{BB962C8B-B14F-4D97-AF65-F5344CB8AC3E}">
        <p14:creationId xmlns:p14="http://schemas.microsoft.com/office/powerpoint/2010/main" val="84728214"/>
      </p:ext>
    </p:extLst>
  </p:cSld>
</p:sld>
</file>

<file path=ppt/slides/slide7.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pic>
        <p:nvPicPr>
          <p:cNvPr id="2" name="그림 1">
            <a:extLst xmlns:a="http://schemas.openxmlformats.org/drawingml/2006/main">
              <a:ext uri="{FF2B5EF4-FFF2-40B4-BE49-F238E27FC236}">
                <a16:creationId xmlns:a16="http://schemas.microsoft.com/office/drawing/2014/main" id="{3D640B5F-3892-4A1F-983F-49915B815898}"/>
              </a:ext>
            </a:extLst>
          </p:cNvPr>
          <p:cNvPicPr>
            <a:picLocks xmlns:a="http://schemas.openxmlformats.org/drawingml/2006/main" noChangeAspect="1"/>
          </p:cNvPicPr>
          <p:nvPr/>
        </p:nvPicPr>
        <p:blipFill>
          <a:blip xmlns:r="http://schemas.openxmlformats.org/officeDocument/2006/relationships" xmlns:a="http://schemas.openxmlformats.org/drawingml/2006/main" r:embed="R1667f91ddf3c40de"/>
          <a:stretch xmlns:a="http://schemas.openxmlformats.org/drawingml/2006/main"/>
        </p:blipFill>
        <p:spPr>
          <a:xfrm xmlns:a="http://schemas.openxmlformats.org/drawingml/2006/main">
            <a:off x="609600" y="1809750"/>
            <a:ext cx="2952750" cy="32766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D63912D-ED2F-498D-90DD-B72E9E7308F9}"/>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CJ ENM: 화면 정보와 API 응답 비교</a:t>
            </a:r>
          </a:p>
        </p:txBody>
      </p:sp>
      <p:sp>
        <p:nvSpPr>
          <p:cNvPr id="4" name="">
            <a:extLst xmlns:a="http://schemas.openxmlformats.org/drawingml/2006/main">
              <a:ext uri="{FF2B5EF4-FFF2-40B4-BE49-F238E27FC236}">
                <a16:creationId xmlns:a16="http://schemas.microsoft.com/office/drawing/2014/main" id="{46D3745F-C814-4982-8324-AC2F83BDC91F}"/>
              </a:ext>
            </a:extLst>
          </p:cNvPr>
          <p:cNvSpPr>
            <a:spLocks xmlns:a="http://schemas.openxmlformats.org/drawingml/2006/main" noGrp="1"/>
          </p:cNvSpPr>
          <p:nvPr/>
        </p:nvSpPr>
        <p:spPr>
          <a:xfrm xmlns:a="http://schemas.openxmlformats.org/drawingml/2006/main">
            <a:off x="609600" y="1362075"/>
            <a:ext cx="295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716095"/>
                </a:solidFill>
                <a:latin typeface="Malgun Gothic"/>
                <a:ea typeface="Malgun Gothic"/>
                <a:cs typeface="Malgun Gothic"/>
              </a:defRPr>
            </a:defPPr>
          </a:lstStyle>
          <a:p xmlns:a="http://schemas.openxmlformats.org/drawingml/2006/main">
            <a:pPr>
              <a:defRPr sz="1950" b="1">
                <a:solidFill>
                  <a:srgbClr val="716095"/>
                </a:solidFill>
                <a:latin typeface="Malgun Gothic"/>
                <a:ea typeface="Malgun Gothic"/>
                <a:cs typeface="Malgun Gothic"/>
              </a:defRPr>
            </a:pPr>
            <a:r>
              <a:rPr sz="1950" b="1">
                <a:solidFill>
                  <a:srgbClr val="716095"/>
                </a:solidFill>
                <a:latin typeface="Malgun Gothic"/>
                <a:ea typeface="Malgun Gothic"/>
                <a:cs typeface="Malgun Gothic"/>
              </a:rPr>
              <a:t>프로그램 API 응답</a:t>
            </a:r>
          </a:p>
        </p:txBody>
      </p:sp>
      <p:graphicFrame>
        <p:nvGraphicFramePr>
          <p:cNvPr id="5" name="">
            <a:extLst xmlns:a="http://schemas.openxmlformats.org/drawingml/2006/main">
              <a:ext uri="{FF2B5EF4-FFF2-40B4-BE49-F238E27FC236}">
                <a16:creationId xmlns:a16="http://schemas.microsoft.com/office/drawing/2014/main" id="{0258F7F2-88CD-4E89-9277-8EDA5C328092}"/>
              </a:ext>
            </a:extLst>
          </p:cNvPr>
          <p:cNvGraphicFramePr/>
          <p:nvPr/>
        </p:nvGraphicFramePr>
        <p:xfrm>
          <a:off xmlns:a="http://schemas.openxmlformats.org/drawingml/2006/main" x="3952875" y="1438275"/>
          <a:ext xmlns:a="http://schemas.openxmlformats.org/drawingml/2006/main" cx="7629525" cy="3657600"/>
        </p:xfrm>
        <a:graphic xmlns:a="http://schemas.openxmlformats.org/drawingml/2006/main">
          <a:graphicData uri="http://schemas.openxmlformats.org/drawingml/2006/table">
            <a:tbl>
              <a:tblPr/>
              <a:tblGrid>
                <a:gridCol w="1381125"/>
                <a:gridCol w="2143125"/>
                <a:gridCol w="4105275"/>
              </a:tblGrid>
              <a:tr h="609600">
                <a:tc>
                  <a:txBody>
                    <a:bodyPr lIns="114300" tIns="114300" rIns="114300" bIns="114300"/>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화면에서 확인</a:t>
                      </a:r>
                    </a:p>
                  </a:txBody>
                  <a:tcPr marL="91440" marR="91440" marT="45720" marB="45720" anchor="ctr">
                    <a:solidFill>
                      <a:srgbClr val="EEEBF7"/>
                    </a:solidFill>
                  </a:tcPr>
                </a:tc>
                <a:tc>
                  <a:txBody>
                    <a:bodyPr lIns="114300" tIns="114300" rIns="114300" bIns="114300"/>
                    <a:lstStyle/>
                    <a:p>
                      <a:r>
                        <a:rPr sz="1725" b="1">
                          <a:solidFill>
                            <a:srgbClr val="716095"/>
                          </a:solidFill>
                          <a:latin typeface="Malgun Gothic"/>
                          <a:ea typeface="Malgun Gothic"/>
                          <a:cs typeface="Malgun Gothic"/>
                        </a:rPr>
                        <a:t>API 응답으로 확인</a:t>
                      </a:r>
                    </a:p>
                  </a:txBody>
                  <a:tcPr marL="91440" marR="91440" marT="45720" marB="45720" anchor="ctr">
                    <a:solidFill>
                      <a:srgbClr val="EEEBF7"/>
                    </a:solidFill>
                  </a:tcPr>
                </a:tc>
              </a:tr>
              <a:tr h="609600">
                <a:tc>
                  <a:txBody>
                    <a:bodyPr lIns="114300" tIns="114300" rIns="114300" bIns="114300"/>
                    <a:lstStyle/>
                    <a:p>
                      <a:r>
                        <a:rPr sz="1725" b="0">
                          <a:solidFill>
                            <a:srgbClr val="303044"/>
                          </a:solidFill>
                          <a:latin typeface="Malgun Gothic"/>
                          <a:ea typeface="Malgun Gothic"/>
                          <a:cs typeface="Malgun Gothic"/>
                        </a:rPr>
                        <a:t>시청 등급</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미표시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15세 이상 / 추가 정보</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작품 소개</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접힌 소개문 일부</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전체 소개문 텍스트 반환</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제작·출연</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연출·극본·4명 출연진</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 정보를 필드별 JSON으로 제공</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등장인물</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2명 설명</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동일한 2명 / 추가 인물 없음</a:t>
                      </a:r>
                    </a:p>
                  </a:txBody>
                  <a:tcPr marL="91440" marR="91440" marT="45720" marB="45720" anchor="ctr">
                    <a:solidFill>
                      <a:srgbClr val="FFFFFF"/>
                    </a:solidFill>
                  </a:tcPr>
                </a:tc>
              </a:tr>
              <a:tr h="609600">
                <a:tc>
                  <a:txBody>
                    <a:bodyPr lIns="114300" tIns="114300" rIns="114300" bIns="114300"/>
                    <a:lstStyle/>
                    <a:p>
                      <a:r>
                        <a:rPr sz="1725" b="0">
                          <a:solidFill>
                            <a:srgbClr val="303044"/>
                          </a:solidFill>
                          <a:latin typeface="Malgun Gothic"/>
                          <a:ea typeface="Malgun Gothic"/>
                          <a:cs typeface="Malgun Gothic"/>
                        </a:rPr>
                        <a:t>회차 정보</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a:t>
                      </a:r>
                    </a:p>
                  </a:txBody>
                  <a:tcPr marL="91440" marR="91440" marT="45720" marB="45720" anchor="ctr">
                    <a:solidFill>
                      <a:srgbClr val="FFFFFF"/>
                    </a:solidFill>
                  </a:tcPr>
                </a:tc>
                <a:tc>
                  <a:txBody>
                    <a:bodyPr lIns="114300" tIns="114300" rIns="114300" bIns="114300"/>
                    <a:lstStyle/>
                    <a:p>
                      <a:r>
                        <a:rPr sz="1725" b="0">
                          <a:solidFill>
                            <a:srgbClr val="303044"/>
                          </a:solidFill>
                          <a:latin typeface="Malgun Gothic"/>
                          <a:ea typeface="Malgun Gothic"/>
                          <a:cs typeface="Malgun Gothic"/>
                        </a:rPr>
                        <a:t>총 12회 / 회차별 시놉시스 없음</a:t>
                      </a:r>
                    </a:p>
                  </a:txBody>
                  <a:tcPr marL="91440" marR="91440" marT="45720" marB="4572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BF2C21FE-8C49-4EE2-9DBC-9D211EE69518}"/>
              </a:ext>
            </a:extLst>
          </p:cNvPr>
          <p:cNvSpPr>
            <a:spLocks xmlns:a="http://schemas.openxmlformats.org/drawingml/2006/main" noGrp="1"/>
          </p:cNvSpPr>
          <p:nvPr/>
        </p:nvSpPr>
        <p:spPr>
          <a:xfrm xmlns:a="http://schemas.openxmlformats.org/drawingml/2006/main">
            <a:off x="609600" y="54292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추가 확인: 연령 등급 / 전체 소개문 텍스트 확보</a:t>
            </a:r>
          </a:p>
        </p:txBody>
      </p:sp>
      <p:sp>
        <p:nvSpPr>
          <p:cNvPr id="7" name="">
            <a:extLst xmlns:a="http://schemas.openxmlformats.org/drawingml/2006/main">
              <a:ext uri="{FF2B5EF4-FFF2-40B4-BE49-F238E27FC236}">
                <a16:creationId xmlns:a16="http://schemas.microsoft.com/office/drawing/2014/main" id="{AD8420D4-C243-47C9-9245-833E54E98B0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화면의 더보기 펼침은 별도 확인 / 두 API의 직접 조회와 JSON 저장 검증 완료</a:t>
            </a:r>
          </a:p>
        </p:txBody>
      </p:sp>
      <p:sp>
        <p:nvSpPr>
          <p:cNvPr id="8" name="">
            <a:extLst xmlns:a="http://schemas.openxmlformats.org/drawingml/2006/main">
              <a:ext uri="{FF2B5EF4-FFF2-40B4-BE49-F238E27FC236}">
                <a16:creationId xmlns:a16="http://schemas.microsoft.com/office/drawing/2014/main" id="{A1CF1561-623C-48DB-8EC0-669184254096}"/>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07</a:t>
            </a:r>
          </a:p>
        </p:txBody>
      </p:sp>
    </p:spTree>
    <p:extLst>
      <p:ext uri="{BB962C8B-B14F-4D97-AF65-F5344CB8AC3E}">
        <p14:creationId xmlns:p14="http://schemas.microsoft.com/office/powerpoint/2010/main" val="1960288279"/>
      </p:ext>
    </p:extLst>
  </p:cSld>
</p:sld>
</file>

<file path=ppt/slides/slide8.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701F7316-6CCF-4245-A0A5-BE2D76C5BA9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같은 포핸즈의 회차 정보로 보완</a:t>
            </a:r>
          </a:p>
        </p:txBody>
      </p:sp>
      <p:pic>
        <p:nvPicPr>
          <p:cNvPr id="2" name="그림 1">
            <a:extLst xmlns:a="http://schemas.openxmlformats.org/drawingml/2006/main">
              <a:ext uri="{FF2B5EF4-FFF2-40B4-BE49-F238E27FC236}">
                <a16:creationId xmlns:a16="http://schemas.microsoft.com/office/drawing/2014/main" id="{5957642A-183A-42B9-B4D5-CFEB98564554}"/>
              </a:ext>
            </a:extLst>
          </p:cNvPr>
          <p:cNvPicPr>
            <a:picLocks xmlns:a="http://schemas.openxmlformats.org/drawingml/2006/main" noChangeAspect="1"/>
          </p:cNvPicPr>
          <p:nvPr/>
        </p:nvPicPr>
        <p:blipFill>
          <a:blip xmlns:r="http://schemas.openxmlformats.org/officeDocument/2006/relationships" xmlns:a="http://schemas.openxmlformats.org/drawingml/2006/main" r:embed="R39500875abb24e67"/>
          <a:stretch xmlns:a="http://schemas.openxmlformats.org/drawingml/2006/main"/>
        </p:blipFill>
        <p:spPr>
          <a:xfrm xmlns:a="http://schemas.openxmlformats.org/drawingml/2006/main">
            <a:off x="2536785" y="1438275"/>
            <a:ext cx="7118430" cy="2743200"/>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B1AF6185-ECCC-444C-B4BA-E0BC2763F689}"/>
              </a:ext>
            </a:extLst>
          </p:cNvPr>
          <p:cNvSpPr>
            <a:spLocks xmlns:a="http://schemas.openxmlformats.org/drawingml/2006/main" noGrp="1"/>
          </p:cNvSpPr>
          <p:nvPr/>
        </p:nvSpPr>
        <p:spPr>
          <a:xfrm xmlns:a="http://schemas.openxmlformats.org/drawingml/2006/main">
            <a:off x="609600" y="4429125"/>
            <a:ext cx="109728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12개 회차의 제목·시놉시스·방송일·재생 시간 저장</a:t>
            </a:r>
          </a:p>
        </p:txBody>
      </p:sp>
      <p:sp>
        <p:nvSpPr>
          <p:cNvPr id="4" name="직사각형 3">
            <a:extLst xmlns:a="http://schemas.openxmlformats.org/drawingml/2006/main">
              <a:ext uri="{FF2B5EF4-FFF2-40B4-BE49-F238E27FC236}">
                <a16:creationId xmlns:a16="http://schemas.microsoft.com/office/drawing/2014/main" id="{2E6C1581-00F7-477C-A706-8774560E1B29}"/>
              </a:ext>
            </a:extLst>
          </p:cNvPr>
          <p:cNvSpPr>
            <a:spLocks xmlns:a="http://schemas.openxmlformats.org/drawingml/2006/main" noGrp="1"/>
          </p:cNvSpPr>
          <p:nvPr/>
        </p:nvSpPr>
        <p:spPr>
          <a:xfrm xmlns:a="http://schemas.openxmlformats.org/drawingml/2006/main">
            <a:off x="609600" y="5038725"/>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303044"/>
                </a:solidFill>
                <a:latin typeface="Malgun Gothic"/>
                <a:ea typeface="Malgun Gothic"/>
                <a:cs typeface="Malgun Gothic"/>
              </a:defRPr>
            </a:defPPr>
          </a:lstStyle>
          <a:p xmlns:a="http://schemas.openxmlformats.org/drawingml/2006/main">
            <a:pPr>
              <a:buNone/>
              <a:defRPr sz="1800" b="1">
                <a:solidFill>
                  <a:srgbClr val="303044"/>
                </a:solidFill>
                <a:latin typeface="Malgun Gothic"/>
                <a:ea typeface="Malgun Gothic"/>
                <a:cs typeface="Malgun Gothic"/>
              </a:defRPr>
            </a:pPr>
            <a:r>
              <a:rPr sz="1800" b="1">
                <a:solidFill>
                  <a:srgbClr val="303044"/>
                </a:solidFill>
                <a:latin typeface="Malgun Gothic"/>
                <a:ea typeface="Malgun Gothic"/>
                <a:cs typeface="Malgun Gothic"/>
              </a:rPr>
              <a:t>2화 소개 예시</a:t>
            </a:r>
          </a:p>
        </p:txBody>
      </p:sp>
      <p:sp>
        <p:nvSpPr>
          <p:cNvPr id="5" name="직사각형 4">
            <a:extLst xmlns:a="http://schemas.openxmlformats.org/drawingml/2006/main">
              <a:ext uri="{FF2B5EF4-FFF2-40B4-BE49-F238E27FC236}">
                <a16:creationId xmlns:a16="http://schemas.microsoft.com/office/drawing/2014/main" id="{B26A3CE6-AE48-4C39-BB26-30110AF4DA6C}"/>
              </a:ext>
            </a:extLst>
          </p:cNvPr>
          <p:cNvSpPr>
            <a:spLocks xmlns:a="http://schemas.openxmlformats.org/drawingml/2006/main" noGrp="1"/>
          </p:cNvSpPr>
          <p:nvPr/>
        </p:nvSpPr>
        <p:spPr>
          <a:xfrm xmlns:a="http://schemas.openxmlformats.org/drawingml/2006/main">
            <a:off x="2809875" y="5038725"/>
            <a:ext cx="87725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비오는 정요를 의식적으로 멀리한다. 현수는 교습의 조건으로 정요와의 포핸즈를 내건다.</a:t>
            </a:r>
          </a:p>
        </p:txBody>
      </p:sp>
      <p:sp>
        <p:nvSpPr>
          <p:cNvPr id="6" name="직사각형 5">
            <a:extLst xmlns:a="http://schemas.openxmlformats.org/drawingml/2006/main">
              <a:ext uri="{FF2B5EF4-FFF2-40B4-BE49-F238E27FC236}">
                <a16:creationId xmlns:a16="http://schemas.microsoft.com/office/drawing/2014/main" id="{3A8A5C1B-EFED-4715-B88D-B58A174D4C62}"/>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CJ ENM 응답의 TVING URL로 연결 / 12개 회차 수집 근거: 2026.10.07 저장 JSON</a:t>
            </a:r>
          </a:p>
        </p:txBody>
      </p:sp>
      <p:sp>
        <p:nvSpPr>
          <p:cNvPr id="7" name="직사각형 6">
            <a:extLst xmlns:a="http://schemas.openxmlformats.org/drawingml/2006/main">
              <a:ext uri="{FF2B5EF4-FFF2-40B4-BE49-F238E27FC236}">
                <a16:creationId xmlns:a16="http://schemas.microsoft.com/office/drawing/2014/main" id="{6C15AA52-B143-418B-944E-41FB9E677477}"/>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08</a:t>
            </a:r>
          </a:p>
        </p:txBody>
      </p:sp>
    </p:spTree>
    <p:extLst>
      <p:ext uri="{BB962C8B-B14F-4D97-AF65-F5344CB8AC3E}">
        <p14:creationId xmlns:p14="http://schemas.microsoft.com/office/powerpoint/2010/main" val="1664551700"/>
      </p:ext>
    </p:extLst>
  </p:cSld>
</p:sld>
</file>

<file path=ppt/slides/slide9.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5F97D76D-06A4-4DFE-80A7-50432B51CEE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API 응답: 회차별 필드 확인</a:t>
            </a:r>
          </a:p>
        </p:txBody>
      </p:sp>
      <p:sp>
        <p:nvSpPr>
          <p:cNvPr id="2" name="직사각형 1">
            <a:extLst xmlns:a="http://schemas.openxmlformats.org/drawingml/2006/main">
              <a:ext uri="{FF2B5EF4-FFF2-40B4-BE49-F238E27FC236}">
                <a16:creationId xmlns:a16="http://schemas.microsoft.com/office/drawing/2014/main" id="{C0FB8D23-9DCC-47C3-BFE4-8A85F52F9E1F}"/>
              </a:ext>
            </a:extLst>
          </p:cNvPr>
          <p:cNvSpPr>
            <a:spLocks xmlns:a="http://schemas.openxmlformats.org/drawingml/2006/main" noGrp="1"/>
          </p:cNvSpPr>
          <p:nvPr/>
        </p:nvSpPr>
        <p:spPr>
          <a:xfrm xmlns:a="http://schemas.openxmlformats.org/drawingml/2006/main">
            <a:off x="60960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1화 응답</a:t>
            </a:r>
          </a:p>
        </p:txBody>
      </p:sp>
      <p:sp>
        <p:nvSpPr>
          <p:cNvPr id="3" name="직사각형 2">
            <a:extLst xmlns:a="http://schemas.openxmlformats.org/drawingml/2006/main">
              <a:ext uri="{FF2B5EF4-FFF2-40B4-BE49-F238E27FC236}">
                <a16:creationId xmlns:a16="http://schemas.microsoft.com/office/drawing/2014/main" id="{EB24943B-CFBE-410C-B87E-7D53572961F5}"/>
              </a:ext>
            </a:extLst>
          </p:cNvPr>
          <p:cNvSpPr>
            <a:spLocks xmlns:a="http://schemas.openxmlformats.org/drawingml/2006/main" noGrp="1"/>
          </p:cNvSpPr>
          <p:nvPr/>
        </p:nvSpPr>
        <p:spPr>
          <a:xfrm xmlns:a="http://schemas.openxmlformats.org/drawingml/2006/main">
            <a:off x="6343650" y="13620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2화 응답</a:t>
            </a:r>
          </a:p>
        </p:txBody>
      </p:sp>
      <p:pic>
        <p:nvPicPr>
          <p:cNvPr id="4" name="그림 3">
            <a:extLst xmlns:a="http://schemas.openxmlformats.org/drawingml/2006/main">
              <a:ext uri="{FF2B5EF4-FFF2-40B4-BE49-F238E27FC236}">
                <a16:creationId xmlns:a16="http://schemas.microsoft.com/office/drawing/2014/main" id="{2CC56E7E-B055-4A74-BDB8-1EF4D8206D37}"/>
              </a:ext>
            </a:extLst>
          </p:cNvPr>
          <p:cNvPicPr>
            <a:picLocks xmlns:a="http://schemas.openxmlformats.org/drawingml/2006/main" noChangeAspect="1"/>
          </p:cNvPicPr>
          <p:nvPr/>
        </p:nvPicPr>
        <p:blipFill>
          <a:blip xmlns:r="http://schemas.openxmlformats.org/officeDocument/2006/relationships" xmlns:a="http://schemas.openxmlformats.org/drawingml/2006/main" r:embed="Re0533c7117004f98"/>
          <a:stretch xmlns:a="http://schemas.openxmlformats.org/drawingml/2006/main"/>
        </p:blipFill>
        <p:spPr>
          <a:xfrm xmlns:a="http://schemas.openxmlformats.org/drawingml/2006/main">
            <a:off x="1422622" y="1819275"/>
            <a:ext cx="3612706" cy="300990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5D4EE250-8143-48B1-87B2-324735D34B47}"/>
              </a:ext>
            </a:extLst>
          </p:cNvPr>
          <p:cNvPicPr>
            <a:picLocks xmlns:a="http://schemas.openxmlformats.org/drawingml/2006/main" noChangeAspect="1"/>
          </p:cNvPicPr>
          <p:nvPr/>
        </p:nvPicPr>
        <p:blipFill>
          <a:blip xmlns:r="http://schemas.openxmlformats.org/officeDocument/2006/relationships" xmlns:a="http://schemas.openxmlformats.org/drawingml/2006/main" r:embed="R19522e56d7954fda"/>
          <a:stretch xmlns:a="http://schemas.openxmlformats.org/drawingml/2006/main"/>
        </p:blipFill>
        <p:spPr>
          <a:xfrm xmlns:a="http://schemas.openxmlformats.org/drawingml/2006/main">
            <a:off x="6515383" y="1819275"/>
            <a:ext cx="4895283" cy="300990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C2E644CC-0F5C-4C74-876F-2205BB378A31}"/>
              </a:ext>
            </a:extLst>
          </p:cNvPr>
          <p:cNvSpPr>
            <a:spLocks xmlns:a="http://schemas.openxmlformats.org/drawingml/2006/main" noGrp="1"/>
          </p:cNvSpPr>
          <p:nvPr/>
        </p:nvSpPr>
        <p:spPr>
          <a:xfrm xmlns:a="http://schemas.openxmlformats.org/drawingml/2006/main">
            <a:off x="609600" y="5105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회차 번호 / 제목 / 방송일 / 시놉시스 / 재생 시간</a:t>
            </a:r>
          </a:p>
        </p:txBody>
      </p:sp>
      <p:sp>
        <p:nvSpPr>
          <p:cNvPr id="7" name="직사각형 6">
            <a:extLst xmlns:a="http://schemas.openxmlformats.org/drawingml/2006/main">
              <a:ext uri="{FF2B5EF4-FFF2-40B4-BE49-F238E27FC236}">
                <a16:creationId xmlns:a16="http://schemas.microsoft.com/office/drawing/2014/main" id="{799BB4ED-556F-4C9F-86C5-F797D5181E12}"/>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1화: 2026.08.29, 4,072초      2화: 2026.08.30, 3,570초</a:t>
            </a:r>
          </a:p>
        </p:txBody>
      </p:sp>
      <p:sp>
        <p:nvSpPr>
          <p:cNvPr id="8" name="직사각형 7">
            <a:extLst xmlns:a="http://schemas.openxmlformats.org/drawingml/2006/main">
              <a:ext uri="{FF2B5EF4-FFF2-40B4-BE49-F238E27FC236}">
                <a16:creationId xmlns:a16="http://schemas.microsoft.com/office/drawing/2014/main" id="{2EFC63EB-3106-4022-B168-83CE350006E9}"/>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응답 필드: frequency, vod_name.ko, broadcast_date, synopsis.ko, duration</a:t>
            </a:r>
          </a:p>
        </p:txBody>
      </p:sp>
      <p:sp>
        <p:nvSpPr>
          <p:cNvPr id="9" name="직사각형 8">
            <a:extLst xmlns:a="http://schemas.openxmlformats.org/drawingml/2006/main">
              <a:ext uri="{FF2B5EF4-FFF2-40B4-BE49-F238E27FC236}">
                <a16:creationId xmlns:a16="http://schemas.microsoft.com/office/drawing/2014/main" id="{A8AA79C6-4831-402E-99D1-EDE2E1BC0969}"/>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09</a:t>
            </a:r>
          </a:p>
        </p:txBody>
      </p:sp>
    </p:spTree>
    <p:extLst>
      <p:ext uri="{BB962C8B-B14F-4D97-AF65-F5344CB8AC3E}">
        <p14:creationId xmlns:p14="http://schemas.microsoft.com/office/powerpoint/2010/main" val="314729554"/>
      </p:ext>
    </p:extLst>
  </p:cSld>
</p:sld>
</file>

<file path=ppt/slides/slide10.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4313242E-7B5A-42A8-8155-7D8CB79FB8F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TVING 드라마 전체: 상위 20개 수집 결과</a:t>
            </a:r>
          </a:p>
        </p:txBody>
      </p:sp>
      <p:pic>
        <p:nvPicPr>
          <p:cNvPr id="2" name="그림 1">
            <a:extLst xmlns:a="http://schemas.openxmlformats.org/drawingml/2006/main">
              <a:ext uri="{FF2B5EF4-FFF2-40B4-BE49-F238E27FC236}">
                <a16:creationId xmlns:a16="http://schemas.microsoft.com/office/drawing/2014/main" id="{84A11B85-F5C6-44B7-8C94-D5010E7B561F}"/>
              </a:ext>
            </a:extLst>
          </p:cNvPr>
          <p:cNvPicPr>
            <a:picLocks xmlns:a="http://schemas.openxmlformats.org/drawingml/2006/main" noChangeAspect="1"/>
          </p:cNvPicPr>
          <p:nvPr/>
        </p:nvPicPr>
        <p:blipFill>
          <a:blip xmlns:r="http://schemas.openxmlformats.org/officeDocument/2006/relationships" xmlns:a="http://schemas.openxmlformats.org/drawingml/2006/main" r:embed="R696b14316f41468d"/>
          <a:stretch xmlns:a="http://schemas.openxmlformats.org/drawingml/2006/main"/>
        </p:blipFill>
        <p:spPr>
          <a:xfrm xmlns:a="http://schemas.openxmlformats.org/drawingml/2006/main">
            <a:off x="609600" y="2089717"/>
            <a:ext cx="6715125" cy="2973841"/>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70AB690E-6EAD-43DA-9165-74C1A4B30088}"/>
              </a:ext>
            </a:extLst>
          </p:cNvPr>
          <p:cNvSpPr>
            <a:spLocks xmlns:a="http://schemas.openxmlformats.org/drawingml/2006/main" noGrp="1"/>
          </p:cNvSpPr>
          <p:nvPr/>
        </p:nvSpPr>
        <p:spPr>
          <a:xfrm xmlns:a="http://schemas.openxmlformats.org/drawingml/2006/main">
            <a:off x="7820025" y="1457325"/>
            <a:ext cx="37623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2026.10.07 저장 배치</a:t>
            </a:r>
          </a:p>
        </p:txBody>
      </p:sp>
      <p:graphicFrame>
        <p:nvGraphicFramePr>
          <p:cNvPr id="4" name="표 3">
            <a:extLst xmlns:a="http://schemas.openxmlformats.org/drawingml/2006/main">
              <a:ext uri="{FF2B5EF4-FFF2-40B4-BE49-F238E27FC236}">
                <a16:creationId xmlns:a16="http://schemas.microsoft.com/office/drawing/2014/main" id="{AD18B9C0-CA1E-4F11-B2E7-721E589221FC}"/>
              </a:ext>
            </a:extLst>
          </p:cNvPr>
          <p:cNvGraphicFramePr/>
          <p:nvPr/>
        </p:nvGraphicFramePr>
        <p:xfrm>
          <a:off xmlns:a="http://schemas.openxmlformats.org/drawingml/2006/main" x="7820025" y="2162175"/>
          <a:ext xmlns:a="http://schemas.openxmlformats.org/drawingml/2006/main" cx="3762375" cy="2447925"/>
        </p:xfrm>
        <a:graphic xmlns:a="http://schemas.openxmlformats.org/drawingml/2006/main">
          <a:graphicData uri="http://schemas.openxmlformats.org/drawingml/2006/table">
            <a:tbl>
              <a:tblPr/>
              <a:tblGrid>
                <a:gridCol w="2381250"/>
                <a:gridCol w="1381125"/>
              </a:tblGrid>
              <a:tr h="611981">
                <a:tc>
                  <a:txBody>
                    <a:bodyPr/>
                    <a:lstStyle/>
                    <a:p>
                      <a:r>
                        <a:rPr sz="1800"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800" b="1">
                          <a:solidFill>
                            <a:srgbClr val="716095"/>
                          </a:solidFill>
                          <a:latin typeface="Malgun Gothic"/>
                          <a:ea typeface="Malgun Gothic"/>
                          <a:cs typeface="Malgun Gothic"/>
                        </a:rPr>
                        <a:t>결과</a:t>
                      </a:r>
                    </a:p>
                  </a:txBody>
                  <a:tcPr marL="91440" marR="91440" marT="45720" marB="45720" anchor="ctr">
                    <a:solidFill>
                      <a:srgbClr val="EEEBF7"/>
                    </a:solidFill>
                  </a:tcPr>
                </a:tc>
              </a:tr>
              <a:tr h="611981">
                <a:tc>
                  <a:txBody>
                    <a:bodyPr/>
                    <a:lstStyle/>
                    <a:p>
                      <a:r>
                        <a:rPr sz="1800" b="0">
                          <a:solidFill>
                            <a:srgbClr val="303044"/>
                          </a:solidFill>
                          <a:latin typeface="Malgun Gothic"/>
                          <a:ea typeface="Malgun Gothic"/>
                          <a:cs typeface="Malgun Gothic"/>
                        </a:rPr>
                        <a:t>작품</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20개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r h="611981">
                <a:tc>
                  <a:txBody>
                    <a:bodyPr/>
                    <a:lstStyle/>
                    <a:p>
                      <a:r>
                        <a:rPr sz="1800" b="0">
                          <a:solidFill>
                            <a:srgbClr val="303044"/>
                          </a:solidFill>
                          <a:latin typeface="Malgun Gothic"/>
                          <a:ea typeface="Malgun Gothic"/>
                          <a:cs typeface="Malgun Gothic"/>
                        </a:rPr>
                        <a:t>회차 시놉시스</a:t>
                      </a:r>
                    </a:p>
                  </a:txBody>
                  <a:tcPr marL="91440" marR="91440" marT="45720" marB="45720" anchor="ctr">
                    <a:solidFill>
                      <a:srgbClr val="FFFFFF"/>
                    </a:solidFill>
                  </a:tcPr>
                </a:tc>
                <a:tc>
                  <a:txBody>
                    <a:bodyPr/>
                    <a:lstStyle/>
                    <a:p>
                      <a:r>
                        <a:rPr sz="1800" b="0">
                          <a:solidFill>
                            <a:srgbClr val="303044"/>
                          </a:solidFill>
                          <a:latin typeface="Malgun Gothic"/>
                          <a:ea typeface="Malgun Gothic"/>
                          <a:cs typeface="Malgun Gothic"/>
                        </a:rPr>
                        <a:t>341개</a:t>
                      </a:r>
                    </a:p>
                  </a:txBody>
                  <a:tcPr marL="91440" marR="91440" marT="45720" marB="45720" anchor="ctr">
                    <a:solidFill>
                      <a:srgbClr val="FFFFFF"/>
                    </a:solidFill>
                  </a:tcPr>
                </a:tc>
              </a:tr>
            </a:tbl>
          </a:graphicData>
        </a:graphic>
      </p:graphicFrame>
      <p:sp>
        <p:nvSpPr>
          <p:cNvPr id="5" name="직사각형 4">
            <a:extLst xmlns:a="http://schemas.openxmlformats.org/drawingml/2006/main">
              <a:ext uri="{FF2B5EF4-FFF2-40B4-BE49-F238E27FC236}">
                <a16:creationId xmlns:a16="http://schemas.microsoft.com/office/drawing/2014/main" id="{3E13A2CC-7E82-4A73-A87E-7A3796F32870}"/>
              </a:ext>
            </a:extLst>
          </p:cNvPr>
          <p:cNvSpPr>
            <a:spLocks xmlns:a="http://schemas.openxmlformats.org/drawingml/2006/main" noGrp="1"/>
          </p:cNvSpPr>
          <p:nvPr/>
        </p:nvSpPr>
        <p:spPr>
          <a:xfrm xmlns:a="http://schemas.openxmlformats.org/drawingml/2006/main">
            <a:off x="7820025" y="5095875"/>
            <a:ext cx="3762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포핸즈 포함</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 시놉시스 확보</a:t>
            </a:r>
          </a:p>
        </p:txBody>
      </p:sp>
      <p:sp>
        <p:nvSpPr>
          <p:cNvPr id="6" name="직사각형 5">
            <a:extLst xmlns:a="http://schemas.openxmlformats.org/drawingml/2006/main">
              <a:ext uri="{FF2B5EF4-FFF2-40B4-BE49-F238E27FC236}">
                <a16:creationId xmlns:a16="http://schemas.microsoft.com/office/drawing/2014/main" id="{B342C951-10EE-4AA5-8B46-9F962ED11E1D}"/>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왼쪽 캡처는 목록 구조 예시 / 집계와 당시 순위는 저장된 수집 보고서 기준</a:t>
            </a:r>
          </a:p>
        </p:txBody>
      </p:sp>
      <p:sp>
        <p:nvSpPr>
          <p:cNvPr id="7" name="직사각형 6">
            <a:extLst xmlns:a="http://schemas.openxmlformats.org/drawingml/2006/main">
              <a:ext uri="{FF2B5EF4-FFF2-40B4-BE49-F238E27FC236}">
                <a16:creationId xmlns:a16="http://schemas.microsoft.com/office/drawing/2014/main" id="{47B06EF3-B3E3-4DDB-B86D-3708E26B5F1F}"/>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10</a:t>
            </a:r>
          </a:p>
        </p:txBody>
      </p:sp>
    </p:spTree>
    <p:extLst>
      <p:ext uri="{BB962C8B-B14F-4D97-AF65-F5344CB8AC3E}">
        <p14:creationId xmlns:p14="http://schemas.microsoft.com/office/powerpoint/2010/main" val="859924957"/>
      </p:ext>
    </p:extLst>
  </p:cSld>
</p:sld>
</file>

<file path=ppt/slides/slide11.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9" name="직사각형 8">
            <a:extLst xmlns:a="http://schemas.openxmlformats.org/drawingml/2006/main">
              <a:ext uri="{FF2B5EF4-FFF2-40B4-BE49-F238E27FC236}">
                <a16:creationId xmlns:a16="http://schemas.microsoft.com/office/drawing/2014/main" id="{7789C277-8624-4A67-AF91-4D7394DFB8AF}"/>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나무위키: 기존 수집 검증과 포핸즈 보완 범위</a:t>
            </a:r>
          </a:p>
        </p:txBody>
      </p:sp>
      <p:sp>
        <p:nvSpPr>
          <p:cNvPr id="2" name="직사각형 1">
            <a:extLst xmlns:a="http://schemas.openxmlformats.org/drawingml/2006/main">
              <a:ext uri="{FF2B5EF4-FFF2-40B4-BE49-F238E27FC236}">
                <a16:creationId xmlns:a16="http://schemas.microsoft.com/office/drawing/2014/main" id="{43B8A208-DE56-4E39-9995-C8B82089072A}"/>
              </a:ext>
            </a:extLst>
          </p:cNvPr>
          <p:cNvSpPr>
            <a:spLocks xmlns:a="http://schemas.openxmlformats.org/drawingml/2006/main" noGrp="1"/>
          </p:cNvSpPr>
          <p:nvPr/>
        </p:nvSpPr>
        <p:spPr>
          <a:xfrm xmlns:a="http://schemas.openxmlformats.org/drawingml/2006/main">
            <a:off x="609600" y="1333500"/>
            <a:ext cx="55626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기존 수집 검증</a:t>
            </a:r>
          </a:p>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냉장고를 부탁해</a:t>
            </a:r>
          </a:p>
        </p:txBody>
      </p:sp>
      <p:graphicFrame>
        <p:nvGraphicFramePr>
          <p:cNvPr id="3" name="표 2">
            <a:extLst xmlns:a="http://schemas.openxmlformats.org/drawingml/2006/main">
              <a:ext uri="{FF2B5EF4-FFF2-40B4-BE49-F238E27FC236}">
                <a16:creationId xmlns:a16="http://schemas.microsoft.com/office/drawing/2014/main" id="{CF8E6411-812C-4A6D-8956-F6BDE3D7D57C}"/>
              </a:ext>
            </a:extLst>
          </p:cNvPr>
          <p:cNvGraphicFramePr/>
          <p:nvPr/>
        </p:nvGraphicFramePr>
        <p:xfrm>
          <a:off xmlns:a="http://schemas.openxmlformats.org/drawingml/2006/main" x="609600" y="2114550"/>
          <a:ext xmlns:a="http://schemas.openxmlformats.org/drawingml/2006/main" cx="5562600" cy="2828925"/>
        </p:xfrm>
        <a:graphic xmlns:a="http://schemas.openxmlformats.org/drawingml/2006/main">
          <a:graphicData uri="http://schemas.openxmlformats.org/drawingml/2006/table">
            <a:tbl>
              <a:tblPr/>
              <a:tblGrid>
                <a:gridCol w="1857375"/>
                <a:gridCol w="3705225"/>
              </a:tblGrid>
              <a:tr h="565785">
                <a:tc>
                  <a:txBody>
                    <a:bodyPr/>
                    <a:lstStyle/>
                    <a:p>
                      <a:r>
                        <a:rPr sz="1725" b="1">
                          <a:solidFill>
                            <a:srgbClr val="716095"/>
                          </a:solidFill>
                          <a:latin typeface="Malgun Gothic"/>
                          <a:ea typeface="Malgun Gothic"/>
                          <a:cs typeface="Malgun Gothic"/>
                        </a:rPr>
                        <a:t>항목</a:t>
                      </a:r>
                    </a:p>
                  </a:txBody>
                  <a:tcPr marL="91440" marR="91440" marT="45720" marB="45720" anchor="ctr">
                    <a:solidFill>
                      <a:srgbClr val="EEEBF7"/>
                    </a:solidFill>
                  </a:tcPr>
                </a:tc>
                <a:tc>
                  <a:txBody>
                    <a:bodyPr/>
                    <a:lstStyle/>
                    <a:p>
                      <a:r>
                        <a:rPr sz="1725" b="1">
                          <a:solidFill>
                            <a:srgbClr val="716095"/>
                          </a:solidFill>
                          <a:latin typeface="Malgun Gothic"/>
                          <a:ea typeface="Malgun Gothic"/>
                          <a:cs typeface="Malgun Gothic"/>
                        </a:rPr>
                        <a:t>저장된 값</a:t>
                      </a:r>
                    </a:p>
                  </a:txBody>
                  <a:tcPr marL="91440" marR="91440" marT="45720" marB="45720" anchor="ctr">
                    <a:solidFill>
                      <a:srgbClr val="EEEBF7"/>
                    </a:solidFill>
                  </a:tcPr>
                </a:tc>
              </a:tr>
              <a:tr h="565785">
                <a:tc>
                  <a:txBody>
                    <a:bodyPr/>
                    <a:lstStyle/>
                    <a:p>
                      <a:r>
                        <a:rPr sz="1725" b="0">
                          <a:solidFill>
                            <a:srgbClr val="303044"/>
                          </a:solidFill>
                          <a:latin typeface="Malgun Gothic"/>
                          <a:ea typeface="Malgun Gothic"/>
                          <a:cs typeface="Malgun Gothic"/>
                        </a:rPr>
                        <a:t>방송사 / 제작사</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JTBC / 미스틱스토리</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진행자</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김성주, 안정환, 정형돈</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총 회차 수</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254회 (시즌 1)</a:t>
                      </a:r>
                    </a:p>
                  </a:txBody>
                  <a:tcPr marL="91440" marR="91440" marT="45720" marB="45720" anchor="ctr">
                    <a:solidFill>
                      <a:srgbClr val="FFFFFF"/>
                    </a:solidFill>
                  </a:tcPr>
                </a:tc>
              </a:tr>
              <a:tr h="565785">
                <a:tc>
                  <a:txBody>
                    <a:bodyPr/>
                    <a:lstStyle/>
                    <a:p>
                      <a:r>
                        <a:rPr sz="1725" b="0">
                          <a:solidFill>
                            <a:srgbClr val="303044"/>
                          </a:solidFill>
                          <a:latin typeface="Malgun Gothic"/>
                          <a:ea typeface="Malgun Gothic"/>
                          <a:cs typeface="Malgun Gothic"/>
                        </a:rPr>
                        <a:t>관련 문서</a:t>
                      </a:r>
                    </a:p>
                  </a:txBody>
                  <a:tcPr marL="91440" marR="91440" marT="45720" marB="45720" anchor="ctr">
                    <a:solidFill>
                      <a:srgbClr val="FFFFFF"/>
                    </a:solidFill>
                  </a:tcPr>
                </a:tc>
                <a:tc>
                  <a:txBody>
                    <a:bodyPr/>
                    <a:lstStyle/>
                    <a:p>
                      <a:r>
                        <a:rPr sz="1725" b="0">
                          <a:solidFill>
                            <a:srgbClr val="303044"/>
                          </a:solidFill>
                          <a:latin typeface="Malgun Gothic"/>
                          <a:ea typeface="Malgun Gothic"/>
                          <a:cs typeface="Malgun Gothic"/>
                        </a:rPr>
                        <a:t>링크 저장, 하위 문서 미수집</a:t>
                      </a:r>
                    </a:p>
                  </a:txBody>
                  <a:tcPr marL="91440" marR="91440" marT="45720" marB="45720" anchor="ctr">
                    <a:solidFill>
                      <a:srgbClr val="FFFFFF"/>
                    </a:solidFill>
                  </a:tcPr>
                </a:tc>
              </a:tr>
            </a:tbl>
          </a:graphicData>
        </a:graphic>
      </p:graphicFrame>
      <p:sp>
        <p:nvSpPr>
          <p:cNvPr id="4" name="직사각형 3">
            <a:extLst xmlns:a="http://schemas.openxmlformats.org/drawingml/2006/main">
              <a:ext uri="{FF2B5EF4-FFF2-40B4-BE49-F238E27FC236}">
                <a16:creationId xmlns:a16="http://schemas.microsoft.com/office/drawing/2014/main" id="{3A81F3D3-EAAC-421E-BA6E-0B6D83012ADA}"/>
              </a:ext>
            </a:extLst>
          </p:cNvPr>
          <p:cNvSpPr>
            <a:spLocks xmlns:a="http://schemas.openxmlformats.org/drawingml/2006/main" noGrp="1"/>
          </p:cNvSpPr>
          <p:nvPr/>
        </p:nvSpPr>
        <p:spPr>
          <a:xfrm xmlns:a="http://schemas.openxmlformats.org/drawingml/2006/main">
            <a:off x="6705600" y="1381125"/>
            <a:ext cx="48768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716095"/>
                </a:solidFill>
                <a:latin typeface="Malgun Gothic"/>
                <a:ea typeface="Malgun Gothic"/>
                <a:cs typeface="Malgun Gothic"/>
              </a:defRPr>
            </a:defPPr>
          </a:lstStyle>
          <a:p xmlns:a="http://schemas.openxmlformats.org/drawingml/2006/main">
            <a:pPr>
              <a:buNone/>
              <a:defRPr sz="2025" b="1">
                <a:solidFill>
                  <a:srgbClr val="716095"/>
                </a:solidFill>
                <a:latin typeface="Malgun Gothic"/>
                <a:ea typeface="Malgun Gothic"/>
                <a:cs typeface="Malgun Gothic"/>
              </a:defRPr>
            </a:pPr>
            <a:r>
              <a:rPr sz="2025" b="1">
                <a:solidFill>
                  <a:srgbClr val="716095"/>
                </a:solidFill>
                <a:latin typeface="Malgun Gothic"/>
                <a:ea typeface="Malgun Gothic"/>
                <a:cs typeface="Malgun Gothic"/>
              </a:rPr>
              <a:t>포핸즈의 위키 문서 보완</a:t>
            </a:r>
          </a:p>
        </p:txBody>
      </p:sp>
      <p:sp>
        <p:nvSpPr>
          <p:cNvPr id="5" name="직사각형 4">
            <a:extLst xmlns:a="http://schemas.openxmlformats.org/drawingml/2006/main">
              <a:ext uri="{FF2B5EF4-FFF2-40B4-BE49-F238E27FC236}">
                <a16:creationId xmlns:a16="http://schemas.microsoft.com/office/drawing/2014/main" id="{4E47A19A-0D55-405C-ADCF-330764A0B1D2}"/>
              </a:ext>
            </a:extLst>
          </p:cNvPr>
          <p:cNvSpPr>
            <a:spLocks xmlns:a="http://schemas.openxmlformats.org/drawingml/2006/main" noGrp="1"/>
          </p:cNvSpPr>
          <p:nvPr/>
        </p:nvSpPr>
        <p:spPr>
          <a:xfrm xmlns:a="http://schemas.openxmlformats.org/drawingml/2006/main">
            <a:off x="6705600" y="2466975"/>
            <a:ext cx="4876800" cy="2162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사용자가 본문과 하위 문서 존재 확인</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관련 문서를 사람이 확인하고 선택</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선택한 URL에서 추가 데이터 수집</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문서별 출처를 유지해 비교·분석</a:t>
            </a:r>
          </a:p>
        </p:txBody>
      </p:sp>
      <p:sp>
        <p:nvSpPr>
          <p:cNvPr id="6" name="직사각형 5">
            <a:extLst xmlns:a="http://schemas.openxmlformats.org/drawingml/2006/main">
              <a:ext uri="{FF2B5EF4-FFF2-40B4-BE49-F238E27FC236}">
                <a16:creationId xmlns:a16="http://schemas.microsoft.com/office/drawing/2014/main" id="{CE08DA20-9B11-40D7-BE6B-28E4C933503C}"/>
              </a:ext>
            </a:extLst>
          </p:cNvPr>
          <p:cNvSpPr>
            <a:spLocks xmlns:a="http://schemas.openxmlformats.org/drawingml/2006/main" noGrp="1"/>
          </p:cNvSpPr>
          <p:nvPr/>
        </p:nvSpPr>
        <p:spPr>
          <a:xfrm xmlns:a="http://schemas.openxmlformats.org/drawingml/2006/main">
            <a:off x="6705600" y="5124450"/>
            <a:ext cx="4876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716095"/>
                </a:solidFill>
                <a:latin typeface="Malgun Gothic"/>
                <a:ea typeface="Malgun Gothic"/>
                <a:cs typeface="Malgun Gothic"/>
              </a:defRPr>
            </a:defPPr>
          </a:lstStyle>
          <a:p xmlns:a="http://schemas.openxmlformats.org/drawingml/2006/main">
            <a:pPr>
              <a:buNone/>
              <a:defRPr sz="1800" b="1">
                <a:solidFill>
                  <a:srgbClr val="716095"/>
                </a:solidFill>
                <a:latin typeface="Malgun Gothic"/>
                <a:ea typeface="Malgun Gothic"/>
                <a:cs typeface="Malgun Gothic"/>
              </a:defRPr>
            </a:pPr>
            <a:r>
              <a:rPr sz="1800" b="1">
                <a:solidFill>
                  <a:srgbClr val="716095"/>
                </a:solidFill>
                <a:latin typeface="Malgun Gothic"/>
                <a:ea typeface="Malgun Gothic"/>
                <a:cs typeface="Malgun Gothic"/>
              </a:rPr>
              <a:t>포핸즈 본문·하위 문서의 수집은 후속 검증</a:t>
            </a:r>
          </a:p>
        </p:txBody>
      </p:sp>
      <p:sp>
        <p:nvSpPr>
          <p:cNvPr id="7" name="직사각형 6">
            <a:extLst xmlns:a="http://schemas.openxmlformats.org/drawingml/2006/main">
              <a:ext uri="{FF2B5EF4-FFF2-40B4-BE49-F238E27FC236}">
                <a16:creationId xmlns:a16="http://schemas.microsoft.com/office/drawing/2014/main" id="{C3E73CE0-9375-4E03-9280-A15F5FF51EA0}"/>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나무위키 캡처는 제공 폴더에 없음 / 기존 사례 2026.10.08, 포핸즈 보완은 계획</a:t>
            </a:r>
          </a:p>
        </p:txBody>
      </p:sp>
      <p:sp>
        <p:nvSpPr>
          <p:cNvPr id="8" name="직사각형 7">
            <a:extLst xmlns:a="http://schemas.openxmlformats.org/drawingml/2006/main">
              <a:ext uri="{FF2B5EF4-FFF2-40B4-BE49-F238E27FC236}">
                <a16:creationId xmlns:a16="http://schemas.microsoft.com/office/drawing/2014/main" id="{117A5CAD-6075-4085-93DD-A4983EE21A21}"/>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11</a:t>
            </a:r>
          </a:p>
        </p:txBody>
      </p:sp>
    </p:spTree>
    <p:extLst>
      <p:ext uri="{BB962C8B-B14F-4D97-AF65-F5344CB8AC3E}">
        <p14:creationId xmlns:p14="http://schemas.microsoft.com/office/powerpoint/2010/main" val="758448600"/>
      </p:ext>
    </p:extLst>
  </p:cSld>
</p:sld>
</file>

<file path=ppt/slides/slide12.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8" name="직사각형 7">
            <a:extLst xmlns:a="http://schemas.openxmlformats.org/drawingml/2006/main">
              <a:ext uri="{FF2B5EF4-FFF2-40B4-BE49-F238E27FC236}">
                <a16:creationId xmlns:a16="http://schemas.microsoft.com/office/drawing/2014/main" id="{1641FF4D-277A-4345-A4B3-118FDFD3FA3C}"/>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출처별 정보 보완과 수집 도구</a:t>
            </a:r>
          </a:p>
        </p:txBody>
      </p:sp>
      <p:pic>
        <p:nvPicPr>
          <p:cNvPr id="2" name="그림 1">
            <a:extLst xmlns:a="http://schemas.openxmlformats.org/drawingml/2006/main">
              <a:ext uri="{FF2B5EF4-FFF2-40B4-BE49-F238E27FC236}">
                <a16:creationId xmlns:a16="http://schemas.microsoft.com/office/drawing/2014/main" id="{D117EB4C-0C99-4044-B44F-E7DB8094BADC}"/>
              </a:ext>
            </a:extLst>
          </p:cNvPr>
          <p:cNvPicPr>
            <a:picLocks xmlns:a="http://schemas.openxmlformats.org/drawingml/2006/main" noChangeAspect="1"/>
          </p:cNvPicPr>
          <p:nvPr/>
        </p:nvPicPr>
        <p:blipFill>
          <a:blip xmlns:r="http://schemas.openxmlformats.org/officeDocument/2006/relationships" xmlns:a="http://schemas.openxmlformats.org/drawingml/2006/main" r:embed="R96f5fdf73c1d41f2"/>
          <a:stretch xmlns:a="http://schemas.openxmlformats.org/drawingml/2006/main"/>
        </p:blipFill>
        <p:spPr>
          <a:xfrm xmlns:a="http://schemas.openxmlformats.org/drawingml/2006/main">
            <a:off x="609600" y="1498873"/>
            <a:ext cx="6410325" cy="4146004"/>
          </a:xfrm>
          <a:prstGeom xmlns:a="http://schemas.openxmlformats.org/drawingml/2006/main" prst="rect">
            <a:avLst/>
          </a:prstGeom>
        </p:spPr>
      </p:pic>
      <p:sp>
        <p:nvSpPr>
          <p:cNvPr id="3" name="직사각형 2">
            <a:extLst xmlns:a="http://schemas.openxmlformats.org/drawingml/2006/main">
              <a:ext uri="{FF2B5EF4-FFF2-40B4-BE49-F238E27FC236}">
                <a16:creationId xmlns:a16="http://schemas.microsoft.com/office/drawing/2014/main" id="{AFF9E7DA-E51A-4A03-9934-33ECACCBC2B6}"/>
              </a:ext>
            </a:extLst>
          </p:cNvPr>
          <p:cNvSpPr>
            <a:spLocks xmlns:a="http://schemas.openxmlformats.org/drawingml/2006/main" noGrp="1"/>
          </p:cNvSpPr>
          <p:nvPr/>
        </p:nvSpPr>
        <p:spPr>
          <a:xfrm xmlns:a="http://schemas.openxmlformats.org/drawingml/2006/main">
            <a:off x="7496175" y="1457325"/>
            <a:ext cx="40862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716095"/>
                </a:solidFill>
                <a:latin typeface="Malgun Gothic"/>
                <a:ea typeface="Malgun Gothic"/>
                <a:cs typeface="Malgun Gothic"/>
              </a:defRPr>
            </a:defPPr>
          </a:lstStyle>
          <a:p xmlns:a="http://schemas.openxmlformats.org/drawingml/2006/main">
            <a:pPr>
              <a:buNone/>
              <a:defRPr sz="2175" b="1">
                <a:solidFill>
                  <a:srgbClr val="716095"/>
                </a:solidFill>
                <a:latin typeface="Malgun Gothic"/>
                <a:ea typeface="Malgun Gothic"/>
                <a:cs typeface="Malgun Gothic"/>
              </a:defRPr>
            </a:pPr>
            <a:r>
              <a:rPr sz="2175" b="1">
                <a:solidFill>
                  <a:srgbClr val="716095"/>
                </a:solidFill>
                <a:latin typeface="Malgun Gothic"/>
                <a:ea typeface="Malgun Gothic"/>
                <a:cs typeface="Malgun Gothic"/>
              </a:rPr>
              <a:t>포핸즈의 출처별 역할</a:t>
            </a:r>
          </a:p>
        </p:txBody>
      </p:sp>
      <p:sp>
        <p:nvSpPr>
          <p:cNvPr id="4" name="직사각형 3">
            <a:extLst xmlns:a="http://schemas.openxmlformats.org/drawingml/2006/main">
              <a:ext uri="{FF2B5EF4-FFF2-40B4-BE49-F238E27FC236}">
                <a16:creationId xmlns:a16="http://schemas.microsoft.com/office/drawing/2014/main" id="{58A535E7-5954-4A80-A3B1-E3800933A388}"/>
              </a:ext>
            </a:extLst>
          </p:cNvPr>
          <p:cNvSpPr>
            <a:spLocks xmlns:a="http://schemas.openxmlformats.org/drawingml/2006/main" noGrp="1"/>
          </p:cNvSpPr>
          <p:nvPr/>
        </p:nvSpPr>
        <p:spPr>
          <a:xfrm xmlns:a="http://schemas.openxmlformats.org/drawingml/2006/main">
            <a:off x="7496175" y="2047875"/>
            <a:ext cx="4086225" cy="2886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303044"/>
                </a:solidFill>
                <a:latin typeface="Malgun Gothic"/>
                <a:ea typeface="Malgun Gothic"/>
                <a:cs typeface="Malgun Gothic"/>
              </a:defRPr>
            </a:defPPr>
          </a:lstStyle>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CJ ENM</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작품 기본 정보·제작진·등장인물</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TVING</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12개 회차의 세부 정보</a:t>
            </a:r>
          </a:p>
          <a:p xmlns:a="http://schemas.openxmlformats.org/drawingml/2006/main">
            <a:endParaRPr sz="1875" b="0">
              <a:solidFill>
                <a:srgbClr val="303044"/>
              </a:solidFill>
              <a:latin typeface="Malgun Gothic"/>
              <a:ea typeface="Malgun Gothic"/>
              <a:cs typeface="Malgun Gothic"/>
            </a:endParaRP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나무위키</a:t>
            </a:r>
          </a:p>
          <a:p xmlns:a="http://schemas.openxmlformats.org/drawingml/2006/main">
            <a:pPr>
              <a:buNone/>
              <a:defRPr sz="1875" b="0">
                <a:solidFill>
                  <a:srgbClr val="303044"/>
                </a:solidFill>
                <a:latin typeface="Malgun Gothic"/>
                <a:ea typeface="Malgun Gothic"/>
                <a:cs typeface="Malgun Gothic"/>
              </a:defRPr>
            </a:pPr>
            <a:r>
              <a:rPr sz="1875" b="0">
                <a:solidFill>
                  <a:srgbClr val="303044"/>
                </a:solidFill>
                <a:latin typeface="Malgun Gothic"/>
                <a:ea typeface="Malgun Gothic"/>
                <a:cs typeface="Malgun Gothic"/>
              </a:rPr>
              <a:t>사람이 확인한 문서로 추가 보완</a:t>
            </a:r>
          </a:p>
        </p:txBody>
      </p:sp>
      <p:sp>
        <p:nvSpPr>
          <p:cNvPr id="5" name="직사각형 4">
            <a:extLst xmlns:a="http://schemas.openxmlformats.org/drawingml/2006/main">
              <a:ext uri="{FF2B5EF4-FFF2-40B4-BE49-F238E27FC236}">
                <a16:creationId xmlns:a16="http://schemas.microsoft.com/office/drawing/2014/main" id="{9CF42705-F3A7-4366-9644-6C38D48B7D10}"/>
              </a:ext>
            </a:extLst>
          </p:cNvPr>
          <p:cNvSpPr>
            <a:spLocks xmlns:a="http://schemas.openxmlformats.org/drawingml/2006/main" noGrp="1"/>
          </p:cNvSpPr>
          <p:nvPr/>
        </p:nvSpPr>
        <p:spPr>
          <a:xfrm xmlns:a="http://schemas.openxmlformats.org/drawingml/2006/main">
            <a:off x="7496175" y="5353050"/>
            <a:ext cx="4086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716095"/>
                </a:solidFill>
                <a:latin typeface="Malgun Gothic"/>
                <a:ea typeface="Malgun Gothic"/>
                <a:cs typeface="Malgun Gothic"/>
              </a:defRPr>
            </a:defPPr>
          </a:lstStyle>
          <a:p xmlns:a="http://schemas.openxmlformats.org/drawingml/2006/main">
            <a:pPr>
              <a:buNone/>
              <a:defRPr sz="1725" b="1">
                <a:solidFill>
                  <a:srgbClr val="716095"/>
                </a:solidFill>
                <a:latin typeface="Malgun Gothic"/>
                <a:ea typeface="Malgun Gothic"/>
                <a:cs typeface="Malgun Gothic"/>
              </a:defRPr>
            </a:pPr>
            <a:r>
              <a:rPr sz="1725" b="1">
                <a:solidFill>
                  <a:srgbClr val="716095"/>
                </a:solidFill>
                <a:latin typeface="Malgun Gothic"/>
                <a:ea typeface="Malgun Gothic"/>
                <a:cs typeface="Malgun Gothic"/>
              </a:rPr>
              <a:t>출처·수집일을 유지하고 불일치 검토</a:t>
            </a:r>
          </a:p>
        </p:txBody>
      </p:sp>
      <p:sp>
        <p:nvSpPr>
          <p:cNvPr id="6" name="직사각형 5">
            <a:extLst xmlns:a="http://schemas.openxmlformats.org/drawingml/2006/main">
              <a:ext uri="{FF2B5EF4-FFF2-40B4-BE49-F238E27FC236}">
                <a16:creationId xmlns:a16="http://schemas.microsoft.com/office/drawing/2014/main" id="{27ED860B-E92A-44D3-8AB1-454780CE909E}"/>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TVING·나무위키 URL 입력 도구 구현 / CJ ENM은 별도 API 검증 완료, 앱 연결은 후속 작업</a:t>
            </a:r>
          </a:p>
        </p:txBody>
      </p:sp>
      <p:sp>
        <p:nvSpPr>
          <p:cNvPr id="7" name="직사각형 6">
            <a:extLst xmlns:a="http://schemas.openxmlformats.org/drawingml/2006/main">
              <a:ext uri="{FF2B5EF4-FFF2-40B4-BE49-F238E27FC236}">
                <a16:creationId xmlns:a16="http://schemas.microsoft.com/office/drawing/2014/main" id="{CF51061F-C948-440B-A887-785E05F381D4}"/>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12</a:t>
            </a:r>
          </a:p>
        </p:txBody>
      </p:sp>
    </p:spTree>
    <p:extLst>
      <p:ext uri="{BB962C8B-B14F-4D97-AF65-F5344CB8AC3E}">
        <p14:creationId xmlns:p14="http://schemas.microsoft.com/office/powerpoint/2010/main" val="1587358444"/>
      </p:ext>
    </p:extLst>
  </p:cSld>
</p:sld>
</file>

<file path=ppt/slides/slide13.xml><?xml version="1.0" encoding="utf-8"?>
<p:sld xmlns:p="http://schemas.openxmlformats.org/presentationml/2006/main">
  <p:cSld>
    <p:bg>
      <p:bgPr>
        <a:solidFill xmlns:a="http://schemas.openxmlformats.org/drawingml/2006/main">
          <a:srgbClr val="FAF9FD"/>
        </a:solidFill>
      </p:bgPr>
    </p:bg>
    <p:spTree>
      <p:nvGrpSpPr>
        <p:cNvPr id="1" name=""/>
        <p:cNvGrpSpPr/>
        <p:nvPr/>
      </p:nvGrpSpPr>
      <p:grpSpPr>
        <a:xfrm xmlns:a="http://schemas.openxmlformats.org/drawingml/2006/main"/>
      </p:grpSpPr>
      <p:sp>
        <p:nvSpPr>
          <p:cNvPr id="10" name="직사각형 9">
            <a:extLst xmlns:a="http://schemas.openxmlformats.org/drawingml/2006/main">
              <a:ext uri="{FF2B5EF4-FFF2-40B4-BE49-F238E27FC236}">
                <a16:creationId xmlns:a16="http://schemas.microsoft.com/office/drawing/2014/main" id="{6D2C736A-D274-420C-BCEC-AA1C7C5780AB}"/>
              </a:ext>
            </a:extLst>
          </p:cNvPr>
          <p:cNvSpPr>
            <a:spLocks xmlns:a="http://schemas.openxmlformats.org/drawingml/2006/main" noGrp="1"/>
          </p:cNvSpPr>
          <p:nvPr/>
        </p:nvSpPr>
        <p:spPr>
          <a:xfrm xmlns:a="http://schemas.openxmlformats.org/drawingml/2006/main">
            <a:off x="609600" y="438150"/>
            <a:ext cx="10972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225" b="1">
                <a:solidFill>
                  <a:srgbClr val="303044"/>
                </a:solidFill>
                <a:latin typeface="Malgun Gothic"/>
                <a:ea typeface="Malgun Gothic"/>
                <a:cs typeface="Malgun Gothic"/>
              </a:defRPr>
            </a:defPPr>
          </a:lstStyle>
          <a:p xmlns:a="http://schemas.openxmlformats.org/drawingml/2006/main">
            <a:pPr>
              <a:buNone/>
              <a:defRPr sz="3225" b="1">
                <a:solidFill>
                  <a:srgbClr val="303044"/>
                </a:solidFill>
                <a:latin typeface="Malgun Gothic"/>
                <a:ea typeface="Malgun Gothic"/>
                <a:cs typeface="Malgun Gothic"/>
              </a:defRPr>
            </a:pPr>
            <a:r>
              <a:rPr sz="3225" b="1">
                <a:solidFill>
                  <a:srgbClr val="303044"/>
                </a:solidFill>
                <a:latin typeface="Malgun Gothic"/>
                <a:ea typeface="Malgun Gothic"/>
                <a:cs typeface="Malgun Gothic"/>
              </a:rPr>
              <a:t>참고: 목록 페이지와 TVING 작품 응답</a:t>
            </a:r>
          </a:p>
        </p:txBody>
      </p:sp>
      <p:sp>
        <p:nvSpPr>
          <p:cNvPr id="2" name="직사각형 1">
            <a:extLst xmlns:a="http://schemas.openxmlformats.org/drawingml/2006/main">
              <a:ext uri="{FF2B5EF4-FFF2-40B4-BE49-F238E27FC236}">
                <a16:creationId xmlns:a16="http://schemas.microsoft.com/office/drawing/2014/main" id="{16050501-375D-42AC-9495-9D31A5B448DC}"/>
              </a:ext>
            </a:extLst>
          </p:cNvPr>
          <p:cNvSpPr>
            <a:spLocks xmlns:a="http://schemas.openxmlformats.org/drawingml/2006/main" noGrp="1"/>
          </p:cNvSpPr>
          <p:nvPr/>
        </p:nvSpPr>
        <p:spPr>
          <a:xfrm xmlns:a="http://schemas.openxmlformats.org/drawingml/2006/main">
            <a:off x="60960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MBC 충북 뉴스 목록</a:t>
            </a:r>
          </a:p>
        </p:txBody>
      </p:sp>
      <p:sp>
        <p:nvSpPr>
          <p:cNvPr id="3" name="직사각형 2">
            <a:extLst xmlns:a="http://schemas.openxmlformats.org/drawingml/2006/main">
              <a:ext uri="{FF2B5EF4-FFF2-40B4-BE49-F238E27FC236}">
                <a16:creationId xmlns:a16="http://schemas.microsoft.com/office/drawing/2014/main" id="{FE730710-E599-4D95-91C4-6208D8C8CC2A}"/>
              </a:ext>
            </a:extLst>
          </p:cNvPr>
          <p:cNvSpPr>
            <a:spLocks xmlns:a="http://schemas.openxmlformats.org/drawingml/2006/main" noGrp="1"/>
          </p:cNvSpPr>
          <p:nvPr/>
        </p:nvSpPr>
        <p:spPr>
          <a:xfrm xmlns:a="http://schemas.openxmlformats.org/drawingml/2006/main">
            <a:off x="6343650" y="13525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716095"/>
                </a:solidFill>
                <a:latin typeface="Malgun Gothic"/>
                <a:ea typeface="Malgun Gothic"/>
                <a:cs typeface="Malgun Gothic"/>
              </a:defRPr>
            </a:defPPr>
          </a:lstStyle>
          <a:p xmlns:a="http://schemas.openxmlformats.org/drawingml/2006/main">
            <a:pPr>
              <a:buNone/>
              <a:defRPr sz="2100" b="1">
                <a:solidFill>
                  <a:srgbClr val="716095"/>
                </a:solidFill>
                <a:latin typeface="Malgun Gothic"/>
                <a:ea typeface="Malgun Gothic"/>
                <a:cs typeface="Malgun Gothic"/>
              </a:defRPr>
            </a:pPr>
            <a:r>
              <a:rPr sz="2100" b="1">
                <a:solidFill>
                  <a:srgbClr val="716095"/>
                </a:solidFill>
                <a:latin typeface="Malgun Gothic"/>
                <a:ea typeface="Malgun Gothic"/>
                <a:cs typeface="Malgun Gothic"/>
              </a:rPr>
              <a:t>TVING 작품 메타데이터 응답</a:t>
            </a:r>
          </a:p>
        </p:txBody>
      </p:sp>
      <p:pic>
        <p:nvPicPr>
          <p:cNvPr id="4" name="그림 3">
            <a:extLst xmlns:a="http://schemas.openxmlformats.org/drawingml/2006/main">
              <a:ext uri="{FF2B5EF4-FFF2-40B4-BE49-F238E27FC236}">
                <a16:creationId xmlns:a16="http://schemas.microsoft.com/office/drawing/2014/main" id="{B11D9ED7-711F-4D21-A476-1DC4106A92AD}"/>
              </a:ext>
            </a:extLst>
          </p:cNvPr>
          <p:cNvPicPr>
            <a:picLocks xmlns:a="http://schemas.openxmlformats.org/drawingml/2006/main" noChangeAspect="1"/>
          </p:cNvPicPr>
          <p:nvPr/>
        </p:nvPicPr>
        <p:blipFill>
          <a:blip xmlns:r="http://schemas.openxmlformats.org/officeDocument/2006/relationships" xmlns:a="http://schemas.openxmlformats.org/drawingml/2006/main" r:embed="Rdb34c03355644a7f"/>
          <a:stretch xmlns:a="http://schemas.openxmlformats.org/drawingml/2006/main"/>
        </p:blipFill>
        <p:spPr>
          <a:xfrm xmlns:a="http://schemas.openxmlformats.org/drawingml/2006/main">
            <a:off x="1508145" y="1885950"/>
            <a:ext cx="3441660" cy="3143250"/>
          </a:xfrm>
          <a:prstGeom xmlns:a="http://schemas.openxmlformats.org/drawingml/2006/main" prst="rect">
            <a:avLst/>
          </a:prstGeom>
        </p:spPr>
      </p:pic>
      <p:pic>
        <p:nvPicPr>
          <p:cNvPr id="5" name="그림 4">
            <a:extLst xmlns:a="http://schemas.openxmlformats.org/drawingml/2006/main">
              <a:ext uri="{FF2B5EF4-FFF2-40B4-BE49-F238E27FC236}">
                <a16:creationId xmlns:a16="http://schemas.microsoft.com/office/drawing/2014/main" id="{26A19A61-92FD-4755-AB19-CC27E14584E1}"/>
              </a:ext>
            </a:extLst>
          </p:cNvPr>
          <p:cNvPicPr>
            <a:picLocks xmlns:a="http://schemas.openxmlformats.org/drawingml/2006/main" noChangeAspect="1"/>
          </p:cNvPicPr>
          <p:nvPr/>
        </p:nvPicPr>
        <p:blipFill>
          <a:blip xmlns:r="http://schemas.openxmlformats.org/officeDocument/2006/relationships" xmlns:a="http://schemas.openxmlformats.org/drawingml/2006/main" r:embed="R33d93c772d4e48b5"/>
          <a:stretch xmlns:a="http://schemas.openxmlformats.org/drawingml/2006/main"/>
        </p:blipFill>
        <p:spPr>
          <a:xfrm xmlns:a="http://schemas.openxmlformats.org/drawingml/2006/main">
            <a:off x="6843494" y="1885950"/>
            <a:ext cx="4239062" cy="3143250"/>
          </a:xfrm>
          <a:prstGeom xmlns:a="http://schemas.openxmlformats.org/drawingml/2006/main" prst="rect">
            <a:avLst/>
          </a:prstGeom>
        </p:spPr>
      </p:pic>
      <p:sp>
        <p:nvSpPr>
          <p:cNvPr id="6" name="직사각형 5">
            <a:extLst xmlns:a="http://schemas.openxmlformats.org/drawingml/2006/main">
              <a:ext uri="{FF2B5EF4-FFF2-40B4-BE49-F238E27FC236}">
                <a16:creationId xmlns:a16="http://schemas.microsoft.com/office/drawing/2014/main" id="{63C16D4E-9D81-4866-B541-596D74EF9EC7}"/>
              </a:ext>
            </a:extLst>
          </p:cNvPr>
          <p:cNvSpPr>
            <a:spLocks xmlns:a="http://schemas.openxmlformats.org/drawingml/2006/main" noGrp="1"/>
          </p:cNvSpPr>
          <p:nvPr/>
        </p:nvSpPr>
        <p:spPr>
          <a:xfrm xmlns:a="http://schemas.openxmlformats.org/drawingml/2006/main">
            <a:off x="60960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뉴스 항목별 제목·기자·시각 표시</a:t>
            </a:r>
          </a:p>
        </p:txBody>
      </p:sp>
      <p:sp>
        <p:nvSpPr>
          <p:cNvPr id="7" name="직사각형 6">
            <a:extLst xmlns:a="http://schemas.openxmlformats.org/drawingml/2006/main">
              <a:ext uri="{FF2B5EF4-FFF2-40B4-BE49-F238E27FC236}">
                <a16:creationId xmlns:a16="http://schemas.microsoft.com/office/drawing/2014/main" id="{AF4389E7-7F42-4B94-8B01-0001845668B5}"/>
              </a:ext>
            </a:extLst>
          </p:cNvPr>
          <p:cNvSpPr>
            <a:spLocks xmlns:a="http://schemas.openxmlformats.org/drawingml/2006/main" noGrp="1"/>
          </p:cNvSpPr>
          <p:nvPr/>
        </p:nvSpPr>
        <p:spPr>
          <a:xfrm xmlns:a="http://schemas.openxmlformats.org/drawingml/2006/main">
            <a:off x="6343650" y="5372100"/>
            <a:ext cx="52387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303044"/>
                </a:solidFill>
                <a:latin typeface="Malgun Gothic"/>
                <a:ea typeface="Malgun Gothic"/>
                <a:cs typeface="Malgun Gothic"/>
              </a:defRPr>
            </a:defPPr>
          </a:lstStyle>
          <a:p xmlns:a="http://schemas.openxmlformats.org/drawingml/2006/main">
            <a:pPr>
              <a:buNone/>
              <a:defRPr sz="1800" b="0">
                <a:solidFill>
                  <a:srgbClr val="303044"/>
                </a:solidFill>
                <a:latin typeface="Malgun Gothic"/>
                <a:ea typeface="Malgun Gothic"/>
                <a:cs typeface="Malgun Gothic"/>
              </a:defRPr>
            </a:pPr>
            <a:r>
              <a:rPr sz="1800" b="0">
                <a:solidFill>
                  <a:srgbClr val="303044"/>
                </a:solidFill>
                <a:latin typeface="Malgun Gothic"/>
                <a:ea typeface="Malgun Gothic"/>
                <a:cs typeface="Malgun Gothic"/>
              </a:rPr>
              <a:t>출연진·소개 존재, 제작 역할은 비교 필요</a:t>
            </a:r>
          </a:p>
        </p:txBody>
      </p:sp>
      <p:sp>
        <p:nvSpPr>
          <p:cNvPr id="8" name="직사각형 7">
            <a:extLst xmlns:a="http://schemas.openxmlformats.org/drawingml/2006/main">
              <a:ext uri="{FF2B5EF4-FFF2-40B4-BE49-F238E27FC236}">
                <a16:creationId xmlns:a16="http://schemas.microsoft.com/office/drawing/2014/main" id="{8B13E126-1B36-4594-816D-AE34FBB52B07}"/>
              </a:ext>
            </a:extLst>
          </p:cNvPr>
          <p:cNvSpPr>
            <a:spLocks xmlns:a="http://schemas.openxmlformats.org/drawingml/2006/main" noGrp="1"/>
          </p:cNvSpPr>
          <p:nvPr/>
        </p:nvSpPr>
        <p:spPr>
          <a:xfrm xmlns:a="http://schemas.openxmlformats.org/drawingml/2006/main">
            <a:off x="609600" y="6229350"/>
            <a:ext cx="10334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캡처 원본은 reports/1에 보관 / 상세 출처와 검증 범위는 각 슬라이드의 발표자 노트에 기재</a:t>
            </a:r>
          </a:p>
        </p:txBody>
      </p:sp>
      <p:sp>
        <p:nvSpPr>
          <p:cNvPr id="9" name="직사각형 8">
            <a:extLst xmlns:a="http://schemas.openxmlformats.org/drawingml/2006/main">
              <a:ext uri="{FF2B5EF4-FFF2-40B4-BE49-F238E27FC236}">
                <a16:creationId xmlns:a16="http://schemas.microsoft.com/office/drawing/2014/main" id="{A86686EE-1A8A-47E3-9823-E38491176CEB}"/>
              </a:ext>
            </a:extLst>
          </p:cNvPr>
          <p:cNvSpPr>
            <a:spLocks xmlns:a="http://schemas.openxmlformats.org/drawingml/2006/main" noGrp="1"/>
          </p:cNvSpPr>
          <p:nvPr/>
        </p:nvSpPr>
        <p:spPr>
          <a:xfrm xmlns:a="http://schemas.openxmlformats.org/drawingml/2006/main">
            <a:off x="11144250" y="6343650"/>
            <a:ext cx="428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797587"/>
                </a:solidFill>
                <a:latin typeface="Malgun Gothic"/>
                <a:ea typeface="Malgun Gothic"/>
                <a:cs typeface="Malgun Gothic"/>
              </a:defRPr>
            </a:defPPr>
          </a:lstStyle>
          <a:p xmlns:a="http://schemas.openxmlformats.org/drawingml/2006/main">
            <a:pPr>
              <a:buNone/>
              <a:defRPr sz="1275" b="0">
                <a:solidFill>
                  <a:srgbClr val="797587"/>
                </a:solidFill>
                <a:latin typeface="Malgun Gothic"/>
                <a:ea typeface="Malgun Gothic"/>
                <a:cs typeface="Malgun Gothic"/>
              </a:defRPr>
            </a:pPr>
            <a:r>
              <a:rPr sz="1275" b="0">
                <a:solidFill>
                  <a:srgbClr val="797587"/>
                </a:solidFill>
                <a:latin typeface="Malgun Gothic"/>
                <a:ea typeface="Malgun Gothic"/>
                <a:cs typeface="Malgun Gothic"/>
              </a:rPr>
              <a:t>13</a:t>
            </a:r>
          </a:p>
        </p:txBody>
      </p:sp>
    </p:spTree>
    <p:extLst>
      <p:ext uri="{BB962C8B-B14F-4D97-AF65-F5344CB8AC3E}">
        <p14:creationId xmlns:p14="http://schemas.microsoft.com/office/powerpoint/2010/main" val="10575529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2026-10-12T01:29:53.1380000Z</dcterms:created>
  <dcterms:modified xsi:type="dcterms:W3CDTF">2026-10-12T01:29:53.1380000Z</dcterms:modified>
</coreProperties>
</file>