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2d1a475a746436c" /><Relationship Type="http://schemas.openxmlformats.org/officeDocument/2006/relationships/extended-properties" Target="/docProps/app.xml" Id="R78efb6e766494946" /><Relationship Type="http://schemas.openxmlformats.org/officeDocument/2006/relationships/officeDocument" Target="/ppt/presentation.xml" Id="Re33eed327a584529" /></Relationships>
</file>

<file path=ppt/presentation.xml><?xml version="1.0" encoding="utf-8"?>
<p:presentation xmlns:p="http://schemas.openxmlformats.org/presentationml/2006/main">
  <p:sldMasterIdLst>
    <p:sldMasterId xmlns:r="http://schemas.openxmlformats.org/officeDocument/2006/relationships" id="2147483648" r:id="R4d0c619703ed4693"/>
  </p:sldMasterIdLst>
  <p:notesMasterIdLst>
    <p:notesMasterId xmlns:r="http://schemas.openxmlformats.org/officeDocument/2006/relationships" r:id="R05744d97650e4878"/>
  </p:notesMasterIdLst>
  <p:sldIdLst>
    <p:sldId xmlns:r="http://schemas.openxmlformats.org/officeDocument/2006/relationships" id="256" r:id="Rbcaef9e6ea7e4ac3"/>
    <p:sldId xmlns:r="http://schemas.openxmlformats.org/officeDocument/2006/relationships" id="257" r:id="R33de5f135a0849c6"/>
    <p:sldId xmlns:r="http://schemas.openxmlformats.org/officeDocument/2006/relationships" id="258" r:id="Reb2553a0e8a348ac"/>
    <p:sldId xmlns:r="http://schemas.openxmlformats.org/officeDocument/2006/relationships" id="259" r:id="R3cacaba6f4fe4171"/>
    <p:sldId xmlns:r="http://schemas.openxmlformats.org/officeDocument/2006/relationships" id="260" r:id="R21cf68c43a0e4b49"/>
    <p:sldId xmlns:r="http://schemas.openxmlformats.org/officeDocument/2006/relationships" id="261" r:id="R982def19217f4bea"/>
    <p:sldId xmlns:r="http://schemas.openxmlformats.org/officeDocument/2006/relationships" id="262" r:id="R42a176549a334f82"/>
    <p:sldId xmlns:r="http://schemas.openxmlformats.org/officeDocument/2006/relationships" id="263" r:id="R91cba5231cba477b"/>
    <p:sldId xmlns:r="http://schemas.openxmlformats.org/officeDocument/2006/relationships" id="264" r:id="Rbf2770ac5f244a2d"/>
    <p:sldId xmlns:r="http://schemas.openxmlformats.org/officeDocument/2006/relationships" id="265" r:id="R92765c22d9e849a3"/>
    <p:sldId xmlns:r="http://schemas.openxmlformats.org/officeDocument/2006/relationships" id="266" r:id="Rbeec4ed4002d4fa3"/>
    <p:sldId xmlns:r="http://schemas.openxmlformats.org/officeDocument/2006/relationships" id="267" r:id="R812b5ce70d4c40ca"/>
    <p:sldId xmlns:r="http://schemas.openxmlformats.org/officeDocument/2006/relationships" id="268" r:id="R9bf8591f425f4724"/>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82007ae20cc14f16" /><Relationship Type="http://schemas.openxmlformats.org/officeDocument/2006/relationships/slideMaster" Target="/ppt/slideMasters/slideMaster1.xml" Id="R4d0c619703ed4693" /><Relationship Type="http://schemas.openxmlformats.org/officeDocument/2006/relationships/notesMaster" Target="/ppt/notesMasters/notesMaster1.xml" Id="R05744d97650e4878" /><Relationship Type="http://schemas.openxmlformats.org/officeDocument/2006/relationships/presProps" Target="/ppt/presProps.xml" Id="Rc5efc8d4363a483c" /><Relationship Type="http://schemas.openxmlformats.org/officeDocument/2006/relationships/viewProps" Target="/ppt/viewProps.xml" Id="R462514fb85084cf6" /><Relationship Type="http://schemas.openxmlformats.org/officeDocument/2006/relationships/tableStyles" Target="/ppt/tableStyles.xml" Id="R5c0d439da1c74633" /><Relationship Type="http://schemas.openxmlformats.org/officeDocument/2006/relationships/slide" Target="/ppt/slides/slide1.xml" Id="Rbcaef9e6ea7e4ac3" /><Relationship Type="http://schemas.openxmlformats.org/officeDocument/2006/relationships/slide" Target="/ppt/slides/slide2.xml" Id="R33de5f135a0849c6" /><Relationship Type="http://schemas.openxmlformats.org/officeDocument/2006/relationships/slide" Target="/ppt/slides/slide3.xml" Id="Reb2553a0e8a348ac" /><Relationship Type="http://schemas.openxmlformats.org/officeDocument/2006/relationships/slide" Target="/ppt/slides/slide4.xml" Id="R3cacaba6f4fe4171" /><Relationship Type="http://schemas.openxmlformats.org/officeDocument/2006/relationships/slide" Target="/ppt/slides/slide5.xml" Id="R21cf68c43a0e4b49" /><Relationship Type="http://schemas.openxmlformats.org/officeDocument/2006/relationships/slide" Target="/ppt/slides/slide6.xml" Id="R982def19217f4bea" /><Relationship Type="http://schemas.openxmlformats.org/officeDocument/2006/relationships/slide" Target="/ppt/slides/slide7.xml" Id="R42a176549a334f82" /><Relationship Type="http://schemas.openxmlformats.org/officeDocument/2006/relationships/slide" Target="/ppt/slides/slide8.xml" Id="R91cba5231cba477b" /><Relationship Type="http://schemas.openxmlformats.org/officeDocument/2006/relationships/slide" Target="/ppt/slides/slide9.xml" Id="Rbf2770ac5f244a2d" /><Relationship Type="http://schemas.openxmlformats.org/officeDocument/2006/relationships/slide" Target="/ppt/slides/slide10.xml" Id="R92765c22d9e849a3" /><Relationship Type="http://schemas.openxmlformats.org/officeDocument/2006/relationships/slide" Target="/ppt/slides/slide11.xml" Id="Rbeec4ed4002d4fa3" /><Relationship Type="http://schemas.openxmlformats.org/officeDocument/2006/relationships/slide" Target="/ppt/slides/slide12.xml" Id="R812b5ce70d4c40ca" /><Relationship Type="http://schemas.openxmlformats.org/officeDocument/2006/relationships/slide" Target="/ppt/slides/slide13.xml" Id="R9bf8591f425f472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d1568a1fb04d3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3484e76fc424146" /><Relationship Type="http://schemas.openxmlformats.org/officeDocument/2006/relationships/notesMaster" Target="/ppt/notesMasters/notesMaster1.xml" Id="Rd405561ac3664352" /></Relationships>
</file>

<file path=ppt/notesSlides/_rels/notesSlide2.xml.rels>&#65279;<?xml version="1.0" encoding="utf-8"?><Relationships xmlns="http://schemas.openxmlformats.org/package/2006/relationships"><Relationship Type="http://schemas.openxmlformats.org/officeDocument/2006/relationships/slide" Target="/ppt/slides/slide2.xml" Id="R183b6ccb71854d82" /><Relationship Type="http://schemas.openxmlformats.org/officeDocument/2006/relationships/notesMaster" Target="/ppt/notesMasters/notesMaster1.xml" Id="R09dd1fd9e1254d0a" /></Relationships>
</file>

<file path=ppt/notesSlides/_rels/notesSlide3.xml.rels>&#65279;<?xml version="1.0" encoding="utf-8"?><Relationships xmlns="http://schemas.openxmlformats.org/package/2006/relationships"><Relationship Type="http://schemas.openxmlformats.org/officeDocument/2006/relationships/slide" Target="/ppt/slides/slide3.xml" Id="R48ea7fcf007e4afc" /><Relationship Type="http://schemas.openxmlformats.org/officeDocument/2006/relationships/notesMaster" Target="/ppt/notesMasters/notesMaster1.xml" Id="R23f8628222ff4a5a" /></Relationships>
</file>

<file path=ppt/notesSlides/_rels/notesSlide4.xml.rels>&#65279;<?xml version="1.0" encoding="utf-8"?><Relationships xmlns="http://schemas.openxmlformats.org/package/2006/relationships"><Relationship Type="http://schemas.openxmlformats.org/officeDocument/2006/relationships/slide" Target="/ppt/slides/slide4.xml" Id="R4530d19bd1ee4a7c" /><Relationship Type="http://schemas.openxmlformats.org/officeDocument/2006/relationships/notesMaster" Target="/ppt/notesMasters/notesMaster1.xml" Id="R439dd934ac114303" /></Relationships>
</file>

<file path=ppt/notesSlides/_rels/notesSlide5.xml.rels>&#65279;<?xml version="1.0" encoding="utf-8"?><Relationships xmlns="http://schemas.openxmlformats.org/package/2006/relationships"><Relationship Type="http://schemas.openxmlformats.org/officeDocument/2006/relationships/slide" Target="/ppt/slides/slide5.xml" Id="R400190ed0c8d40dd" /><Relationship Type="http://schemas.openxmlformats.org/officeDocument/2006/relationships/notesMaster" Target="/ppt/notesMasters/notesMaster1.xml" Id="R9dc77cce9f324881" /></Relationships>
</file>

<file path=ppt/notesSlides/_rels/notesSlide6.xml.rels>&#65279;<?xml version="1.0" encoding="utf-8"?><Relationships xmlns="http://schemas.openxmlformats.org/package/2006/relationships"><Relationship Type="http://schemas.openxmlformats.org/officeDocument/2006/relationships/slide" Target="/ppt/slides/slide6.xml" Id="R83e43d774aed4fc4" /><Relationship Type="http://schemas.openxmlformats.org/officeDocument/2006/relationships/notesMaster" Target="/ppt/notesMasters/notesMaster1.xml" Id="R393c35638e504395" /></Relationships>
</file>

<file path=ppt/notesSlides/_rels/notesSlide7.xml.rels>&#65279;<?xml version="1.0" encoding="utf-8"?><Relationships xmlns="http://schemas.openxmlformats.org/package/2006/relationships"><Relationship Type="http://schemas.openxmlformats.org/officeDocument/2006/relationships/slide" Target="/ppt/slides/slide7.xml" Id="Re032223679ea4cbe" /><Relationship Type="http://schemas.openxmlformats.org/officeDocument/2006/relationships/notesMaster" Target="/ppt/notesMasters/notesMaster1.xml" Id="Rc4b484476bfd4e06" /></Relationships>
</file>

<file path=ppt/notesSlides/_rels/notesSlide8.xml.rels>&#65279;<?xml version="1.0" encoding="utf-8"?><Relationships xmlns="http://schemas.openxmlformats.org/package/2006/relationships"><Relationship Type="http://schemas.openxmlformats.org/officeDocument/2006/relationships/slide" Target="/ppt/slides/slide8.xml" Id="Ra8c6f634de2c4037" /><Relationship Type="http://schemas.openxmlformats.org/officeDocument/2006/relationships/notesMaster" Target="/ppt/notesMasters/notesMaster1.xml" Id="R9a560c9be2db421e" /></Relationships>
</file>

<file path=ppt/notesSlides/_rels/notesSlide9.xml.rels>&#65279;<?xml version="1.0" encoding="utf-8"?><Relationships xmlns="http://schemas.openxmlformats.org/package/2006/relationships"><Relationship Type="http://schemas.openxmlformats.org/officeDocument/2006/relationships/slide" Target="/ppt/slides/slide9.xml" Id="R488567887e0b4513" /><Relationship Type="http://schemas.openxmlformats.org/officeDocument/2006/relationships/notesMaster" Target="/ppt/notesMasters/notesMaster1.xml" Id="R21aacac65868441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6dcbcf7199c4afd" /><Relationship Type="http://schemas.openxmlformats.org/officeDocument/2006/relationships/notesMaster" Target="/ppt/notesMasters/notesMaster1.xml" Id="Rb2a7e177d4f1474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c94b9f8739b4e24" /><Relationship Type="http://schemas.openxmlformats.org/officeDocument/2006/relationships/notesMaster" Target="/ppt/notesMasters/notesMaster1.xml" Id="R017d547c3392460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e6f6dbfcce440b0" /><Relationship Type="http://schemas.openxmlformats.org/officeDocument/2006/relationships/notesMaster" Target="/ppt/notesMasters/notesMaster1.xml" Id="R0c27a1e2d284499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45b99e7a59c4e88" /><Relationship Type="http://schemas.openxmlformats.org/officeDocument/2006/relationships/notesMaster" Target="/ppt/notesMasters/notesMaster1.xml" Id="Rb5d52f77765748c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CJ ENM·컴투스 그룹·MBC 충북을 기본 검토 대상으로 유지합니다. TVING과 나무위키는 추가 수집원입니다. CJ ENM 기술 검증은 2026-10-12, TVING 배치 수집은 2026-10-07, 나무위키 기존 수집 사례는 2026-10-08 기준입니다. 사용자 제공 캡처는 reports/1에서 확보했고 촬영일 자체는 확인하지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기본 검토 대상 출처: C:/Users/moon/Documents/카카오톡 받은 파일/(260929)ETRI_용역과제_킥오프미팅_발표자료.pdf, PDF 6페이지(슬라이드 인쇄 번호 9), 검토 대상 웹사이트 리스트. 원문에는 CJ ENM: 드라마, 예능 / 컴투스 그룹(위지윅스튜디오): 드라마 / MBC 충북(중앙 MBC와 별개): 뉴스가 명시되어 있습니다. 또한 CJ ENM 콘텐츠는 TVING 등 실제 콘텐츠 제공 경로도 함께 검토하도록 제시합니다. 나무위키는 사용자와의 작업 과정에서 추가한 보완 수집원입니다. 유튜브 개인방송은 원문의 추가 검토 대상이나 이번 보고 범위에서는 다루지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D:/MMLAB/projects/broadcast_web_crawler/reports/1/com2us_detail.png</a:t>
            </a:r>
          </a:p>
          <a:p xmlns:a="http://schemas.openxmlformats.org/drawingml/2006/main">
            <a:r>
              <a:t>원문 URL: https://com2usn.com/work/255</a:t>
            </a:r>
          </a:p>
          <a:p xmlns:a="http://schemas.openxmlformats.org/drawingml/2006/main">
            <a:r>
              <a:t>작품: 킬러들의 쇼핑몰2. 사용자 캡처에서 작품명과 YouTube 티저 영상 및 이전/다음 글을 확인했습니다. 이 점검 페이지에서 제작진·출연진·줄거리·회차 정보 등의 텍스트는 확인하지 못했습니다. 사이트 전체의 정보 부재로 일반화하지 않습니다. 기본 대상은 첨부 킥오프 자료의 컴투스 그룹(위지윅스튜디오)이며 실제 점검 경로는 컴투스엔입니다.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D:/MMLAB/projects/broadcast_web_crawler/reports/1/mbc충북_뉴스세부.png</a:t>
            </a:r>
          </a:p>
          <a:p xmlns:a="http://schemas.openxmlformats.org/drawingml/2006/main">
            <a:r>
              <a:t>D:/MMLAB/projects/broadcast_web_crawler/reports/1/mbc충북_뉴스세부2.png</a:t>
            </a:r>
          </a:p>
          <a:p xmlns:a="http://schemas.openxmlformats.org/drawingml/2006/main">
            <a:r>
              <a:t>원문: https://news.mbccb.co.kr/home/sub.php?menukey=61&amp;mod=view&amp;RECEIVE_DATE=20261011&amp;SEQUENCE=0110&amp;page=1&amp;sccode=99999999&amp;datepicker_st=&amp;datepicker_ed=</a:t>
            </a:r>
          </a:p>
          <a:p xmlns:a="http://schemas.openxmlformats.org/drawingml/2006/main">
            <a:r>
              <a:t>캡처에서 제목, 정재영 기자, 송고 2026-10-11 17:01, 임베드 영상, 앵커/인터뷰 포함 기사 원고, 영상 김현준 표기를 확인했습니다. 구조와 데이터 존재를 확인한 단계이며 MBC 충북의 자동 수집·정책 검증을 완료했다는 뜻은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메인 사이트 캡처: D:/MMLAB/projects/broadcast_web_crawler/reports/1/cjenm_robots.png</a:t>
            </a:r>
          </a:p>
          <a:p xmlns:a="http://schemas.openxmlformats.org/drawingml/2006/main">
            <a:r>
              <a:t>캡처 주소 cjenm.com/robots.txt는 기본 제한과 특정 봇에 대한 허용 예외를 함께 보여줍니다.</a:t>
            </a:r>
          </a:p>
          <a:p xmlns:a="http://schemas.openxmlformats.org/drawingml/2006/main">
            <a:r>
              <a:t>API 호스트 실측: https://web2-cf-api.cjenm.com/robots.txt</a:t>
            </a:r>
          </a:p>
          <a:p xmlns:a="http://schemas.openxmlformats.org/drawingml/2006/main">
            <a:r>
              <a:t>저장 근거: D:/MMLAB/projects/broadcast_web_crawler/reports/cjenm-api-verification/20261012_085630/robots.txt</a:t>
            </a:r>
          </a:p>
          <a:p xmlns:a="http://schemas.openxmlformats.org/drawingml/2006/main">
            <a:r>
              <a:t>API 호스트는 User-Agent: * / Disallow: /만 반환했습니다. robots.txt는 접근 차단 장치가 아니며 이번 직접 호출은 실제 성공했습니다. 본 자료는 법률상 금지 또는 공식 공개 API 제공을 단정하지 않습니다. 지속 자동 수집 적용에는 허용 범위 확인이 필요합니다.</a:t>
            </a:r>
          </a:p>
          <a:p xmlns:a="http://schemas.openxmlformats.org/drawingml/2006/main">
            <a:r>
              <a:t>발표 순서: robots.txt의 자동 수집 제한을 먼저 설명하고, 사람이 상세페이지를 직접 열어 페이지의 API 요청·응답에서 작품 메타데이터를 발견한 과정으로 이어갑니다. 정책상 제한을 기술적인 호출 불가능으로 표현하지 않습니다. 이후 별도 Python 직접 호출 검증에서 두 API의 HTTP 200 및 쿠키·인증 불필요 결과를 설명합니다.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D:/MMLAB/projects/broadcast_web_crawler/reports/1/cjenm_detail1.png</a:t>
            </a:r>
          </a:p>
          <a:p xmlns:a="http://schemas.openxmlformats.org/drawingml/2006/main">
            <a:r>
              <a:t>원문: https://www.cjenm.com/ko/featured-contents/%ED%8F%AC%ED%95%B8%EC%A6%88/</a:t>
            </a:r>
          </a:p>
          <a:p xmlns:a="http://schemas.openxmlformats.org/drawingml/2006/main">
            <a:r>
              <a:t>출처 JSON: D:/MMLAB/projects/broadcast_web_crawler/reports/cjenm-api-verification/20261012_085630/content-metadata.json</a:t>
            </a:r>
          </a:p>
          <a:p xmlns:a="http://schemas.openxmlformats.org/drawingml/2006/main">
            <a:r>
              <a:t>API는 프로그램 정보와 등장인물 2명 정보를 제공했습니다. 전체 등장인물 완전성은 검증하지 않았습니다. 이미지 필드는 정규화 결과에서 제외했습니다.</a:t>
            </a:r>
          </a:p>
          <a:p xmlns:a="http://schemas.openxmlformats.org/drawingml/2006/main">
            <a:r>
              <a:t>사용자 수정 반영: 이 슬라이드의 표는 제공한 웹사이트 화면에서 확인한 정보만 다룹니다. 15세 이상은 API의 dlbrtGrd에서 확인한 값이며 화면 기본 정보에 표시된 항목으로 제시하지 않습니다. 화면에 표시된 출연진은 송강·이준영·장규리·정진영 4명이고 등장인물 설명은 강비오(송강)·최정요(이준영) 2명만 제공합니다. 사이트의 전체 출연진 또는 다른 문서의 등장인물 수로 일반화하지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브라우저 캡처: D:/MMLAB/projects/broadcast_web_crawler/reports/1/cjenm_console1.png</a:t>
            </a:r>
          </a:p>
          <a:p xmlns:a="http://schemas.openxmlformats.org/drawingml/2006/main">
            <a:r>
              <a:t>실측 보고서: D:/MMLAB/projects/broadcast_web_crawler/reports/cjenm-api-verification/20261012_085630/verification-report.json</a:t>
            </a:r>
          </a:p>
          <a:p xmlns:a="http://schemas.openxmlformats.org/drawingml/2006/main">
            <a:r>
              <a:t>응답 비교: D:/MMLAB/projects/broadcast_web_crawler/reports/cjenm-api-verification/20261012_085630/response-comparison.json</a:t>
            </a:r>
          </a:p>
          <a:p xmlns:a="http://schemas.openxmlformats.org/drawingml/2006/main">
            <a:r>
              <a:t>프로그램 GET https://web2-cf-api.cjenm.com/apis/v1/conts/detail?pgmSeq=220264&amp;svcCd=SV001&amp;siteCd=ST000001&amp;ctgCd=MC010003</a:t>
            </a:r>
          </a:p>
          <a:p xmlns:a="http://schemas.openxmlformats.org/drawingml/2006/main">
            <a:r>
              <a:t>등장인물 GET https://web2-cf-api.cjenm.com/apis/v1/conts/detail/prsn?pgmSeq=220264</a:t>
            </a:r>
          </a:p>
          <a:p xmlns:a="http://schemas.openxmlformats.org/drawingml/2006/main">
            <a:r>
              <a:t>Python urllib의 직접 HTTP 요청입니다. User-Agent BroadcastMetadataVerifier/1.0, Accept application/json만 전송했습니다. Cookie, Authorization, Origin, Referer 없이 두 API 모두 HTTP 200, resultCd 0000 응답. 사용자 저장 JSON과 파싱 후 전체 내용 일치. 해당 작품의 두 요청에 한정되며 다른 작품·반복·대량 수집·URL 식별자 자동 추출을 검증한 결과는 아닙니다.</a:t>
            </a:r>
          </a:p>
          <a:p xmlns:a="http://schemas.openxmlformats.org/drawingml/2006/main">
            <a:r>
              <a:t>브라우저에서 발생한 API 요청·응답을 먼저 확인했고, 그 요청 구조로 Python 직접 호출을 추가 검증했습니다. 브라우저에서만 데이터가 제공된다거나 모든 자동 요청이 기술적으로 실패한다고 주장하지 않습니다.</a:t>
            </a:r>
          </a:p>
          <a:p xmlns:a="http://schemas.openxmlformats.org/drawingml/2006/main">
            <a:r>
              <a:t>화면과 API 비교 수정: 제공 캡처 cjenm_detail1.png에는 시청 등급이 표시되지 않고 소개문은 접힌 상태로 더보기 링크가 있습니다. API dlbrtGrd는 15세 이상이며 pgmDescp는 전체 소개문 텍스트입니다. 더보기 클릭 후 화면에 같은 전체 소개문이 표시되는지는 이번 비교에서 확인하지 않았으므로 전체 소개문을 API에서만 존재하는 정보로 단정하지 않습니다. 제작진·출연진·회차 수는 화면과 API에 공통이며 구조화된 필드로 확보할 수 있습니다. 등장인물 응답은 화면과 같은 2명으로 추가 인물이 없고, 두 API에는 회차별 시놉시스가 없습니다. API 실측 근거 reports/cjenm-api-verification/20261012_085630의 원본 응답과 검증 보고서입니다.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캡처 reports/1/cjenm_detail2.png는 이름과 달리 TVING 포핸즈 화면입니다.</a:t>
            </a:r>
          </a:p>
          <a:p xmlns:a="http://schemas.openxmlformats.org/drawingml/2006/main">
            <a:r>
              <a:t>원문: https://www.tving.com/contents/P001790301</a:t>
            </a:r>
          </a:p>
          <a:p xmlns:a="http://schemas.openxmlformats.org/drawingml/2006/main">
            <a:r>
              <a:t>실제 수집 JSON: D:/MMLAB/projects/broadcast_web_crawler/data/tving/20261007_210908_251349_드라마_전체/contents.json</a:t>
            </a:r>
          </a:p>
          <a:p xmlns:a="http://schemas.openxmlformats.org/drawingml/2006/main">
            <a:r>
              <a:t>포핸즈의 episodes 배열 길이 12, 시놉시스 12개를 확인했습니다. 2화 소개 예시는 원문 시놉시스의 일부를 발표용으로 요약했습니다. 회차 시놉시스는 대본이 아닙니다. 이번 요청에서 TVING을 다시 호출한 결과가 아니라 저장된 수집 데이터 기준입니다.</a:t>
            </a:r>
          </a:p>
          <a:p xmlns:a="http://schemas.openxmlformats.org/drawingml/2006/main">
            <a:r>
              <a:t>CJ ENM과 TVING 비교 근거: reports/cjenm-api-verification/20261012_085630/content-metadata.json 및 data/tving/20261007_210908_251349_드라마_전체/contents.json의 P001790301. TVING episodes는 12개이며 전 회차에 시놉시스·방송일·duration_seconds가 있습니다. CJ ENM 응답의 episode_count 12는 총 회차 수만 제공하고 episodes 배열은 비어 있습니다. 출연진은 CJ ENM 4명, TVING 7명이며 추가 3명은 윤세아·김주헌·서재희입니다. 두 출처는 다른 시점의 데이터이며 출연진 전체의 완전성을 보장하지 않습니다. 방송 기간과 회차별 방송일을 구분합니다. TVING director 배열은 제작 역할이 혼재할 수 있어 추가 연출진 확정 자료로 사용하지 않습니다. CJ ENM에서 확인한 연출 박현석·작가 신이원을 유지하고 원본 출처별 값을 별도로 보존합니다. 시놉시스는 회차 소개이며 대본 원문이 아닙니다.</a:t>
            </a:r>
          </a:p>
          <a:p xmlns:a="http://schemas.openxmlformats.org/drawingml/2006/main">
            <a:r>
              <a:t>부분집합으로 단정하지 않습니다. CJ ENM에는 작가 신이원 및 두 인물의 배역·설명 텍스트가 있습니다. TVING 저장본에는 writers=null이며 인물 설명 필드가 없습니다. TVING directors는 연출·작가 등의 역할이 혼재한 원본 인명 배열이므로 연출진이 더 많다는 결론을 내리지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D:/MMLAB/projects/broadcast_web_crawler/reports/1/tving_drama_detail2.png</a:t>
            </a:r>
          </a:p>
          <a:p xmlns:a="http://schemas.openxmlformats.org/drawingml/2006/main">
            <a:r>
              <a:t>D:/MMLAB/projects/broadcast_web_crawler/reports/1/tving_drama_detail3.png</a:t>
            </a:r>
          </a:p>
          <a:p xmlns:a="http://schemas.openxmlformats.org/drawingml/2006/main">
            <a:r>
              <a:t>작품 URL: https://www.tving.com/contents/P001790301</a:t>
            </a:r>
          </a:p>
          <a:p xmlns:a="http://schemas.openxmlformats.org/drawingml/2006/main">
            <a:r>
              <a:t>episode.code/frequency/broadcast_date/synopsis.ko/duration 필드와 1·2화 데이터를 확인했습니다. 화면의 header.status 200은 JSON 내부 값이며 HTTP 상태를 나타내는 Headers 캡처와 구분합니다.</a:t>
            </a:r>
          </a:p>
          <a:p xmlns:a="http://schemas.openxmlformats.org/drawingml/2006/main">
            <a:r>
              <a:t>저장 JSON: D:/MMLAB/projects/broadcast_web_crawler/data/tving/20261007_210908_251349_드라마_전체/contents.json</a:t>
            </a:r>
          </a:p>
          <a:p xmlns:a="http://schemas.openxmlformats.org/drawingml/2006/main">
            <a:r>
              <a:t>이 슬라이드는 앞 비교표의 추가 회차 정보에 대한 응답 근거입니다. CJ ENM의 두 API에는 회차별 시놉시스·방송일·재생 시간 목록이 없으며 TVING 응답에서 확보합니다. 1화와 2화 예시 외에도 저장 JSON에 12개 회차를 확인했습니다.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집계 근거: data/tving/20261007_210908_251349_드라마_전체/contents.json. 20개 작품과 341개 회차를 저장했습니다. 작품 기본 정보는 __NEXT_DATA__ 및 JSON-LD에서 추출하며 회차 세부 정보는 /v2/media/frequency/program/{code} API 응답에서 추출합니다. 코드 근거: src/broadcast_web_crawler/tving.py parse_detail, content_metadata, collect_program_with_report. 현재 배치가 기본 정보까지 API만으로 수집했음을 검증한 것은 아닙니다. HTTP HTML과 API 요청을 결합하고 브라우저 화면 조작 없이 저장합니다. 모든 제시된 작품 공통 필드는 각각 20개에 값이 있으며 종료일은 19개, 작가와 키워드는 0개입니다. 회차 ID·번호·제목·방송일·재생 시간·시놉시스는 각각 341개에 값이 있습니다. 인명 역할 및 자료의 사실 정확성 검증과는 별개의 값 존재 집계입니다. TVING director에는 작가 등 다른 역할이 혼재할 수 있습니다. 수집기는 페이지네이션 및 여러 시즌 순회를 지원하지 않으므로 회차 개수로 전체 작품의 완전성을 일반화하지 않습니다. 왼쪽 화면은 목록 구조 예시이며 당시 순위 증거는 저장 배치 기준입니다.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data/namuwiki/20261008_151253_308786_나무위키_TVING_20개작품/포핸즈_20261008/program.json 및 collection-report.json. 포핸즈 본문은 2026.10.08 HTTP 200, status=exists, extraction_status=collected로 저장됐습니다. 본문 제작사 원본은 스튜디오드래곤, 스튜디오N, 나무엑터스입니다. 위키의 주장을 제작 사실로 독립 검증한 것은 아닙니다. 시청 등급 원본은 15세 이상 시청가 (주제, 언어, 모방위험)입니다. related_documents에 포핸즈/등장인물 및 포핸즈/방영 목록 링크를 확보했으며 related_documents_checked=false, episode_details_collected=false, episodes=[] 입니다. 현재 등장인물 절의 텍스트는 하위 문서 안내만 포함합니다. 하위 문서의 상세 인물·관계·줄거리·회차 정보는 아직 확인하거나 수집하지 않았습니다. 사용자가 직접 대상 작품과 하위 문서 URL을 확인한 뒤 입력하는 흐름을 사용합니다. 수집 시 문서 URL·절 제목·수집 시각 및 가능하면 문서 버전을 같이 보존하고 작품 일치 여부, 원문 근거, 사실과 평가의 구분을 검토합니다. 이번 검토에서 현재 웹 도구로 본문을 다시 열지는 못했습니다. 이 슬라이드는 저장된 과거 수집 결과를 기준으로 하며 현재 접속 검증을 주장하지 않습니다. 기존 냉장고를 부탁해 예시를 같은 작품인 포핸즈의 저장 데이터로 대체해 출처 간 비교를 유지합니다.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앱 캡처: D:/MMLAB/projects/broadcast_web_crawler/reports/desktop/studio.png</a:t>
            </a:r>
          </a:p>
          <a:p xmlns:a="http://schemas.openxmlformats.org/drawingml/2006/main">
            <a:r>
              <a:t>기존 Electron React Python 앱입니다. CJ ENM의 두 API 검증 스크립트는 별도이며 앱의 URL 라우팅에 CJ ENM을 연결하지 않았습니다.</a:t>
            </a:r>
          </a:p>
          <a:p xmlns:a="http://schemas.openxmlformats.org/drawingml/2006/main">
            <a:r>
              <a:t>CJ ENM의 pgmReplayUrlAddr로 TVING 작품 식별자를 연결합니다. TVING director 배열에는 작가 등 역할이 혼재할 수 있으므로 원본을 유지하고 CJ ENM의 pdNm/writrNm 및 seoData와 비교합니다. 나무위키 값으로 자동 덮어쓰기하지 않고 출처별 값을 유지합니다.</a:t>
            </a:r>
          </a:p>
          <a:p xmlns:a="http://schemas.openxmlformats.org/drawingml/2006/main">
            <a:r>
              <a:t>출처들은 엄밀한 부분집합 관계가 아닙니다. CJ ENM 고유 정보는 작가와 인물 설명, TVING은 회차별 소개·방송일·재생 시간, 나무위키 본문은 제작사·세부 장르·등급 부가 표기입니다. 포핸즈 위키 본문은 저장 완료이며 하위 문서 수집은 다음 확인 범위입니다. 중복 값은 출처별로 보존하고 동일 작품을 제목뿐 아니라 TVING 연결 ID, 방송 기간, 채널 등으로 확인합니다.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추가 캡처: D:/MMLAB/projects/broadcast_web_crawler/reports/1/mbc충북_뉴스탭.png</a:t>
            </a:r>
          </a:p>
          <a:p xmlns:a="http://schemas.openxmlformats.org/drawingml/2006/main">
            <a:r>
              <a:t>D:/MMLAB/projects/broadcast_web_crawler/reports/1/tving_drama_detail1.png</a:t>
            </a:r>
          </a:p>
          <a:p xmlns:a="http://schemas.openxmlformats.org/drawingml/2006/main">
            <a:r>
              <a:t>MBC 뉴스 목록 원문: https://news.mbccb.co.kr/home/sub.php?menukey=61</a:t>
            </a:r>
          </a:p>
          <a:p xmlns:a="http://schemas.openxmlformats.org/drawingml/2006/main">
            <a:r>
              <a:t>TVING 작품: https://www.tving.com/contents/P001790301</a:t>
            </a:r>
          </a:p>
          <a:p xmlns:a="http://schemas.openxmlformats.org/drawingml/2006/main">
            <a:r>
              <a:t>MBC 목록의 제목·기자·시각·미리보기, TVING 응답의 출연진·작품 소개 등의 존재를 확인합니다. TVING director 필드에 제작 역할이 혼재할 가능성이 있으므로 연출·작가를 그대로 확정하지 말고 출처별 비교가 필요합니다.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b15d12abeb24a6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377bd812c3545d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54a3e2e0bb244c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dae6a6a7cc843f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add1c2e0572410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e3e3f9fd6e24dc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84A48D-1C1B-49B6-8F76-1A5E7DAD43C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B1236E81-BFBF-4176-81B4-8D5BFA9837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A1DBB26-EF0B-4EDC-A068-43CB5D2E43E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07AD2E-3EF1-4241-A1C2-D4AB4386E13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3218865C-51CE-489C-84F9-8F54D67511F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25AA8F2-E995-4220-AD2F-9B43A4BCBE2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284DFB79-FC89-493E-AC6F-1430733373C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5E7D3B14-98C5-4D2E-98A4-1A24B3C9602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A13007-8306-4F7D-A84C-0C55B4D818C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83B7DFD7-2F77-4F1F-A905-E56AD332036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cc05428b5b443f6" /><Relationship Type="http://schemas.openxmlformats.org/officeDocument/2006/relationships/slideLayout" Target="/ppt/slideLayouts/slideLayout1.xml" Id="Rb4d65ad3835d4495" /><Relationship Type="http://schemas.openxmlformats.org/officeDocument/2006/relationships/slideLayout" Target="/ppt/slideLayouts/slideLayout2.xml" Id="R0bf9b9128aad417b" /><Relationship Type="http://schemas.openxmlformats.org/officeDocument/2006/relationships/slideLayout" Target="/ppt/slideLayouts/slideLayout3.xml" Id="Rca012c4d95c044f7" /><Relationship Type="http://schemas.openxmlformats.org/officeDocument/2006/relationships/slideLayout" Target="/ppt/slideLayouts/slideLayout4.xml" Id="Rc29a6685c70b4ecd" /><Relationship Type="http://schemas.openxmlformats.org/officeDocument/2006/relationships/slideLayout" Target="/ppt/slideLayouts/slideLayout5.xml" Id="Rb132964cb58a4989" /><Relationship Type="http://schemas.openxmlformats.org/officeDocument/2006/relationships/slideLayout" Target="/ppt/slideLayouts/slideLayout6.xml" Id="R37387b74634c4aa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4d65ad3835d4495"/>
    <p:sldLayoutId xmlns:r="http://schemas.openxmlformats.org/officeDocument/2006/relationships" id="2147483650" r:id="R0bf9b9128aad417b"/>
    <p:sldLayoutId xmlns:r="http://schemas.openxmlformats.org/officeDocument/2006/relationships" id="2147483651" r:id="Rca012c4d95c044f7"/>
    <p:sldLayoutId xmlns:r="http://schemas.openxmlformats.org/officeDocument/2006/relationships" id="2147483652" r:id="Rc29a6685c70b4ecd"/>
    <p:sldLayoutId xmlns:r="http://schemas.openxmlformats.org/officeDocument/2006/relationships" id="2147483653" r:id="Rb132964cb58a4989"/>
    <p:sldLayoutId xmlns:r="http://schemas.openxmlformats.org/officeDocument/2006/relationships" id="2147483654" r:id="R37387b74634c4aa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77cc869fc53481c" /><Relationship Type="http://schemas.openxmlformats.org/officeDocument/2006/relationships/notesSlide" Target="/ppt/notesSlides/notesSlide1.xml" Id="R8fe67bbe21e6491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cbbed6d83394aa8" /><Relationship Type="http://schemas.openxmlformats.org/officeDocument/2006/relationships/notesSlide" Target="/ppt/notesSlides/notesSlide2.xml" Id="R4aea232604914ef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fc11549b7b5459b" /><Relationship Type="http://schemas.openxmlformats.org/officeDocument/2006/relationships/image" Target="/ppt/media/image.png" Id="R9acc5b6d23f745d3" /><Relationship Type="http://schemas.openxmlformats.org/officeDocument/2006/relationships/notesSlide" Target="/ppt/notesSlides/notesSlide3.xml" Id="R40a539cbdb1644d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73eeb312fc74621" /><Relationship Type="http://schemas.openxmlformats.org/officeDocument/2006/relationships/image" Target="/ppt/media/image2.png" Id="R8e062f194954420c" /><Relationship Type="http://schemas.openxmlformats.org/officeDocument/2006/relationships/image" Target="/ppt/media/image3.png" Id="Rfc01833c83874295" /><Relationship Type="http://schemas.openxmlformats.org/officeDocument/2006/relationships/notesSlide" Target="/ppt/notesSlides/notesSlide4.xml" Id="Rb76ac8ac9d99489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7f1900862584938" /><Relationship Type="http://schemas.openxmlformats.org/officeDocument/2006/relationships/image" Target="/ppt/media/image4.png" Id="R1b4fb03d7cde497c" /><Relationship Type="http://schemas.openxmlformats.org/officeDocument/2006/relationships/notesSlide" Target="/ppt/notesSlides/notesSlide5.xml" Id="Rc5b93848e433440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652b5d0b7b248a0" /><Relationship Type="http://schemas.openxmlformats.org/officeDocument/2006/relationships/image" Target="/ppt/media/image5.png" Id="R36d32961ada84bf9" /><Relationship Type="http://schemas.openxmlformats.org/officeDocument/2006/relationships/notesSlide" Target="/ppt/notesSlides/notesSlide6.xml" Id="R59f3dd030afe485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006053d0c6347f4" /><Relationship Type="http://schemas.openxmlformats.org/officeDocument/2006/relationships/image" Target="/ppt/media/image6.png" Id="R9d487903073d4202" /><Relationship Type="http://schemas.openxmlformats.org/officeDocument/2006/relationships/notesSlide" Target="/ppt/notesSlides/notesSlide7.xml" Id="R88d87587c9f0425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bd1e8ffbf044411" /><Relationship Type="http://schemas.openxmlformats.org/officeDocument/2006/relationships/image" Target="/ppt/media/image7.png" Id="R4220108a1fa949c5" /><Relationship Type="http://schemas.openxmlformats.org/officeDocument/2006/relationships/notesSlide" Target="/ppt/notesSlides/notesSlide8.xml" Id="R3686149b97484da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414cb7a5ab547fc" /><Relationship Type="http://schemas.openxmlformats.org/officeDocument/2006/relationships/image" Target="/ppt/media/image8.png" Id="R6c458f4c16a44794" /><Relationship Type="http://schemas.openxmlformats.org/officeDocument/2006/relationships/image" Target="/ppt/media/image9.png" Id="R51cd707afad143e2" /><Relationship Type="http://schemas.openxmlformats.org/officeDocument/2006/relationships/notesSlide" Target="/ppt/notesSlides/notesSlide9.xml" Id="Ra1aaa68b7b314fd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dc7b49e94c74f50" /><Relationship Type="http://schemas.openxmlformats.org/officeDocument/2006/relationships/image" Target="/ppt/media/image10.png" Id="Rd958dd065a974c2e" /><Relationship Type="http://schemas.openxmlformats.org/officeDocument/2006/relationships/notesSlide" Target="/ppt/notesSlides/notesSlide10.xml" Id="R7dbfc16d607249c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a224b986fc94ea0" /><Relationship Type="http://schemas.openxmlformats.org/officeDocument/2006/relationships/notesSlide" Target="/ppt/notesSlides/notesSlide11.xml" Id="Re583cecd45544b0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bfe187c06f04f89" /><Relationship Type="http://schemas.openxmlformats.org/officeDocument/2006/relationships/image" Target="/ppt/media/image11.png" Id="R8d9142d925c747b2" /><Relationship Type="http://schemas.openxmlformats.org/officeDocument/2006/relationships/notesSlide" Target="/ppt/notesSlides/notesSlide12.xml" Id="Rb375e30f4bfe4ee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51d611217094f1f" /><Relationship Type="http://schemas.openxmlformats.org/officeDocument/2006/relationships/image" Target="/ppt/media/image12.png" Id="Rce03ca76882b4cfd" /><Relationship Type="http://schemas.openxmlformats.org/officeDocument/2006/relationships/image" Target="/ppt/media/image13.png" Id="R8e6536cd95a646f4" /><Relationship Type="http://schemas.openxmlformats.org/officeDocument/2006/relationships/notesSlide" Target="/ppt/notesSlides/notesSlide13.xml" Id="R2dd2e3157e3942d8" /></Relationships>
</file>

<file path=ppt/slides/slide1.xml><?xml version="1.0" encoding="utf-8"?>
<p:sld xmlns:p="http://schemas.openxmlformats.org/presentationml/2006/main">
  <p:cSld>
    <p:bg>
      <p:bgPr>
        <a:solidFill xmlns:a="http://schemas.openxmlformats.org/drawingml/2006/main">
          <a:srgbClr val="EEEBF7"/>
        </a:solidFill>
      </p:bgPr>
    </p:bg>
    <p:spTree>
      <p:nvGrpSpPr>
        <p:cNvPr id="1" name=""/>
        <p:cNvGrpSpPr/>
        <p:nvPr/>
      </p:nvGrpSpPr>
      <p:grpSpPr>
        <a:xfrm xmlns:a="http://schemas.openxmlformats.org/drawingml/2006/main"/>
      </p:grpSpPr>
      <p:sp>
        <p:nvSpPr>
          <p:cNvPr id="5" name="직사각형 4">
            <a:extLst xmlns:a="http://schemas.openxmlformats.org/drawingml/2006/main">
              <a:ext uri="{FF2B5EF4-FFF2-40B4-BE49-F238E27FC236}">
                <a16:creationId xmlns:a16="http://schemas.microsoft.com/office/drawing/2014/main" id="{6C9C689E-CC8C-4631-AD9E-A54250F9E436}"/>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01</a:t>
            </a:r>
          </a:p>
        </p:txBody>
      </p:sp>
      <p:sp>
        <p:nvSpPr>
          <p:cNvPr id="2" name="직사각형 1">
            <a:extLst xmlns:a="http://schemas.openxmlformats.org/drawingml/2006/main">
              <a:ext uri="{FF2B5EF4-FFF2-40B4-BE49-F238E27FC236}">
                <a16:creationId xmlns:a16="http://schemas.microsoft.com/office/drawing/2014/main" id="{19E7746D-8039-443E-8095-6EE45374C56A}"/>
              </a:ext>
            </a:extLst>
          </p:cNvPr>
          <p:cNvSpPr>
            <a:spLocks xmlns:a="http://schemas.openxmlformats.org/drawingml/2006/main" noGrp="1"/>
          </p:cNvSpPr>
          <p:nvPr/>
        </p:nvSpPr>
        <p:spPr>
          <a:xfrm xmlns:a="http://schemas.openxmlformats.org/drawingml/2006/main">
            <a:off x="685800" y="1524000"/>
            <a:ext cx="104775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425" b="1">
                <a:solidFill>
                  <a:srgbClr val="303044"/>
                </a:solidFill>
                <a:latin typeface="Malgun Gothic"/>
                <a:ea typeface="Malgun Gothic"/>
                <a:cs typeface="Malgun Gothic"/>
              </a:defRPr>
            </a:defPPr>
          </a:lstStyle>
          <a:p xmlns:a="http://schemas.openxmlformats.org/drawingml/2006/main">
            <a:pPr>
              <a:buNone/>
              <a:defRPr sz="4425" b="1">
                <a:solidFill>
                  <a:srgbClr val="303044"/>
                </a:solidFill>
                <a:latin typeface="Malgun Gothic"/>
                <a:ea typeface="Malgun Gothic"/>
                <a:cs typeface="Malgun Gothic"/>
              </a:defRPr>
            </a:pPr>
            <a:r>
              <a:rPr sz="4425" b="1">
                <a:solidFill>
                  <a:srgbClr val="303044"/>
                </a:solidFill>
                <a:latin typeface="Malgun Gothic"/>
                <a:ea typeface="Malgun Gothic"/>
                <a:cs typeface="Malgun Gothic"/>
              </a:rPr>
              <a:t>방송 콘텐츠</a:t>
            </a:r>
          </a:p>
          <a:p xmlns:a="http://schemas.openxmlformats.org/drawingml/2006/main">
            <a:pPr>
              <a:buNone/>
              <a:defRPr sz="4425" b="1">
                <a:solidFill>
                  <a:srgbClr val="303044"/>
                </a:solidFill>
                <a:latin typeface="Malgun Gothic"/>
                <a:ea typeface="Malgun Gothic"/>
                <a:cs typeface="Malgun Gothic"/>
              </a:defRPr>
            </a:pPr>
            <a:r>
              <a:rPr sz="4425" b="1">
                <a:solidFill>
                  <a:srgbClr val="303044"/>
                </a:solidFill>
                <a:latin typeface="Malgun Gothic"/>
                <a:ea typeface="Malgun Gothic"/>
                <a:cs typeface="Malgun Gothic"/>
              </a:rPr>
              <a:t>메타데이터 수집 가능성 검토</a:t>
            </a:r>
          </a:p>
        </p:txBody>
      </p:sp>
      <p:sp>
        <p:nvSpPr>
          <p:cNvPr id="3" name="직사각형 2">
            <a:extLst xmlns:a="http://schemas.openxmlformats.org/drawingml/2006/main">
              <a:ext uri="{FF2B5EF4-FFF2-40B4-BE49-F238E27FC236}">
                <a16:creationId xmlns:a16="http://schemas.microsoft.com/office/drawing/2014/main" id="{0FCE1160-821C-4DA6-A139-25A4BEB966C5}"/>
              </a:ext>
            </a:extLst>
          </p:cNvPr>
          <p:cNvSpPr>
            <a:spLocks xmlns:a="http://schemas.openxmlformats.org/drawingml/2006/main" noGrp="1"/>
          </p:cNvSpPr>
          <p:nvPr/>
        </p:nvSpPr>
        <p:spPr>
          <a:xfrm xmlns:a="http://schemas.openxmlformats.org/drawingml/2006/main">
            <a:off x="723900" y="3867150"/>
            <a:ext cx="990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716095"/>
                </a:solidFill>
                <a:latin typeface="Malgun Gothic"/>
                <a:ea typeface="Malgun Gothic"/>
                <a:cs typeface="Malgun Gothic"/>
              </a:defRPr>
            </a:defPPr>
          </a:lstStyle>
          <a:p xmlns:a="http://schemas.openxmlformats.org/drawingml/2006/main">
            <a:pPr>
              <a:buNone/>
              <a:defRPr sz="2325" b="0">
                <a:solidFill>
                  <a:srgbClr val="716095"/>
                </a:solidFill>
                <a:latin typeface="Malgun Gothic"/>
                <a:ea typeface="Malgun Gothic"/>
                <a:cs typeface="Malgun Gothic"/>
              </a:defRPr>
            </a:pPr>
            <a:r>
              <a:rPr sz="2325" b="0">
                <a:solidFill>
                  <a:srgbClr val="716095"/>
                </a:solidFill>
                <a:latin typeface="Malgun Gothic"/>
                <a:ea typeface="Malgun Gothic"/>
                <a:cs typeface="Malgun Gothic"/>
              </a:rPr>
              <a:t>CJ ENM API 검증과 동일 작품의 출처별 정보 보완</a:t>
            </a:r>
          </a:p>
        </p:txBody>
      </p:sp>
      <p:sp>
        <p:nvSpPr>
          <p:cNvPr id="4" name="직사각형 3">
            <a:extLst xmlns:a="http://schemas.openxmlformats.org/drawingml/2006/main">
              <a:ext uri="{FF2B5EF4-FFF2-40B4-BE49-F238E27FC236}">
                <a16:creationId xmlns:a16="http://schemas.microsoft.com/office/drawing/2014/main" id="{3B56ED18-2177-4897-97D5-1BCC97EC2AA7}"/>
              </a:ext>
            </a:extLst>
          </p:cNvPr>
          <p:cNvSpPr>
            <a:spLocks xmlns:a="http://schemas.openxmlformats.org/drawingml/2006/main" noGrp="1"/>
          </p:cNvSpPr>
          <p:nvPr/>
        </p:nvSpPr>
        <p:spPr>
          <a:xfrm xmlns:a="http://schemas.openxmlformats.org/drawingml/2006/main">
            <a:off x="723900" y="5162550"/>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797587"/>
                </a:solidFill>
                <a:latin typeface="Malgun Gothic"/>
                <a:ea typeface="Malgun Gothic"/>
                <a:cs typeface="Malgun Gothic"/>
              </a:defRPr>
            </a:defPPr>
          </a:lstStyle>
          <a:p xmlns:a="http://schemas.openxmlformats.org/drawingml/2006/main">
            <a:pPr>
              <a:buNone/>
              <a:defRPr sz="1800" b="0">
                <a:solidFill>
                  <a:srgbClr val="797587"/>
                </a:solidFill>
                <a:latin typeface="Malgun Gothic"/>
                <a:ea typeface="Malgun Gothic"/>
                <a:cs typeface="Malgun Gothic"/>
              </a:defRPr>
            </a:pPr>
            <a:r>
              <a:rPr sz="1800" b="0">
                <a:solidFill>
                  <a:srgbClr val="797587"/>
                </a:solidFill>
                <a:latin typeface="Malgun Gothic"/>
                <a:ea typeface="Malgun Gothic"/>
                <a:cs typeface="Malgun Gothic"/>
              </a:rPr>
              <a:t>국가 용역과제 진행 보고</a:t>
            </a:r>
          </a:p>
          <a:p xmlns:a="http://schemas.openxmlformats.org/drawingml/2006/main">
            <a:pPr>
              <a:buNone/>
              <a:defRPr sz="1800" b="0">
                <a:solidFill>
                  <a:srgbClr val="797587"/>
                </a:solidFill>
                <a:latin typeface="Malgun Gothic"/>
                <a:ea typeface="Malgun Gothic"/>
                <a:cs typeface="Malgun Gothic"/>
              </a:defRPr>
            </a:pPr>
            <a:r>
              <a:rPr sz="1800" b="0">
                <a:solidFill>
                  <a:srgbClr val="797587"/>
                </a:solidFill>
                <a:latin typeface="Malgun Gothic"/>
                <a:ea typeface="Malgun Gothic"/>
                <a:cs typeface="Malgun Gothic"/>
              </a:rPr>
              <a:t>2026.10.12</a:t>
            </a:r>
          </a:p>
        </p:txBody>
      </p:sp>
    </p:spTree>
    <p:extLst>
      <p:ext uri="{BB962C8B-B14F-4D97-AF65-F5344CB8AC3E}">
        <p14:creationId xmlns:p14="http://schemas.microsoft.com/office/powerpoint/2010/main" val="1271877683"/>
      </p:ext>
    </p:extLst>
  </p:cSld>
</p:sld>
</file>

<file path=ppt/slides/slide2.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8" name="직사각형 7">
            <a:extLst xmlns:a="http://schemas.openxmlformats.org/drawingml/2006/main">
              <a:ext uri="{FF2B5EF4-FFF2-40B4-BE49-F238E27FC236}">
                <a16:creationId xmlns:a16="http://schemas.microsoft.com/office/drawing/2014/main" id="{D1B2DD84-D4DE-4587-B739-FEE55B32287C}"/>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검토 대상과 확인 방법</a:t>
            </a:r>
          </a:p>
        </p:txBody>
      </p:sp>
      <p:sp>
        <p:nvSpPr>
          <p:cNvPr id="2" name="직사각형 1">
            <a:extLst xmlns:a="http://schemas.openxmlformats.org/drawingml/2006/main">
              <a:ext uri="{FF2B5EF4-FFF2-40B4-BE49-F238E27FC236}">
                <a16:creationId xmlns:a16="http://schemas.microsoft.com/office/drawing/2014/main" id="{D60A42ED-558D-43A7-8FE5-CD6E0B4D0249}"/>
              </a:ext>
            </a:extLst>
          </p:cNvPr>
          <p:cNvSpPr>
            <a:spLocks xmlns:a="http://schemas.openxmlformats.org/drawingml/2006/main" noGrp="1"/>
          </p:cNvSpPr>
          <p:nvPr/>
        </p:nvSpPr>
        <p:spPr>
          <a:xfrm xmlns:a="http://schemas.openxmlformats.org/drawingml/2006/main">
            <a:off x="609600" y="13811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기본 검토 대상</a:t>
            </a:r>
          </a:p>
        </p:txBody>
      </p:sp>
      <p:graphicFrame>
        <p:nvGraphicFramePr>
          <p:cNvPr id="3" name="표 2">
            <a:extLst xmlns:a="http://schemas.openxmlformats.org/drawingml/2006/main">
              <a:ext uri="{FF2B5EF4-FFF2-40B4-BE49-F238E27FC236}">
                <a16:creationId xmlns:a16="http://schemas.microsoft.com/office/drawing/2014/main" id="{CCCEB96A-EF75-4643-83FD-3452910CC51A}"/>
              </a:ext>
            </a:extLst>
          </p:cNvPr>
          <p:cNvGraphicFramePr/>
          <p:nvPr/>
        </p:nvGraphicFramePr>
        <p:xfrm>
          <a:off xmlns:a="http://schemas.openxmlformats.org/drawingml/2006/main" x="609600" y="1952625"/>
          <a:ext xmlns:a="http://schemas.openxmlformats.org/drawingml/2006/main" cx="10972800" cy="2381252"/>
        </p:xfrm>
        <a:graphic xmlns:a="http://schemas.openxmlformats.org/drawingml/2006/main">
          <a:graphicData uri="http://schemas.openxmlformats.org/drawingml/2006/table">
            <a:tbl>
              <a:tblPr/>
              <a:tblGrid>
                <a:gridCol w="5619750"/>
                <a:gridCol w="5353050"/>
              </a:tblGrid>
              <a:tr h="595313">
                <a:tc>
                  <a:txBody>
                    <a:bodyPr/>
                    <a:lstStyle/>
                    <a:p>
                      <a:r>
                        <a:rPr sz="1875" b="1">
                          <a:solidFill>
                            <a:srgbClr val="716095"/>
                          </a:solidFill>
                          <a:latin typeface="Malgun Gothic"/>
                          <a:ea typeface="Malgun Gothic"/>
                          <a:cs typeface="Malgun Gothic"/>
                        </a:rPr>
                        <a:t>대상 웹사이트</a:t>
                      </a:r>
                    </a:p>
                  </a:txBody>
                  <a:tcPr marL="91440" marR="91440" marT="45720" marB="45720" anchor="ctr">
                    <a:solidFill>
                      <a:srgbClr val="EEEBF7"/>
                    </a:solidFill>
                  </a:tcPr>
                </a:tc>
                <a:tc>
                  <a:txBody>
                    <a:bodyPr/>
                    <a:lstStyle/>
                    <a:p>
                      <a:r>
                        <a:rPr sz="1875" b="1">
                          <a:solidFill>
                            <a:srgbClr val="716095"/>
                          </a:solidFill>
                          <a:latin typeface="Malgun Gothic"/>
                          <a:ea typeface="Malgun Gothic"/>
                          <a:cs typeface="Malgun Gothic"/>
                        </a:rPr>
                        <a:t>콘텐츠 범위</a:t>
                      </a:r>
                    </a:p>
                  </a:txBody>
                  <a:tcPr marL="91440" marR="91440" marT="45720" marB="45720" anchor="ctr">
                    <a:solidFill>
                      <a:srgbClr val="EEEBF7"/>
                    </a:solidFill>
                  </a:tcPr>
                </a:tc>
              </a:tr>
              <a:tr h="595313">
                <a:tc>
                  <a:txBody>
                    <a:bodyPr/>
                    <a:lstStyle/>
                    <a:p>
                      <a:r>
                        <a:rPr sz="1875" b="0">
                          <a:solidFill>
                            <a:srgbClr val="303044"/>
                          </a:solidFill>
                          <a:latin typeface="Malgun Gothic"/>
                          <a:ea typeface="Malgun Gothic"/>
                          <a:cs typeface="Malgun Gothic"/>
                        </a:rPr>
                        <a:t>CJ ENM</a:t>
                      </a:r>
                    </a:p>
                  </a:txBody>
                  <a:tcPr marL="91440" marR="91440" marT="45720" marB="45720" anchor="ctr">
                    <a:solidFill>
                      <a:srgbClr val="FFFFFF"/>
                    </a:solidFill>
                  </a:tcPr>
                </a:tc>
                <a:tc>
                  <a:txBody>
                    <a:bodyPr/>
                    <a:lstStyle/>
                    <a:p>
                      <a:r>
                        <a:rPr sz="1875" b="0">
                          <a:solidFill>
                            <a:srgbClr val="303044"/>
                          </a:solidFill>
                          <a:latin typeface="Malgun Gothic"/>
                          <a:ea typeface="Malgun Gothic"/>
                          <a:cs typeface="Malgun Gothic"/>
                        </a:rPr>
                        <a:t>드라마, 예능</a:t>
                      </a:r>
                    </a:p>
                  </a:txBody>
                  <a:tcPr marL="91440" marR="91440" marT="45720" marB="45720" anchor="ctr">
                    <a:solidFill>
                      <a:srgbClr val="FFFFFF"/>
                    </a:solidFill>
                  </a:tcPr>
                </a:tc>
              </a:tr>
              <a:tr h="595313">
                <a:tc>
                  <a:txBody>
                    <a:bodyPr/>
                    <a:lstStyle/>
                    <a:p>
                      <a:r>
                        <a:rPr sz="1875" b="0">
                          <a:solidFill>
                            <a:srgbClr val="303044"/>
                          </a:solidFill>
                          <a:latin typeface="Malgun Gothic"/>
                          <a:ea typeface="Malgun Gothic"/>
                          <a:cs typeface="Malgun Gothic"/>
                        </a:rPr>
                        <a:t>컴투스 그룹(위지윅스튜디오)</a:t>
                      </a:r>
                    </a:p>
                  </a:txBody>
                  <a:tcPr marL="91440" marR="91440" marT="45720" marB="45720" anchor="ctr">
                    <a:solidFill>
                      <a:srgbClr val="FFFFFF"/>
                    </a:solidFill>
                  </a:tcPr>
                </a:tc>
                <a:tc>
                  <a:txBody>
                    <a:bodyPr/>
                    <a:lstStyle/>
                    <a:p>
                      <a:r>
                        <a:rPr sz="1875" b="0">
                          <a:solidFill>
                            <a:srgbClr val="303044"/>
                          </a:solidFill>
                          <a:latin typeface="Malgun Gothic"/>
                          <a:ea typeface="Malgun Gothic"/>
                          <a:cs typeface="Malgun Gothic"/>
                        </a:rPr>
                        <a:t>드라마</a:t>
                      </a:r>
                    </a:p>
                  </a:txBody>
                  <a:tcPr marL="91440" marR="91440" marT="45720" marB="45720" anchor="ctr">
                    <a:solidFill>
                      <a:srgbClr val="FFFFFF"/>
                    </a:solidFill>
                  </a:tcPr>
                </a:tc>
              </a:tr>
              <a:tr h="595313">
                <a:tc>
                  <a:txBody>
                    <a:bodyPr/>
                    <a:lstStyle/>
                    <a:p>
                      <a:r>
                        <a:rPr sz="1875" b="0">
                          <a:solidFill>
                            <a:srgbClr val="303044"/>
                          </a:solidFill>
                          <a:latin typeface="Malgun Gothic"/>
                          <a:ea typeface="Malgun Gothic"/>
                          <a:cs typeface="Malgun Gothic"/>
                        </a:rPr>
                        <a:t>MBC 충북</a:t>
                      </a:r>
                    </a:p>
                  </a:txBody>
                  <a:tcPr marL="91440" marR="91440" marT="45720" marB="45720" anchor="ctr">
                    <a:solidFill>
                      <a:srgbClr val="FFFFFF"/>
                    </a:solidFill>
                  </a:tcPr>
                </a:tc>
                <a:tc>
                  <a:txBody>
                    <a:bodyPr/>
                    <a:lstStyle/>
                    <a:p>
                      <a:r>
                        <a:rPr sz="1875" b="0">
                          <a:solidFill>
                            <a:srgbClr val="303044"/>
                          </a:solidFill>
                          <a:latin typeface="Malgun Gothic"/>
                          <a:ea typeface="Malgun Gothic"/>
                          <a:cs typeface="Malgun Gothic"/>
                        </a:rPr>
                        <a:t>뉴스 (중앙 MBC와 별도)</a:t>
                      </a:r>
                    </a:p>
                  </a:txBody>
                  <a:tcPr marL="91440" marR="91440" marT="45720" marB="45720" anchor="ctr">
                    <a:solidFill>
                      <a:srgbClr val="FFFFFF"/>
                    </a:solidFill>
                  </a:tcPr>
                </a:tc>
              </a:tr>
            </a:tbl>
          </a:graphicData>
        </a:graphic>
      </p:graphicFrame>
      <p:sp>
        <p:nvSpPr>
          <p:cNvPr id="4" name="직사각형 3">
            <a:extLst xmlns:a="http://schemas.openxmlformats.org/drawingml/2006/main">
              <a:ext uri="{FF2B5EF4-FFF2-40B4-BE49-F238E27FC236}">
                <a16:creationId xmlns:a16="http://schemas.microsoft.com/office/drawing/2014/main" id="{6F9974D8-8E98-42AB-B18D-5EA9C6AAC483}"/>
              </a:ext>
            </a:extLst>
          </p:cNvPr>
          <p:cNvSpPr>
            <a:spLocks xmlns:a="http://schemas.openxmlformats.org/drawingml/2006/main" noGrp="1"/>
          </p:cNvSpPr>
          <p:nvPr/>
        </p:nvSpPr>
        <p:spPr>
          <a:xfrm xmlns:a="http://schemas.openxmlformats.org/drawingml/2006/main">
            <a:off x="609600" y="4676775"/>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추가 수집원</a:t>
            </a:r>
          </a:p>
        </p:txBody>
      </p:sp>
      <p:sp>
        <p:nvSpPr>
          <p:cNvPr id="5" name="직사각형 4">
            <a:extLst xmlns:a="http://schemas.openxmlformats.org/drawingml/2006/main">
              <a:ext uri="{FF2B5EF4-FFF2-40B4-BE49-F238E27FC236}">
                <a16:creationId xmlns:a16="http://schemas.microsoft.com/office/drawing/2014/main" id="{8C131ACA-695B-418C-986A-0114CC69620E}"/>
              </a:ext>
            </a:extLst>
          </p:cNvPr>
          <p:cNvSpPr>
            <a:spLocks xmlns:a="http://schemas.openxmlformats.org/drawingml/2006/main" noGrp="1"/>
          </p:cNvSpPr>
          <p:nvPr/>
        </p:nvSpPr>
        <p:spPr>
          <a:xfrm xmlns:a="http://schemas.openxmlformats.org/drawingml/2006/main">
            <a:off x="609600" y="52006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TVING: CJ ENM 콘텐츠의 실제 제공 경로에서 작품·회차 정보 확보</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나무위키: 프로그램 설명과 제작진·방송 정보 보완</a:t>
            </a:r>
          </a:p>
        </p:txBody>
      </p:sp>
      <p:sp>
        <p:nvSpPr>
          <p:cNvPr id="6" name="직사각형 5">
            <a:extLst xmlns:a="http://schemas.openxmlformats.org/drawingml/2006/main">
              <a:ext uri="{FF2B5EF4-FFF2-40B4-BE49-F238E27FC236}">
                <a16:creationId xmlns:a16="http://schemas.microsoft.com/office/drawing/2014/main" id="{09E076D5-356B-44DB-BAC4-9CF1F4F04372}"/>
              </a:ext>
            </a:extLst>
          </p:cNvPr>
          <p:cNvSpPr>
            <a:spLocks xmlns:a="http://schemas.openxmlformats.org/drawingml/2006/main" noGrp="1"/>
          </p:cNvSpPr>
          <p:nvPr/>
        </p:nvSpPr>
        <p:spPr>
          <a:xfrm xmlns:a="http://schemas.openxmlformats.org/drawingml/2006/main">
            <a:off x="609600" y="62388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797587"/>
                </a:solidFill>
                <a:latin typeface="Malgun Gothic"/>
                <a:ea typeface="Malgun Gothic"/>
                <a:cs typeface="Malgun Gothic"/>
              </a:defRPr>
            </a:defPPr>
          </a:lstStyle>
          <a:p xmlns:a="http://schemas.openxmlformats.org/drawingml/2006/main">
            <a:pPr>
              <a:buNone/>
              <a:defRPr sz="1350" b="0">
                <a:solidFill>
                  <a:srgbClr val="797587"/>
                </a:solidFill>
                <a:latin typeface="Malgun Gothic"/>
                <a:ea typeface="Malgun Gothic"/>
                <a:cs typeface="Malgun Gothic"/>
              </a:defRPr>
            </a:pPr>
            <a:r>
              <a:rPr sz="1350" b="0">
                <a:solidFill>
                  <a:srgbClr val="797587"/>
                </a:solidFill>
                <a:latin typeface="Malgun Gothic"/>
                <a:ea typeface="Malgun Gothic"/>
                <a:cs typeface="Malgun Gothic"/>
              </a:rPr>
              <a:t>확인 방법: 직접 접속 및 구조 점검 / 자동 수집 가능성 확인 / 메타데이터 추출</a:t>
            </a:r>
          </a:p>
        </p:txBody>
      </p:sp>
      <p:sp>
        <p:nvSpPr>
          <p:cNvPr id="7" name="직사각형 6">
            <a:extLst xmlns:a="http://schemas.openxmlformats.org/drawingml/2006/main">
              <a:ext uri="{FF2B5EF4-FFF2-40B4-BE49-F238E27FC236}">
                <a16:creationId xmlns:a16="http://schemas.microsoft.com/office/drawing/2014/main" id="{1BBE0D46-3FAF-4A74-AD6C-9E2C6AA32F20}"/>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02</a:t>
            </a:r>
          </a:p>
        </p:txBody>
      </p:sp>
    </p:spTree>
    <p:extLst>
      <p:ext uri="{BB962C8B-B14F-4D97-AF65-F5344CB8AC3E}">
        <p14:creationId xmlns:p14="http://schemas.microsoft.com/office/powerpoint/2010/main" val="580745084"/>
      </p:ext>
    </p:extLst>
  </p:cSld>
</p:sld>
</file>

<file path=ppt/slides/slide3.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9" name="직사각형 8">
            <a:extLst xmlns:a="http://schemas.openxmlformats.org/drawingml/2006/main">
              <a:ext uri="{FF2B5EF4-FFF2-40B4-BE49-F238E27FC236}">
                <a16:creationId xmlns:a16="http://schemas.microsoft.com/office/drawing/2014/main" id="{07ACC2ED-ED7E-4261-B13E-C05F73BC1970}"/>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컴투스 그룹 검토 경로: 작품 상세 정보 부족</a:t>
            </a:r>
          </a:p>
        </p:txBody>
      </p:sp>
      <p:pic>
        <p:nvPicPr>
          <p:cNvPr id="2" name="그림 1">
            <a:extLst xmlns:a="http://schemas.openxmlformats.org/drawingml/2006/main">
              <a:ext uri="{FF2B5EF4-FFF2-40B4-BE49-F238E27FC236}">
                <a16:creationId xmlns:a16="http://schemas.microsoft.com/office/drawing/2014/main" id="{5D0C04F5-83C5-45E0-A6B8-CF5A539B4E8B}"/>
              </a:ext>
            </a:extLst>
          </p:cNvPr>
          <p:cNvPicPr>
            <a:picLocks xmlns:a="http://schemas.openxmlformats.org/drawingml/2006/main" noChangeAspect="1"/>
          </p:cNvPicPr>
          <p:nvPr/>
        </p:nvPicPr>
        <p:blipFill>
          <a:blip xmlns:r="http://schemas.openxmlformats.org/officeDocument/2006/relationships" xmlns:a="http://schemas.openxmlformats.org/drawingml/2006/main" r:embed="R9acc5b6d23f745d3"/>
          <a:stretch xmlns:a="http://schemas.openxmlformats.org/drawingml/2006/main"/>
        </p:blipFill>
        <p:spPr>
          <a:xfrm xmlns:a="http://schemas.openxmlformats.org/drawingml/2006/main">
            <a:off x="1704975" y="1495425"/>
            <a:ext cx="5143500" cy="4286250"/>
          </a:xfrm>
          <a:prstGeom xmlns:a="http://schemas.openxmlformats.org/drawingml/2006/main" prst="rect">
            <a:avLst/>
          </a:prstGeom>
        </p:spPr>
      </p:pic>
      <p:sp>
        <p:nvSpPr>
          <p:cNvPr id="3" name="직사각형 2">
            <a:extLst xmlns:a="http://schemas.openxmlformats.org/drawingml/2006/main">
              <a:ext uri="{FF2B5EF4-FFF2-40B4-BE49-F238E27FC236}">
                <a16:creationId xmlns:a16="http://schemas.microsoft.com/office/drawing/2014/main" id="{23179758-BC52-4BAB-AD6D-76C0238B9908}"/>
              </a:ext>
            </a:extLst>
          </p:cNvPr>
          <p:cNvSpPr>
            <a:spLocks xmlns:a="http://schemas.openxmlformats.org/drawingml/2006/main" noGrp="1"/>
          </p:cNvSpPr>
          <p:nvPr/>
        </p:nvSpPr>
        <p:spPr>
          <a:xfrm xmlns:a="http://schemas.openxmlformats.org/drawingml/2006/main">
            <a:off x="8343900" y="1524000"/>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킬러들의 쇼핑몰2</a:t>
            </a:r>
          </a:p>
        </p:txBody>
      </p:sp>
      <p:sp>
        <p:nvSpPr>
          <p:cNvPr id="4" name="직사각형 3">
            <a:extLst xmlns:a="http://schemas.openxmlformats.org/drawingml/2006/main">
              <a:ext uri="{FF2B5EF4-FFF2-40B4-BE49-F238E27FC236}">
                <a16:creationId xmlns:a16="http://schemas.microsoft.com/office/drawing/2014/main" id="{35DDA79D-2ABB-4974-BBA0-152158A8515D}"/>
              </a:ext>
            </a:extLst>
          </p:cNvPr>
          <p:cNvSpPr>
            <a:spLocks xmlns:a="http://schemas.openxmlformats.org/drawingml/2006/main" noGrp="1"/>
          </p:cNvSpPr>
          <p:nvPr/>
        </p:nvSpPr>
        <p:spPr>
          <a:xfrm xmlns:a="http://schemas.openxmlformats.org/drawingml/2006/main">
            <a:off x="8343900" y="213360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확인한 상세 페이지에는</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작품명과 티저 영상 1개 표시</a:t>
            </a:r>
          </a:p>
        </p:txBody>
      </p:sp>
      <p:sp>
        <p:nvSpPr>
          <p:cNvPr id="5" name="직사각형 4">
            <a:extLst xmlns:a="http://schemas.openxmlformats.org/drawingml/2006/main">
              <a:ext uri="{FF2B5EF4-FFF2-40B4-BE49-F238E27FC236}">
                <a16:creationId xmlns:a16="http://schemas.microsoft.com/office/drawing/2014/main" id="{477BDD1E-BC0C-4B3C-B99C-9F52AE318B3A}"/>
              </a:ext>
            </a:extLst>
          </p:cNvPr>
          <p:cNvSpPr>
            <a:spLocks xmlns:a="http://schemas.openxmlformats.org/drawingml/2006/main" noGrp="1"/>
          </p:cNvSpPr>
          <p:nvPr/>
        </p:nvSpPr>
        <p:spPr>
          <a:xfrm xmlns:a="http://schemas.openxmlformats.org/drawingml/2006/main">
            <a:off x="8343900" y="349567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점검한 페이지의 한계</a:t>
            </a:r>
          </a:p>
        </p:txBody>
      </p:sp>
      <p:sp>
        <p:nvSpPr>
          <p:cNvPr id="6" name="직사각형 5">
            <a:extLst xmlns:a="http://schemas.openxmlformats.org/drawingml/2006/main">
              <a:ext uri="{FF2B5EF4-FFF2-40B4-BE49-F238E27FC236}">
                <a16:creationId xmlns:a16="http://schemas.microsoft.com/office/drawing/2014/main" id="{9E8B5E26-C48F-4D88-A53B-0D7B06E2611B}"/>
              </a:ext>
            </a:extLst>
          </p:cNvPr>
          <p:cNvSpPr>
            <a:spLocks xmlns:a="http://schemas.openxmlformats.org/drawingml/2006/main" noGrp="1"/>
          </p:cNvSpPr>
          <p:nvPr/>
        </p:nvSpPr>
        <p:spPr>
          <a:xfrm xmlns:a="http://schemas.openxmlformats.org/drawingml/2006/main">
            <a:off x="8343900" y="4067175"/>
            <a:ext cx="3238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소개·제작진·출연진 및</a:t>
            </a:r>
          </a:p>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회차 텍스트 정보 미확인</a:t>
            </a:r>
          </a:p>
          <a:p xmlns:a="http://schemas.openxmlformats.org/drawingml/2006/main">
            <a:endParaRPr sz="1800" b="0">
              <a:solidFill>
                <a:srgbClr val="303044"/>
              </a:solidFill>
              <a:latin typeface="Malgun Gothic"/>
              <a:ea typeface="Malgun Gothic"/>
              <a:cs typeface="Malgun Gothic"/>
            </a:endParaRPr>
          </a:p>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다른 공개 출처로 보완 검토</a:t>
            </a:r>
          </a:p>
        </p:txBody>
      </p:sp>
      <p:sp>
        <p:nvSpPr>
          <p:cNvPr id="7" name="직사각형 6">
            <a:extLst xmlns:a="http://schemas.openxmlformats.org/drawingml/2006/main">
              <a:ext uri="{FF2B5EF4-FFF2-40B4-BE49-F238E27FC236}">
                <a16:creationId xmlns:a16="http://schemas.microsoft.com/office/drawing/2014/main" id="{1FB329E2-8051-4299-AA60-4B022BB49AFE}"/>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점검 URL: com2usn.com/work/255 / 이 사례는 확인한 작품 페이지에 한정</a:t>
            </a:r>
          </a:p>
        </p:txBody>
      </p:sp>
      <p:sp>
        <p:nvSpPr>
          <p:cNvPr id="8" name="직사각형 7">
            <a:extLst xmlns:a="http://schemas.openxmlformats.org/drawingml/2006/main">
              <a:ext uri="{FF2B5EF4-FFF2-40B4-BE49-F238E27FC236}">
                <a16:creationId xmlns:a16="http://schemas.microsoft.com/office/drawing/2014/main" id="{3B8DACA9-5AFB-49E1-862E-01B91EAF4916}"/>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03</a:t>
            </a:r>
          </a:p>
        </p:txBody>
      </p:sp>
    </p:spTree>
    <p:extLst>
      <p:ext uri="{BB962C8B-B14F-4D97-AF65-F5344CB8AC3E}">
        <p14:creationId xmlns:p14="http://schemas.microsoft.com/office/powerpoint/2010/main" val="1323805457"/>
      </p:ext>
    </p:extLst>
  </p:cSld>
</p:sld>
</file>

<file path=ppt/slides/slide4.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9" name="직사각형 8">
            <a:extLst xmlns:a="http://schemas.openxmlformats.org/drawingml/2006/main">
              <a:ext uri="{FF2B5EF4-FFF2-40B4-BE49-F238E27FC236}">
                <a16:creationId xmlns:a16="http://schemas.microsoft.com/office/drawing/2014/main" id="{12DCF6B4-FB81-4151-ACA6-4D5348C08921}"/>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MBC 충북: 기사 정보와 뉴스 원고 확인</a:t>
            </a:r>
          </a:p>
        </p:txBody>
      </p:sp>
      <p:sp>
        <p:nvSpPr>
          <p:cNvPr id="2" name="직사각형 1">
            <a:extLst xmlns:a="http://schemas.openxmlformats.org/drawingml/2006/main">
              <a:ext uri="{FF2B5EF4-FFF2-40B4-BE49-F238E27FC236}">
                <a16:creationId xmlns:a16="http://schemas.microsoft.com/office/drawing/2014/main" id="{830617A6-8D35-4A01-B9E6-29614F1227ED}"/>
              </a:ext>
            </a:extLst>
          </p:cNvPr>
          <p:cNvSpPr>
            <a:spLocks xmlns:a="http://schemas.openxmlformats.org/drawingml/2006/main" noGrp="1"/>
          </p:cNvSpPr>
          <p:nvPr/>
        </p:nvSpPr>
        <p:spPr>
          <a:xfrm xmlns:a="http://schemas.openxmlformats.org/drawingml/2006/main">
            <a:off x="609600" y="13049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제목·기자·송고 시각·영상</a:t>
            </a:r>
          </a:p>
        </p:txBody>
      </p:sp>
      <p:sp>
        <p:nvSpPr>
          <p:cNvPr id="3" name="직사각형 2">
            <a:extLst xmlns:a="http://schemas.openxmlformats.org/drawingml/2006/main">
              <a:ext uri="{FF2B5EF4-FFF2-40B4-BE49-F238E27FC236}">
                <a16:creationId xmlns:a16="http://schemas.microsoft.com/office/drawing/2014/main" id="{974CE915-197D-4DCE-904C-1253E6973F15}"/>
              </a:ext>
            </a:extLst>
          </p:cNvPr>
          <p:cNvSpPr>
            <a:spLocks xmlns:a="http://schemas.openxmlformats.org/drawingml/2006/main" noGrp="1"/>
          </p:cNvSpPr>
          <p:nvPr/>
        </p:nvSpPr>
        <p:spPr>
          <a:xfrm xmlns:a="http://schemas.openxmlformats.org/drawingml/2006/main">
            <a:off x="6343650" y="13049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앵커·인터뷰를 포함한 원고</a:t>
            </a:r>
          </a:p>
        </p:txBody>
      </p:sp>
      <p:pic>
        <p:nvPicPr>
          <p:cNvPr id="4" name="그림 3">
            <a:extLst xmlns:a="http://schemas.openxmlformats.org/drawingml/2006/main">
              <a:ext uri="{FF2B5EF4-FFF2-40B4-BE49-F238E27FC236}">
                <a16:creationId xmlns:a16="http://schemas.microsoft.com/office/drawing/2014/main" id="{BC705CDC-C313-48A5-934C-69BE48612EF0}"/>
              </a:ext>
            </a:extLst>
          </p:cNvPr>
          <p:cNvPicPr>
            <a:picLocks xmlns:a="http://schemas.openxmlformats.org/drawingml/2006/main" noChangeAspect="1"/>
          </p:cNvPicPr>
          <p:nvPr/>
        </p:nvPicPr>
        <p:blipFill>
          <a:blip xmlns:r="http://schemas.openxmlformats.org/officeDocument/2006/relationships" xmlns:a="http://schemas.openxmlformats.org/drawingml/2006/main" r:embed="R8e062f194954420c"/>
          <a:stretch xmlns:a="http://schemas.openxmlformats.org/drawingml/2006/main"/>
        </p:blipFill>
        <p:spPr>
          <a:xfrm xmlns:a="http://schemas.openxmlformats.org/drawingml/2006/main">
            <a:off x="1146464" y="1809750"/>
            <a:ext cx="4165023" cy="3524250"/>
          </a:xfrm>
          <a:prstGeom xmlns:a="http://schemas.openxmlformats.org/drawingml/2006/main" prst="rect">
            <a:avLst/>
          </a:prstGeom>
        </p:spPr>
      </p:pic>
      <p:pic>
        <p:nvPicPr>
          <p:cNvPr id="5" name="그림 4">
            <a:extLst xmlns:a="http://schemas.openxmlformats.org/drawingml/2006/main">
              <a:ext uri="{FF2B5EF4-FFF2-40B4-BE49-F238E27FC236}">
                <a16:creationId xmlns:a16="http://schemas.microsoft.com/office/drawing/2014/main" id="{F0DFD9B3-89B2-400B-A916-3F7B72613CA3}"/>
              </a:ext>
            </a:extLst>
          </p:cNvPr>
          <p:cNvPicPr>
            <a:picLocks xmlns:a="http://schemas.openxmlformats.org/drawingml/2006/main" noChangeAspect="1"/>
          </p:cNvPicPr>
          <p:nvPr/>
        </p:nvPicPr>
        <p:blipFill>
          <a:blip xmlns:r="http://schemas.openxmlformats.org/officeDocument/2006/relationships" xmlns:a="http://schemas.openxmlformats.org/drawingml/2006/main" r:embed="Rfc01833c83874295"/>
          <a:stretch xmlns:a="http://schemas.openxmlformats.org/drawingml/2006/main"/>
        </p:blipFill>
        <p:spPr>
          <a:xfrm xmlns:a="http://schemas.openxmlformats.org/drawingml/2006/main">
            <a:off x="6343650" y="2059498"/>
            <a:ext cx="5238750" cy="3024754"/>
          </a:xfrm>
          <a:prstGeom xmlns:a="http://schemas.openxmlformats.org/drawingml/2006/main" prst="rect">
            <a:avLst/>
          </a:prstGeom>
        </p:spPr>
      </p:pic>
      <p:sp>
        <p:nvSpPr>
          <p:cNvPr id="6" name="직사각형 5">
            <a:extLst xmlns:a="http://schemas.openxmlformats.org/drawingml/2006/main">
              <a:ext uri="{FF2B5EF4-FFF2-40B4-BE49-F238E27FC236}">
                <a16:creationId xmlns:a16="http://schemas.microsoft.com/office/drawing/2014/main" id="{567D30A7-A84C-4A86-8668-C1DD8D7AA539}"/>
              </a:ext>
            </a:extLst>
          </p:cNvPr>
          <p:cNvSpPr>
            <a:spLocks xmlns:a="http://schemas.openxmlformats.org/drawingml/2006/main" noGrp="1"/>
          </p:cNvSpPr>
          <p:nvPr/>
        </p:nvSpPr>
        <p:spPr>
          <a:xfrm xmlns:a="http://schemas.openxmlformats.org/drawingml/2006/main">
            <a:off x="609600" y="55054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303044"/>
                </a:solidFill>
                <a:latin typeface="Malgun Gothic"/>
                <a:ea typeface="Malgun Gothic"/>
                <a:cs typeface="Malgun Gothic"/>
              </a:defRPr>
            </a:defPPr>
          </a:lstStyle>
          <a:p xmlns:a="http://schemas.openxmlformats.org/drawingml/2006/main">
            <a:pPr>
              <a:buNone/>
              <a:defRPr sz="1875" b="1">
                <a:solidFill>
                  <a:srgbClr val="303044"/>
                </a:solidFill>
                <a:latin typeface="Malgun Gothic"/>
                <a:ea typeface="Malgun Gothic"/>
                <a:cs typeface="Malgun Gothic"/>
              </a:defRPr>
            </a:pPr>
            <a:r>
              <a:rPr sz="1875" b="1">
                <a:solidFill>
                  <a:srgbClr val="303044"/>
                </a:solidFill>
                <a:latin typeface="Malgun Gothic"/>
                <a:ea typeface="Malgun Gothic"/>
                <a:cs typeface="Malgun Gothic"/>
              </a:rPr>
              <a:t>소풍·교육 한 번에.. 아이 동반 명소로 변신한 청남대</a:t>
            </a:r>
          </a:p>
        </p:txBody>
      </p:sp>
      <p:sp>
        <p:nvSpPr>
          <p:cNvPr id="7" name="직사각형 6">
            <a:extLst xmlns:a="http://schemas.openxmlformats.org/drawingml/2006/main">
              <a:ext uri="{FF2B5EF4-FFF2-40B4-BE49-F238E27FC236}">
                <a16:creationId xmlns:a16="http://schemas.microsoft.com/office/drawing/2014/main" id="{28C86C62-A240-4FD3-BE5A-BECC574A4BDD}"/>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기사 송고: 2026.10.11 17:01 / 데이터 존재 확인 완료, 자동 수집 검증은 별도 진행</a:t>
            </a:r>
          </a:p>
        </p:txBody>
      </p:sp>
      <p:sp>
        <p:nvSpPr>
          <p:cNvPr id="8" name="직사각형 7">
            <a:extLst xmlns:a="http://schemas.openxmlformats.org/drawingml/2006/main">
              <a:ext uri="{FF2B5EF4-FFF2-40B4-BE49-F238E27FC236}">
                <a16:creationId xmlns:a16="http://schemas.microsoft.com/office/drawing/2014/main" id="{12E78895-C102-4D2D-95A4-3051604E450F}"/>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04</a:t>
            </a:r>
          </a:p>
        </p:txBody>
      </p:sp>
    </p:spTree>
    <p:extLst>
      <p:ext uri="{BB962C8B-B14F-4D97-AF65-F5344CB8AC3E}">
        <p14:creationId xmlns:p14="http://schemas.microsoft.com/office/powerpoint/2010/main" val="910136699"/>
      </p:ext>
    </p:extLst>
  </p:cSld>
</p:sld>
</file>

<file path=ppt/slides/slide5.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11" name="직사각형 10">
            <a:extLst xmlns:a="http://schemas.openxmlformats.org/drawingml/2006/main">
              <a:ext uri="{FF2B5EF4-FFF2-40B4-BE49-F238E27FC236}">
                <a16:creationId xmlns:a16="http://schemas.microsoft.com/office/drawing/2014/main" id="{37031A1F-F67A-40CF-A65C-CA3B8184E8E2}"/>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CJ ENM: 자동 수집 제한과 페이지 직접 확인</a:t>
            </a:r>
          </a:p>
        </p:txBody>
      </p:sp>
      <p:pic>
        <p:nvPicPr>
          <p:cNvPr id="2" name="그림 1">
            <a:extLst xmlns:a="http://schemas.openxmlformats.org/drawingml/2006/main">
              <a:ext uri="{FF2B5EF4-FFF2-40B4-BE49-F238E27FC236}">
                <a16:creationId xmlns:a16="http://schemas.microsoft.com/office/drawing/2014/main" id="{9B7DCFFF-94BE-4C12-BFEC-DFF2EE18D7DD}"/>
              </a:ext>
            </a:extLst>
          </p:cNvPr>
          <p:cNvPicPr>
            <a:picLocks xmlns:a="http://schemas.openxmlformats.org/drawingml/2006/main" noChangeAspect="1"/>
          </p:cNvPicPr>
          <p:nvPr/>
        </p:nvPicPr>
        <p:blipFill>
          <a:blip xmlns:r="http://schemas.openxmlformats.org/officeDocument/2006/relationships" xmlns:a="http://schemas.openxmlformats.org/drawingml/2006/main" r:embed="R1b4fb03d7cde497c"/>
          <a:stretch xmlns:a="http://schemas.openxmlformats.org/drawingml/2006/main"/>
        </p:blipFill>
        <p:spPr>
          <a:xfrm xmlns:a="http://schemas.openxmlformats.org/drawingml/2006/main">
            <a:off x="610789" y="1419225"/>
            <a:ext cx="2874172" cy="4543425"/>
          </a:xfrm>
          <a:prstGeom xmlns:a="http://schemas.openxmlformats.org/drawingml/2006/main" prst="rect">
            <a:avLst/>
          </a:prstGeom>
        </p:spPr>
      </p:pic>
      <p:sp>
        <p:nvSpPr>
          <p:cNvPr id="3" name="직사각형 2">
            <a:extLst xmlns:a="http://schemas.openxmlformats.org/drawingml/2006/main">
              <a:ext uri="{FF2B5EF4-FFF2-40B4-BE49-F238E27FC236}">
                <a16:creationId xmlns:a16="http://schemas.microsoft.com/office/drawing/2014/main" id="{08B1C359-6A95-465F-8088-57AC318300A7}"/>
              </a:ext>
            </a:extLst>
          </p:cNvPr>
          <p:cNvSpPr>
            <a:spLocks xmlns:a="http://schemas.openxmlformats.org/drawingml/2006/main" noGrp="1"/>
          </p:cNvSpPr>
          <p:nvPr/>
        </p:nvSpPr>
        <p:spPr>
          <a:xfrm xmlns:a="http://schemas.openxmlformats.org/drawingml/2006/main">
            <a:off x="3952875" y="1428750"/>
            <a:ext cx="7629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API 호스트의 robots.txt에서 수집 제한 확인</a:t>
            </a:r>
          </a:p>
        </p:txBody>
      </p:sp>
      <p:sp>
        <p:nvSpPr>
          <p:cNvPr id="4" name="직사각형 3">
            <a:extLst xmlns:a="http://schemas.openxmlformats.org/drawingml/2006/main">
              <a:ext uri="{FF2B5EF4-FFF2-40B4-BE49-F238E27FC236}">
                <a16:creationId xmlns:a16="http://schemas.microsoft.com/office/drawing/2014/main" id="{2D247BB1-A00F-4E99-AC3C-AED968759C19}"/>
              </a:ext>
            </a:extLst>
          </p:cNvPr>
          <p:cNvSpPr>
            <a:spLocks xmlns:a="http://schemas.openxmlformats.org/drawingml/2006/main" noGrp="1"/>
          </p:cNvSpPr>
          <p:nvPr/>
        </p:nvSpPr>
        <p:spPr>
          <a:xfrm xmlns:a="http://schemas.openxmlformats.org/drawingml/2006/main">
            <a:off x="3952875" y="2076450"/>
            <a:ext cx="76295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03044"/>
                </a:solidFill>
                <a:latin typeface="Malgun Gothic"/>
                <a:ea typeface="Malgun Gothic"/>
                <a:cs typeface="Malgun Gothic"/>
              </a:defRPr>
            </a:defPPr>
          </a:lstStyle>
          <a:p xmlns:a="http://schemas.openxmlformats.org/drawingml/2006/main">
            <a:pPr>
              <a:buNone/>
              <a:defRPr sz="2175" b="1">
                <a:solidFill>
                  <a:srgbClr val="303044"/>
                </a:solidFill>
                <a:latin typeface="Malgun Gothic"/>
                <a:ea typeface="Malgun Gothic"/>
                <a:cs typeface="Malgun Gothic"/>
              </a:defRPr>
            </a:pPr>
            <a:r>
              <a:rPr sz="2175" b="1">
                <a:solidFill>
                  <a:srgbClr val="303044"/>
                </a:solidFill>
                <a:latin typeface="Malgun Gothic"/>
                <a:ea typeface="Malgun Gothic"/>
                <a:cs typeface="Malgun Gothic"/>
              </a:rPr>
              <a:t>User-Agent: *</a:t>
            </a:r>
          </a:p>
          <a:p xmlns:a="http://schemas.openxmlformats.org/drawingml/2006/main">
            <a:pPr>
              <a:buNone/>
              <a:defRPr sz="2175" b="1">
                <a:solidFill>
                  <a:srgbClr val="303044"/>
                </a:solidFill>
                <a:latin typeface="Malgun Gothic"/>
                <a:ea typeface="Malgun Gothic"/>
                <a:cs typeface="Malgun Gothic"/>
              </a:defRPr>
            </a:pPr>
            <a:r>
              <a:rPr sz="2175" b="1">
                <a:solidFill>
                  <a:srgbClr val="303044"/>
                </a:solidFill>
                <a:latin typeface="Malgun Gothic"/>
                <a:ea typeface="Malgun Gothic"/>
                <a:cs typeface="Malgun Gothic"/>
              </a:rPr>
              <a:t>Disallow: /</a:t>
            </a:r>
          </a:p>
        </p:txBody>
      </p:sp>
      <p:sp>
        <p:nvSpPr>
          <p:cNvPr id="5" name="직사각형 4">
            <a:extLst xmlns:a="http://schemas.openxmlformats.org/drawingml/2006/main">
              <a:ext uri="{FF2B5EF4-FFF2-40B4-BE49-F238E27FC236}">
                <a16:creationId xmlns:a16="http://schemas.microsoft.com/office/drawing/2014/main" id="{39516780-DDB6-4011-AAB6-D3B5E91CAB18}"/>
              </a:ext>
            </a:extLst>
          </p:cNvPr>
          <p:cNvSpPr>
            <a:spLocks xmlns:a="http://schemas.openxmlformats.org/drawingml/2006/main" noGrp="1"/>
          </p:cNvSpPr>
          <p:nvPr/>
        </p:nvSpPr>
        <p:spPr>
          <a:xfrm xmlns:a="http://schemas.openxmlformats.org/drawingml/2006/main">
            <a:off x="3952875" y="3286125"/>
            <a:ext cx="7629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716095"/>
                </a:solidFill>
                <a:latin typeface="Malgun Gothic"/>
                <a:ea typeface="Malgun Gothic"/>
                <a:cs typeface="Malgun Gothic"/>
              </a:defRPr>
            </a:defPPr>
          </a:lstStyle>
          <a:p xmlns:a="http://schemas.openxmlformats.org/drawingml/2006/main">
            <a:pPr>
              <a:buNone/>
              <a:defRPr sz="2250" b="1">
                <a:solidFill>
                  <a:srgbClr val="716095"/>
                </a:solidFill>
                <a:latin typeface="Malgun Gothic"/>
                <a:ea typeface="Malgun Gothic"/>
                <a:cs typeface="Malgun Gothic"/>
              </a:defRPr>
            </a:pPr>
            <a:r>
              <a:rPr sz="2250" b="1">
                <a:solidFill>
                  <a:srgbClr val="716095"/>
                </a:solidFill>
                <a:latin typeface="Malgun Gothic"/>
                <a:ea typeface="Malgun Gothic"/>
                <a:cs typeface="Malgun Gothic"/>
              </a:rPr>
              <a:t>자동화 크롤러의 접근·수집: 정책상 제한</a:t>
            </a:r>
          </a:p>
        </p:txBody>
      </p:sp>
      <p:sp>
        <p:nvSpPr>
          <p:cNvPr id="6" name="직사각형 5">
            <a:extLst xmlns:a="http://schemas.openxmlformats.org/drawingml/2006/main">
              <a:ext uri="{FF2B5EF4-FFF2-40B4-BE49-F238E27FC236}">
                <a16:creationId xmlns:a16="http://schemas.microsoft.com/office/drawing/2014/main" id="{67F50303-FB3E-47EE-B999-C46572DFF01C}"/>
              </a:ext>
            </a:extLst>
          </p:cNvPr>
          <p:cNvSpPr>
            <a:spLocks xmlns:a="http://schemas.openxmlformats.org/drawingml/2006/main" noGrp="1"/>
          </p:cNvSpPr>
          <p:nvPr/>
        </p:nvSpPr>
        <p:spPr>
          <a:xfrm xmlns:a="http://schemas.openxmlformats.org/drawingml/2006/main">
            <a:off x="3952875" y="3800475"/>
            <a:ext cx="76295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일반 크롤러에 전체 경로 제한 명시</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지속적인 자동 수집 적용은 허용 범위 확인 후 결정</a:t>
            </a:r>
          </a:p>
        </p:txBody>
      </p:sp>
      <p:sp>
        <p:nvSpPr>
          <p:cNvPr id="7" name="직사각형 6">
            <a:extLst xmlns:a="http://schemas.openxmlformats.org/drawingml/2006/main">
              <a:ext uri="{FF2B5EF4-FFF2-40B4-BE49-F238E27FC236}">
                <a16:creationId xmlns:a16="http://schemas.microsoft.com/office/drawing/2014/main" id="{D2678C99-9537-497A-906A-FFDB1AE9AA43}"/>
              </a:ext>
            </a:extLst>
          </p:cNvPr>
          <p:cNvSpPr>
            <a:spLocks xmlns:a="http://schemas.openxmlformats.org/drawingml/2006/main" noGrp="1"/>
          </p:cNvSpPr>
          <p:nvPr/>
        </p:nvSpPr>
        <p:spPr>
          <a:xfrm xmlns:a="http://schemas.openxmlformats.org/drawingml/2006/main">
            <a:off x="3952875" y="4781550"/>
            <a:ext cx="7629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사람이 상세페이지에 접속해 API 응답 확인</a:t>
            </a:r>
          </a:p>
        </p:txBody>
      </p:sp>
      <p:sp>
        <p:nvSpPr>
          <p:cNvPr id="8" name="직사각형 7">
            <a:extLst xmlns:a="http://schemas.openxmlformats.org/drawingml/2006/main">
              <a:ext uri="{FF2B5EF4-FFF2-40B4-BE49-F238E27FC236}">
                <a16:creationId xmlns:a16="http://schemas.microsoft.com/office/drawing/2014/main" id="{66D80350-DAA6-41A1-8521-36CC2EDC80C4}"/>
              </a:ext>
            </a:extLst>
          </p:cNvPr>
          <p:cNvSpPr>
            <a:spLocks xmlns:a="http://schemas.openxmlformats.org/drawingml/2006/main" noGrp="1"/>
          </p:cNvSpPr>
          <p:nvPr/>
        </p:nvSpPr>
        <p:spPr>
          <a:xfrm xmlns:a="http://schemas.openxmlformats.org/drawingml/2006/main">
            <a:off x="3952875" y="5276850"/>
            <a:ext cx="7629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페이지가 요청한 응답에 작품 소개·제작진·인물 정보 존재</a:t>
            </a:r>
          </a:p>
        </p:txBody>
      </p:sp>
      <p:sp>
        <p:nvSpPr>
          <p:cNvPr id="9" name="직사각형 8">
            <a:extLst xmlns:a="http://schemas.openxmlformats.org/drawingml/2006/main">
              <a:ext uri="{FF2B5EF4-FFF2-40B4-BE49-F238E27FC236}">
                <a16:creationId xmlns:a16="http://schemas.microsoft.com/office/drawing/2014/main" id="{5F73614D-F6F4-4F9F-AB60-A3AFA7B4FE93}"/>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자동 수집 제한 확인 후 브라우저에서 데이터 존재 점검 / 직접 API 조회 결과는 다음 검증에서 설명</a:t>
            </a:r>
          </a:p>
        </p:txBody>
      </p:sp>
      <p:sp>
        <p:nvSpPr>
          <p:cNvPr id="10" name="직사각형 9">
            <a:extLst xmlns:a="http://schemas.openxmlformats.org/drawingml/2006/main">
              <a:ext uri="{FF2B5EF4-FFF2-40B4-BE49-F238E27FC236}">
                <a16:creationId xmlns:a16="http://schemas.microsoft.com/office/drawing/2014/main" id="{3D012AD1-2895-4C24-A6C8-1F01B1E21B08}"/>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05</a:t>
            </a:r>
          </a:p>
        </p:txBody>
      </p:sp>
    </p:spTree>
    <p:extLst>
      <p:ext uri="{BB962C8B-B14F-4D97-AF65-F5344CB8AC3E}">
        <p14:creationId xmlns:p14="http://schemas.microsoft.com/office/powerpoint/2010/main" val="1330298906"/>
      </p:ext>
    </p:extLst>
  </p:cSld>
</p:sld>
</file>

<file path=ppt/slides/slide6.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7" name="직사각형 6">
            <a:extLst xmlns:a="http://schemas.openxmlformats.org/drawingml/2006/main">
              <a:ext uri="{FF2B5EF4-FFF2-40B4-BE49-F238E27FC236}">
                <a16:creationId xmlns:a16="http://schemas.microsoft.com/office/drawing/2014/main" id="{B0E72042-D7E3-4864-BE56-F4E820ED05EA}"/>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CJ ENM 상세페이지에서 확인한 작품 정보</a:t>
            </a:r>
          </a:p>
        </p:txBody>
      </p:sp>
      <p:pic>
        <p:nvPicPr>
          <p:cNvPr id="2" name="그림 1">
            <a:extLst xmlns:a="http://schemas.openxmlformats.org/drawingml/2006/main">
              <a:ext uri="{FF2B5EF4-FFF2-40B4-BE49-F238E27FC236}">
                <a16:creationId xmlns:a16="http://schemas.microsoft.com/office/drawing/2014/main" id="{064AA1F6-D329-4B6E-BB43-0DAB566FB932}"/>
              </a:ext>
            </a:extLst>
          </p:cNvPr>
          <p:cNvPicPr>
            <a:picLocks xmlns:a="http://schemas.openxmlformats.org/drawingml/2006/main" noChangeAspect="1"/>
          </p:cNvPicPr>
          <p:nvPr/>
        </p:nvPicPr>
        <p:blipFill>
          <a:blip xmlns:r="http://schemas.openxmlformats.org/officeDocument/2006/relationships" xmlns:a="http://schemas.openxmlformats.org/drawingml/2006/main" r:embed="R36d32961ada84bf9"/>
          <a:stretch xmlns:a="http://schemas.openxmlformats.org/drawingml/2006/main"/>
        </p:blipFill>
        <p:spPr>
          <a:xfrm xmlns:a="http://schemas.openxmlformats.org/drawingml/2006/main">
            <a:off x="727309" y="1352550"/>
            <a:ext cx="3498382" cy="4648200"/>
          </a:xfrm>
          <a:prstGeom xmlns:a="http://schemas.openxmlformats.org/drawingml/2006/main" prst="rect">
            <a:avLst/>
          </a:prstGeom>
        </p:spPr>
      </p:pic>
      <p:graphicFrame>
        <p:nvGraphicFramePr>
          <p:cNvPr id="3" name="표 2">
            <a:extLst xmlns:a="http://schemas.openxmlformats.org/drawingml/2006/main">
              <a:ext uri="{FF2B5EF4-FFF2-40B4-BE49-F238E27FC236}">
                <a16:creationId xmlns:a16="http://schemas.microsoft.com/office/drawing/2014/main" id="{8316445D-0D97-4D10-8B41-AAA4018B9D5C}"/>
              </a:ext>
            </a:extLst>
          </p:cNvPr>
          <p:cNvGraphicFramePr/>
          <p:nvPr/>
        </p:nvGraphicFramePr>
        <p:xfrm>
          <a:off xmlns:a="http://schemas.openxmlformats.org/drawingml/2006/main" x="4724400" y="1438275"/>
          <a:ext xmlns:a="http://schemas.openxmlformats.org/drawingml/2006/main" cx="6858000" cy="3435035"/>
        </p:xfrm>
        <a:graphic xmlns:a="http://schemas.openxmlformats.org/drawingml/2006/main">
          <a:graphicData uri="http://schemas.openxmlformats.org/drawingml/2006/table">
            <a:tbl>
              <a:tblPr/>
              <a:tblGrid>
                <a:gridCol w="1666875"/>
                <a:gridCol w="5191125"/>
              </a:tblGrid>
              <a:tr h="563563">
                <a:tc>
                  <a:txBody>
                    <a:bodyPr/>
                    <a:lstStyle/>
                    <a:p>
                      <a:r>
                        <a:rPr sz="1725"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a:lstStyle/>
                    <a:p>
                      <a:r>
                        <a:rPr sz="1725" b="1">
                          <a:solidFill>
                            <a:srgbClr val="716095"/>
                          </a:solidFill>
                          <a:latin typeface="Malgun Gothic"/>
                          <a:ea typeface="Malgun Gothic"/>
                          <a:cs typeface="Malgun Gothic"/>
                        </a:rPr>
                        <a:t>화면에서 확인한 정보</a:t>
                      </a:r>
                    </a:p>
                  </a:txBody>
                  <a:tcPr marL="91440" marR="91440" marT="45720" marB="45720" anchor="ctr">
                    <a:solidFill>
                      <a:srgbClr val="EEEBF7"/>
                    </a:solidFill>
                  </a:tcPr>
                </a:tc>
              </a:tr>
              <a:tr h="563563">
                <a:tc>
                  <a:txBody>
                    <a:bodyPr/>
                    <a:lstStyle/>
                    <a:p>
                      <a:r>
                        <a:rPr sz="1725" b="0">
                          <a:solidFill>
                            <a:srgbClr val="303044"/>
                          </a:solidFill>
                          <a:latin typeface="Malgun Gothic"/>
                          <a:ea typeface="Malgun Gothic"/>
                          <a:cs typeface="Malgun Gothic"/>
                        </a:rPr>
                        <a:t>기본 정보</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포핸즈, tvN, 12회</a:t>
                      </a:r>
                    </a:p>
                  </a:txBody>
                  <a:tcPr marL="91440" marR="91440" marT="45720" marB="45720" anchor="ctr">
                    <a:solidFill>
                      <a:srgbClr val="FFFFFF"/>
                    </a:solidFill>
                  </a:tcPr>
                </a:tc>
              </a:tr>
              <a:tr h="563563">
                <a:tc>
                  <a:txBody>
                    <a:bodyPr/>
                    <a:lstStyle/>
                    <a:p>
                      <a:r>
                        <a:rPr sz="1725" b="0">
                          <a:solidFill>
                            <a:srgbClr val="303044"/>
                          </a:solidFill>
                          <a:latin typeface="Malgun Gothic"/>
                          <a:ea typeface="Malgun Gothic"/>
                          <a:cs typeface="Malgun Gothic"/>
                        </a:rPr>
                        <a:t>제작진</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연출 박현석 / 극본 신이원</a:t>
                      </a:r>
                    </a:p>
                  </a:txBody>
                  <a:tcPr marL="91440" marR="91440" marT="45720" marB="45720" anchor="ctr">
                    <a:solidFill>
                      <a:srgbClr val="FFFFFF"/>
                    </a:solidFill>
                  </a:tcPr>
                </a:tc>
              </a:tr>
              <a:tr h="563563">
                <a:tc>
                  <a:txBody>
                    <a:bodyPr/>
                    <a:lstStyle/>
                    <a:p>
                      <a:r>
                        <a:rPr sz="1725" b="0">
                          <a:solidFill>
                            <a:srgbClr val="303044"/>
                          </a:solidFill>
                          <a:latin typeface="Malgun Gothic"/>
                          <a:ea typeface="Malgun Gothic"/>
                          <a:cs typeface="Malgun Gothic"/>
                        </a:rPr>
                        <a:t>출연진</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송강, 이준영, 장규리, 정진영</a:t>
                      </a:r>
                    </a:p>
                  </a:txBody>
                  <a:tcPr marL="91440" marR="91440" marT="45720" marB="45720" anchor="ctr">
                    <a:solidFill>
                      <a:srgbClr val="FFFFFF"/>
                    </a:solidFill>
                  </a:tcPr>
                </a:tc>
              </a:tr>
              <a:tr h="563563">
                <a:tc>
                  <a:txBody>
                    <a:bodyPr/>
                    <a:lstStyle/>
                    <a:p>
                      <a:r>
                        <a:rPr sz="1725" b="0">
                          <a:solidFill>
                            <a:srgbClr val="303044"/>
                          </a:solidFill>
                          <a:latin typeface="Malgun Gothic"/>
                          <a:ea typeface="Malgun Gothic"/>
                          <a:cs typeface="Malgun Gothic"/>
                        </a:rPr>
                        <a:t>등장인물</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강비오(송강), 최정요(이준영)</a:t>
                      </a:r>
                    </a:p>
                    <a:p>
                      <a:r>
                        <a:rPr sz="1725" b="0">
                          <a:solidFill>
                            <a:srgbClr val="303044"/>
                          </a:solidFill>
                          <a:latin typeface="Malgun Gothic"/>
                          <a:ea typeface="Malgun Gothic"/>
                          <a:cs typeface="Malgun Gothic"/>
                        </a:rPr>
                        <a:t>출연진 4명 중 2명 정보만 제공</a:t>
                      </a:r>
                    </a:p>
                  </a:txBody>
                  <a:tcPr marL="91440" marR="91440" marT="45720" marB="45720" anchor="ctr">
                    <a:solidFill>
                      <a:srgbClr val="FFFFFF"/>
                    </a:solidFill>
                  </a:tcPr>
                </a:tc>
              </a:tr>
              <a:tr h="563563">
                <a:tc>
                  <a:txBody>
                    <a:bodyPr/>
                    <a:lstStyle/>
                    <a:p>
                      <a:r>
                        <a:rPr sz="1725" b="0">
                          <a:solidFill>
                            <a:srgbClr val="303044"/>
                          </a:solidFill>
                          <a:latin typeface="Malgun Gothic"/>
                          <a:ea typeface="Malgun Gothic"/>
                          <a:cs typeface="Malgun Gothic"/>
                        </a:rPr>
                        <a:t>TVING 연결</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P001790301 / 동일 작품 URL</a:t>
                      </a:r>
                    </a:p>
                  </a:txBody>
                  <a:tcPr marL="91440" marR="91440" marT="45720" marB="45720" anchor="ctr">
                    <a:solidFill>
                      <a:srgbClr val="FFFFFF"/>
                    </a:solidFill>
                  </a:tcPr>
                </a:tc>
              </a:tr>
            </a:tbl>
          </a:graphicData>
        </a:graphic>
      </p:graphicFrame>
      <p:sp>
        <p:nvSpPr>
          <p:cNvPr id="4" name="직사각형 3">
            <a:extLst xmlns:a="http://schemas.openxmlformats.org/drawingml/2006/main">
              <a:ext uri="{FF2B5EF4-FFF2-40B4-BE49-F238E27FC236}">
                <a16:creationId xmlns:a16="http://schemas.microsoft.com/office/drawing/2014/main" id="{43107228-6E9A-45FC-8799-BCCD4DBF8844}"/>
              </a:ext>
            </a:extLst>
          </p:cNvPr>
          <p:cNvSpPr>
            <a:spLocks xmlns:a="http://schemas.openxmlformats.org/drawingml/2006/main" noGrp="1"/>
          </p:cNvSpPr>
          <p:nvPr/>
        </p:nvSpPr>
        <p:spPr>
          <a:xfrm xmlns:a="http://schemas.openxmlformats.org/drawingml/2006/main">
            <a:off x="4724400" y="5133975"/>
            <a:ext cx="685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등장인물 설명은 화면의 출연진 전체를 다루지 않음</a:t>
            </a:r>
          </a:p>
        </p:txBody>
      </p:sp>
      <p:sp>
        <p:nvSpPr>
          <p:cNvPr id="5" name="직사각형 4">
            <a:extLst xmlns:a="http://schemas.openxmlformats.org/drawingml/2006/main">
              <a:ext uri="{FF2B5EF4-FFF2-40B4-BE49-F238E27FC236}">
                <a16:creationId xmlns:a16="http://schemas.microsoft.com/office/drawing/2014/main" id="{2C3A6030-0FA0-4D26-9318-26F39D0FE951}"/>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화면 기본 정보에는 연령 등급 미표시 / 15세 이상은 API 응답에서 확인</a:t>
            </a:r>
          </a:p>
        </p:txBody>
      </p:sp>
      <p:sp>
        <p:nvSpPr>
          <p:cNvPr id="6" name="직사각형 5">
            <a:extLst xmlns:a="http://schemas.openxmlformats.org/drawingml/2006/main">
              <a:ext uri="{FF2B5EF4-FFF2-40B4-BE49-F238E27FC236}">
                <a16:creationId xmlns:a16="http://schemas.microsoft.com/office/drawing/2014/main" id="{99446A49-A0F4-4CAF-AE05-D01797387AE2}"/>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06</a:t>
            </a:r>
          </a:p>
        </p:txBody>
      </p:sp>
    </p:spTree>
    <p:extLst>
      <p:ext uri="{BB962C8B-B14F-4D97-AF65-F5344CB8AC3E}">
        <p14:creationId xmlns:p14="http://schemas.microsoft.com/office/powerpoint/2010/main" val="84728214"/>
      </p:ext>
    </p:extLst>
  </p:cSld>
</p:sld>
</file>

<file path=ppt/slides/slide7.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pic>
        <p:nvPicPr>
          <p:cNvPr id="2" name="그림 1">
            <a:extLst xmlns:a="http://schemas.openxmlformats.org/drawingml/2006/main">
              <a:ext uri="{FF2B5EF4-FFF2-40B4-BE49-F238E27FC236}">
                <a16:creationId xmlns:a16="http://schemas.microsoft.com/office/drawing/2014/main" id="{6C1973B9-32F6-44DF-A4B4-3FCD80DDE4A6}"/>
              </a:ext>
            </a:extLst>
          </p:cNvPr>
          <p:cNvPicPr>
            <a:picLocks xmlns:a="http://schemas.openxmlformats.org/drawingml/2006/main" noChangeAspect="1"/>
          </p:cNvPicPr>
          <p:nvPr/>
        </p:nvPicPr>
        <p:blipFill>
          <a:blip xmlns:r="http://schemas.openxmlformats.org/officeDocument/2006/relationships" xmlns:a="http://schemas.openxmlformats.org/drawingml/2006/main" r:embed="R9d487903073d4202"/>
          <a:stretch xmlns:a="http://schemas.openxmlformats.org/drawingml/2006/main"/>
        </p:blipFill>
        <p:spPr>
          <a:xfrm xmlns:a="http://schemas.openxmlformats.org/drawingml/2006/main">
            <a:off x="609600" y="1809750"/>
            <a:ext cx="2952750" cy="32766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D63912D-ED2F-498D-90DD-B72E9E7308F9}"/>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CJ ENM: 화면 정보와 API 응답 비교</a:t>
            </a:r>
          </a:p>
        </p:txBody>
      </p:sp>
      <p:sp>
        <p:nvSpPr>
          <p:cNvPr id="4" name="">
            <a:extLst xmlns:a="http://schemas.openxmlformats.org/drawingml/2006/main">
              <a:ext uri="{FF2B5EF4-FFF2-40B4-BE49-F238E27FC236}">
                <a16:creationId xmlns:a16="http://schemas.microsoft.com/office/drawing/2014/main" id="{46D3745F-C814-4982-8324-AC2F83BDC91F}"/>
              </a:ext>
            </a:extLst>
          </p:cNvPr>
          <p:cNvSpPr>
            <a:spLocks xmlns:a="http://schemas.openxmlformats.org/drawingml/2006/main" noGrp="1"/>
          </p:cNvSpPr>
          <p:nvPr/>
        </p:nvSpPr>
        <p:spPr>
          <a:xfrm xmlns:a="http://schemas.openxmlformats.org/drawingml/2006/main">
            <a:off x="609600" y="1362075"/>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716095"/>
                </a:solidFill>
                <a:latin typeface="Malgun Gothic"/>
                <a:ea typeface="Malgun Gothic"/>
                <a:cs typeface="Malgun Gothic"/>
              </a:defRPr>
            </a:defPPr>
          </a:lstStyle>
          <a:p xmlns:a="http://schemas.openxmlformats.org/drawingml/2006/main">
            <a:pPr>
              <a:buNone/>
              <a:defRPr sz="1950" b="1">
                <a:solidFill>
                  <a:srgbClr val="716095"/>
                </a:solidFill>
                <a:latin typeface="Malgun Gothic"/>
                <a:ea typeface="Malgun Gothic"/>
                <a:cs typeface="Malgun Gothic"/>
              </a:defRPr>
            </a:pPr>
            <a:r>
              <a:rPr sz="1950" b="1">
                <a:solidFill>
                  <a:srgbClr val="716095"/>
                </a:solidFill>
                <a:latin typeface="Malgun Gothic"/>
                <a:ea typeface="Malgun Gothic"/>
                <a:cs typeface="Malgun Gothic"/>
              </a:rPr>
              <a:t>프로그램 API 응답</a:t>
            </a:r>
          </a:p>
        </p:txBody>
      </p:sp>
      <p:graphicFrame>
        <p:nvGraphicFramePr>
          <p:cNvPr id="5" name="">
            <a:extLst xmlns:a="http://schemas.openxmlformats.org/drawingml/2006/main">
              <a:ext uri="{FF2B5EF4-FFF2-40B4-BE49-F238E27FC236}">
                <a16:creationId xmlns:a16="http://schemas.microsoft.com/office/drawing/2014/main" id="{E1EBD83D-697A-48E8-9436-94E16EB72176}"/>
              </a:ext>
            </a:extLst>
          </p:cNvPr>
          <p:cNvGraphicFramePr/>
          <p:nvPr/>
        </p:nvGraphicFramePr>
        <p:xfrm>
          <a:off xmlns:a="http://schemas.openxmlformats.org/drawingml/2006/main" x="3952875" y="1438275"/>
          <a:ext xmlns:a="http://schemas.openxmlformats.org/drawingml/2006/main" cx="7629525" cy="3657600"/>
        </p:xfrm>
        <a:graphic xmlns:a="http://schemas.openxmlformats.org/drawingml/2006/main">
          <a:graphicData uri="http://schemas.openxmlformats.org/drawingml/2006/table">
            <a:tbl>
              <a:tblPr/>
              <a:tblGrid>
                <a:gridCol w="1381125"/>
                <a:gridCol w="2143125"/>
                <a:gridCol w="4105275"/>
              </a:tblGrid>
              <a:tr h="609600">
                <a:tc>
                  <a:txBody>
                    <a:bodyPr lIns="114300" tIns="114300" rIns="114300" bIns="114300"/>
                    <a:lstStyle/>
                    <a:p>
                      <a:r>
                        <a:rPr sz="1725"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화면에서 확인</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API 응답으로 확인</a:t>
                      </a:r>
                    </a:p>
                  </a:txBody>
                  <a:tcPr marL="91440" marR="91440" marT="45720" marB="45720" anchor="ctr">
                    <a:solidFill>
                      <a:srgbClr val="EEEBF7"/>
                    </a:solidFill>
                  </a:tcPr>
                </a:tc>
              </a:tr>
              <a:tr h="609600">
                <a:tc>
                  <a:txBody>
                    <a:bodyPr lIns="114300" tIns="114300" rIns="114300" bIns="114300"/>
                    <a:lstStyle/>
                    <a:p>
                      <a:r>
                        <a:rPr sz="1725" b="0">
                          <a:solidFill>
                            <a:srgbClr val="303044"/>
                          </a:solidFill>
                          <a:latin typeface="Malgun Gothic"/>
                          <a:ea typeface="Malgun Gothic"/>
                          <a:cs typeface="Malgun Gothic"/>
                        </a:rPr>
                        <a:t>시청 등급</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미표시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15세 이상 / 추가 정보</a:t>
                      </a:r>
                    </a:p>
                  </a:txBody>
                  <a:tcPr marL="91440" marR="91440" marT="45720" marB="45720" anchor="ctr">
                    <a:solidFill>
                      <a:srgbClr val="FFFFFF"/>
                    </a:solidFill>
                  </a:tcPr>
                </a:tc>
              </a:tr>
              <a:tr h="609600">
                <a:tc>
                  <a:txBody>
                    <a:bodyPr lIns="114300" tIns="114300" rIns="114300" bIns="114300"/>
                    <a:lstStyle/>
                    <a:p>
                      <a:r>
                        <a:rPr sz="1725" b="0">
                          <a:solidFill>
                            <a:srgbClr val="303044"/>
                          </a:solidFill>
                          <a:latin typeface="Malgun Gothic"/>
                          <a:ea typeface="Malgun Gothic"/>
                          <a:cs typeface="Malgun Gothic"/>
                        </a:rPr>
                        <a:t>작품 소개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접힌 소개문 일부</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전체 소개문 텍스트 반환</a:t>
                      </a:r>
                    </a:p>
                  </a:txBody>
                  <a:tcPr marL="91440" marR="91440" marT="45720" marB="45720" anchor="ctr">
                    <a:solidFill>
                      <a:srgbClr val="FFFFFF"/>
                    </a:solidFill>
                  </a:tcPr>
                </a:tc>
              </a:tr>
              <a:tr h="609600">
                <a:tc>
                  <a:txBody>
                    <a:bodyPr lIns="114300" tIns="114300" rIns="114300" bIns="114300"/>
                    <a:lstStyle/>
                    <a:p>
                      <a:r>
                        <a:rPr sz="1725" b="0">
                          <a:solidFill>
                            <a:srgbClr val="303044"/>
                          </a:solidFill>
                          <a:latin typeface="Malgun Gothic"/>
                          <a:ea typeface="Malgun Gothic"/>
                          <a:cs typeface="Malgun Gothic"/>
                        </a:rPr>
                        <a:t>제작·출연</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연출·극본·4명 출연진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동일 정보를 필드별 JSON으로 제공</a:t>
                      </a:r>
                    </a:p>
                  </a:txBody>
                  <a:tcPr marL="91440" marR="91440" marT="45720" marB="45720" anchor="ctr">
                    <a:solidFill>
                      <a:srgbClr val="FFFFFF"/>
                    </a:solidFill>
                  </a:tcPr>
                </a:tc>
              </a:tr>
              <a:tr h="609600">
                <a:tc>
                  <a:txBody>
                    <a:bodyPr lIns="114300" tIns="114300" rIns="114300" bIns="114300"/>
                    <a:lstStyle/>
                    <a:p>
                      <a:r>
                        <a:rPr sz="1725" b="0">
                          <a:solidFill>
                            <a:srgbClr val="303044"/>
                          </a:solidFill>
                          <a:latin typeface="Malgun Gothic"/>
                          <a:ea typeface="Malgun Gothic"/>
                          <a:cs typeface="Malgun Gothic"/>
                        </a:rPr>
                        <a:t>등장인물</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2명 설명</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동일한 2명 / 추가 인물 없음</a:t>
                      </a:r>
                    </a:p>
                  </a:txBody>
                  <a:tcPr marL="91440" marR="91440" marT="45720" marB="45720" anchor="ctr">
                    <a:solidFill>
                      <a:srgbClr val="FFFFFF"/>
                    </a:solidFill>
                  </a:tcPr>
                </a:tc>
              </a:tr>
              <a:tr h="609600">
                <a:tc>
                  <a:txBody>
                    <a:bodyPr lIns="114300" tIns="114300" rIns="114300" bIns="114300"/>
                    <a:lstStyle/>
                    <a:p>
                      <a:r>
                        <a:rPr sz="1725" b="0">
                          <a:solidFill>
                            <a:srgbClr val="303044"/>
                          </a:solidFill>
                          <a:latin typeface="Malgun Gothic"/>
                          <a:ea typeface="Malgun Gothic"/>
                          <a:cs typeface="Malgun Gothic"/>
                        </a:rPr>
                        <a:t>회차 정보</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총 12회</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총 12회 / 회차별 시놉시스 없음</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F2C21FE-8C49-4EE2-9DBC-9D211EE69518}"/>
              </a:ext>
            </a:extLst>
          </p:cNvPr>
          <p:cNvSpPr>
            <a:spLocks xmlns:a="http://schemas.openxmlformats.org/drawingml/2006/main" noGrp="1"/>
          </p:cNvSpPr>
          <p:nvPr/>
        </p:nvSpPr>
        <p:spPr>
          <a:xfrm xmlns:a="http://schemas.openxmlformats.org/drawingml/2006/main">
            <a:off x="609600" y="54292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추가 확인: 연령 등급 / 전체 소개문 텍스트 확보</a:t>
            </a:r>
          </a:p>
        </p:txBody>
      </p:sp>
      <p:sp>
        <p:nvSpPr>
          <p:cNvPr id="7" name="">
            <a:extLst xmlns:a="http://schemas.openxmlformats.org/drawingml/2006/main">
              <a:ext uri="{FF2B5EF4-FFF2-40B4-BE49-F238E27FC236}">
                <a16:creationId xmlns:a16="http://schemas.microsoft.com/office/drawing/2014/main" id="{AD8420D4-C243-47C9-9245-833E54E98B0D}"/>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화면의 더보기 펼침은 별도 확인 / 두 API의 직접 조회와 JSON 저장 검증 완료</a:t>
            </a:r>
          </a:p>
        </p:txBody>
      </p:sp>
      <p:sp>
        <p:nvSpPr>
          <p:cNvPr id="8" name="">
            <a:extLst xmlns:a="http://schemas.openxmlformats.org/drawingml/2006/main">
              <a:ext uri="{FF2B5EF4-FFF2-40B4-BE49-F238E27FC236}">
                <a16:creationId xmlns:a16="http://schemas.microsoft.com/office/drawing/2014/main" id="{A1CF1561-623C-48DB-8EC0-669184254096}"/>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07</a:t>
            </a:r>
          </a:p>
        </p:txBody>
      </p:sp>
    </p:spTree>
    <p:extLst>
      <p:ext uri="{BB962C8B-B14F-4D97-AF65-F5344CB8AC3E}">
        <p14:creationId xmlns:p14="http://schemas.microsoft.com/office/powerpoint/2010/main" val="1960288279"/>
      </p:ext>
    </p:extLst>
  </p:cSld>
</p:sld>
</file>

<file path=ppt/slides/slide8.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pic>
        <p:nvPicPr>
          <p:cNvPr id="2" name="그림 1">
            <a:extLst xmlns:a="http://schemas.openxmlformats.org/drawingml/2006/main">
              <a:ext uri="{FF2B5EF4-FFF2-40B4-BE49-F238E27FC236}">
                <a16:creationId xmlns:a16="http://schemas.microsoft.com/office/drawing/2014/main" id="{5BBF3881-37A2-4796-8E10-8D27BA63B251}"/>
              </a:ext>
            </a:extLst>
          </p:cNvPr>
          <p:cNvPicPr>
            <a:picLocks xmlns:a="http://schemas.openxmlformats.org/drawingml/2006/main" noChangeAspect="1"/>
          </p:cNvPicPr>
          <p:nvPr/>
        </p:nvPicPr>
        <p:blipFill>
          <a:blip xmlns:r="http://schemas.openxmlformats.org/officeDocument/2006/relationships" xmlns:a="http://schemas.openxmlformats.org/drawingml/2006/main" r:embed="R4220108a1fa949c5"/>
          <a:stretch xmlns:a="http://schemas.openxmlformats.org/drawingml/2006/main"/>
        </p:blipFill>
        <p:spPr>
          <a:xfrm xmlns:a="http://schemas.openxmlformats.org/drawingml/2006/main">
            <a:off x="609600" y="1438275"/>
            <a:ext cx="2952750" cy="16097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3FA42BE-7811-43F6-9C45-6910DD01079B}"/>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TVING: CJ ENM 정보에 추가되는 작품·회차 정보</a:t>
            </a:r>
          </a:p>
        </p:txBody>
      </p:sp>
      <p:sp>
        <p:nvSpPr>
          <p:cNvPr id="4" name="">
            <a:extLst xmlns:a="http://schemas.openxmlformats.org/drawingml/2006/main">
              <a:ext uri="{FF2B5EF4-FFF2-40B4-BE49-F238E27FC236}">
                <a16:creationId xmlns:a16="http://schemas.microsoft.com/office/drawing/2014/main" id="{F7F687C0-0EC7-4815-9A3A-CDFD4326B5A7}"/>
              </a:ext>
            </a:extLst>
          </p:cNvPr>
          <p:cNvSpPr>
            <a:spLocks xmlns:a="http://schemas.openxmlformats.org/drawingml/2006/main" noGrp="1"/>
          </p:cNvSpPr>
          <p:nvPr/>
        </p:nvSpPr>
        <p:spPr>
          <a:xfrm xmlns:a="http://schemas.openxmlformats.org/drawingml/2006/main">
            <a:off x="609600" y="3267075"/>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같은 작품: 포핸즈</a:t>
            </a:r>
          </a:p>
        </p:txBody>
      </p:sp>
      <p:sp>
        <p:nvSpPr>
          <p:cNvPr id="5" name="">
            <a:extLst xmlns:a="http://schemas.openxmlformats.org/drawingml/2006/main">
              <a:ext uri="{FF2B5EF4-FFF2-40B4-BE49-F238E27FC236}">
                <a16:creationId xmlns:a16="http://schemas.microsoft.com/office/drawing/2014/main" id="{A1CAB698-412A-49AD-ACA2-B10C76D4BE51}"/>
              </a:ext>
            </a:extLst>
          </p:cNvPr>
          <p:cNvSpPr>
            <a:spLocks xmlns:a="http://schemas.openxmlformats.org/drawingml/2006/main" noGrp="1"/>
          </p:cNvSpPr>
          <p:nvPr/>
        </p:nvSpPr>
        <p:spPr>
          <a:xfrm xmlns:a="http://schemas.openxmlformats.org/drawingml/2006/main">
            <a:off x="609600" y="3829050"/>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303044"/>
                </a:solidFill>
                <a:latin typeface="Malgun Gothic"/>
                <a:ea typeface="Malgun Gothic"/>
                <a:cs typeface="Malgun Gothic"/>
              </a:defRPr>
            </a:defPPr>
          </a:lstStyle>
          <a:p xmlns:a="http://schemas.openxmlformats.org/drawingml/2006/main">
            <a:pPr>
              <a:defRPr sz="1725" b="0">
                <a:solidFill>
                  <a:srgbClr val="303044"/>
                </a:solidFill>
                <a:latin typeface="Malgun Gothic"/>
                <a:ea typeface="Malgun Gothic"/>
                <a:cs typeface="Malgun Gothic"/>
              </a:defRPr>
            </a:pPr>
            <a:r>
              <a:rPr sz="1725" b="0">
                <a:solidFill>
                  <a:srgbClr val="303044"/>
                </a:solidFill>
                <a:latin typeface="Malgun Gothic"/>
                <a:ea typeface="Malgun Gothic"/>
                <a:cs typeface="Malgun Gothic"/>
              </a:rPr>
              <a:t>CJ ENM의 연결 URL로 식별</a:t>
            </a:r>
          </a:p>
          <a:p xmlns:a="http://schemas.openxmlformats.org/drawingml/2006/main">
            <a:pPr>
              <a:defRPr sz="1725" b="0">
                <a:solidFill>
                  <a:srgbClr val="303044"/>
                </a:solidFill>
                <a:latin typeface="Malgun Gothic"/>
                <a:ea typeface="Malgun Gothic"/>
                <a:cs typeface="Malgun Gothic"/>
              </a:defRPr>
            </a:pPr>
            <a:r>
              <a:rPr sz="1725" b="0">
                <a:solidFill>
                  <a:srgbClr val="303044"/>
                </a:solidFill>
                <a:latin typeface="Malgun Gothic"/>
                <a:ea typeface="Malgun Gothic"/>
                <a:cs typeface="Malgun Gothic"/>
              </a:rPr>
              <a:t>P001790301</a:t>
            </a:r>
          </a:p>
        </p:txBody>
      </p:sp>
      <p:sp>
        <p:nvSpPr>
          <p:cNvPr id="6" name="">
            <a:extLst xmlns:a="http://schemas.openxmlformats.org/drawingml/2006/main">
              <a:ext uri="{FF2B5EF4-FFF2-40B4-BE49-F238E27FC236}">
                <a16:creationId xmlns:a16="http://schemas.microsoft.com/office/drawing/2014/main" id="{F8DA7B7D-161F-4DE6-9C8E-472C16D9FF48}"/>
              </a:ext>
            </a:extLst>
          </p:cNvPr>
          <p:cNvSpPr>
            <a:spLocks xmlns:a="http://schemas.openxmlformats.org/drawingml/2006/main" noGrp="1"/>
          </p:cNvSpPr>
          <p:nvPr/>
        </p:nvSpPr>
        <p:spPr>
          <a:xfrm xmlns:a="http://schemas.openxmlformats.org/drawingml/2006/main">
            <a:off x="609600" y="479107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12개 회차</a:t>
            </a:r>
          </a:p>
          <a:p xmlns:a="http://schemas.openxmlformats.org/drawingml/2006/main">
            <a:pPr>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시놉시스 12개 저장</a:t>
            </a:r>
          </a:p>
        </p:txBody>
      </p:sp>
      <p:graphicFrame>
        <p:nvGraphicFramePr>
          <p:cNvPr id="7" name="">
            <a:extLst xmlns:a="http://schemas.openxmlformats.org/drawingml/2006/main">
              <a:ext uri="{FF2B5EF4-FFF2-40B4-BE49-F238E27FC236}">
                <a16:creationId xmlns:a16="http://schemas.microsoft.com/office/drawing/2014/main" id="{EC96F17E-2FBE-4A8C-A090-10961C1A0DD1}"/>
              </a:ext>
            </a:extLst>
          </p:cNvPr>
          <p:cNvGraphicFramePr/>
          <p:nvPr/>
        </p:nvGraphicFramePr>
        <p:xfrm>
          <a:off xmlns:a="http://schemas.openxmlformats.org/drawingml/2006/main" x="3952875" y="1438275"/>
          <a:ext xmlns:a="http://schemas.openxmlformats.org/drawingml/2006/main" cx="7629525" cy="4267200"/>
        </p:xfrm>
        <a:graphic xmlns:a="http://schemas.openxmlformats.org/drawingml/2006/main">
          <a:graphicData uri="http://schemas.openxmlformats.org/drawingml/2006/table">
            <a:tbl>
              <a:tblPr/>
              <a:tblGrid>
                <a:gridCol w="1381125"/>
                <a:gridCol w="2286000"/>
                <a:gridCol w="3962400"/>
              </a:tblGrid>
              <a:tr h="533400">
                <a:tc>
                  <a:txBody>
                    <a:bodyPr lIns="114300" tIns="114300" rIns="114300" bIns="114300"/>
                    <a:lstStyle/>
                    <a:p>
                      <a:r>
                        <a:rPr sz="1725"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CJ ENM에서 확보</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TVING으로 보완</a:t>
                      </a:r>
                    </a:p>
                  </a:txBody>
                  <a:tcPr marL="91440" marR="91440" marT="45720" marB="45720" anchor="ctr">
                    <a:solidFill>
                      <a:srgbClr val="EEEBF7"/>
                    </a:solidFill>
                  </a:tcPr>
                </a:tc>
              </a:tr>
              <a:tr h="533400">
                <a:tc>
                  <a:txBody>
                    <a:bodyPr lIns="114300" tIns="114300" rIns="114300" bIns="114300"/>
                    <a:lstStyle/>
                    <a:p>
                      <a:r>
                        <a:rPr sz="1725" b="0">
                          <a:solidFill>
                            <a:srgbClr val="303044"/>
                          </a:solidFill>
                          <a:latin typeface="Malgun Gothic"/>
                          <a:ea typeface="Malgun Gothic"/>
                          <a:cs typeface="Malgun Gothic"/>
                        </a:rPr>
                        <a:t>작품 소개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작품 전체 소개문</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작품 소개 제공 / 공통 정보</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출연진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4명</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7명 / 윤세아·김주헌·서재희 추가</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회차 수</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총 12회</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12개 회차 목록·제목 확보</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시놉시스</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회차별 내용 없음</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1~12화 각각의 소개문 확보</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방송일</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작품 방송 기간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각 회차의 방송일 확보</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재생 시간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회차별 값 없음</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각 회차의 재생 시간(초) 확보</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작가·인물</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작가·2명 인물 설명</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작가·인물 설명 미확보</a:t>
                      </a:r>
                    </a:p>
                  </a:txBody>
                  <a:tcPr marL="91440" marR="91440" marT="45720" marB="4572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9B393F13-4139-47A2-A3DB-CAAD6E1B96BB}"/>
              </a:ext>
            </a:extLst>
          </p:cNvPr>
          <p:cNvSpPr>
            <a:spLocks xmlns:a="http://schemas.openxmlformats.org/drawingml/2006/main" noGrp="1"/>
          </p:cNvSpPr>
          <p:nvPr/>
        </p:nvSpPr>
        <p:spPr>
          <a:xfrm xmlns:a="http://schemas.openxmlformats.org/drawingml/2006/main">
            <a:off x="609600" y="58578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공통 기본 정보에 출처별 고유 정보를 결합</a:t>
            </a:r>
          </a:p>
        </p:txBody>
      </p:sp>
      <p:sp>
        <p:nvSpPr>
          <p:cNvPr id="9" name="">
            <a:extLst xmlns:a="http://schemas.openxmlformats.org/drawingml/2006/main">
              <a:ext uri="{FF2B5EF4-FFF2-40B4-BE49-F238E27FC236}">
                <a16:creationId xmlns:a16="http://schemas.microsoft.com/office/drawing/2014/main" id="{FA580CE0-BC7F-4788-94AF-8BCBC2E6A235}"/>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포핸즈 기준 / CJ ENM: 2026.10.12 API 검증 / TVING: 2026.10.07 저장 데이터</a:t>
            </a:r>
          </a:p>
        </p:txBody>
      </p:sp>
      <p:sp>
        <p:nvSpPr>
          <p:cNvPr id="10" name="">
            <a:extLst xmlns:a="http://schemas.openxmlformats.org/drawingml/2006/main">
              <a:ext uri="{FF2B5EF4-FFF2-40B4-BE49-F238E27FC236}">
                <a16:creationId xmlns:a16="http://schemas.microsoft.com/office/drawing/2014/main" id="{00DE0C8D-E82B-40F6-AEAC-755D23845073}"/>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08</a:t>
            </a:r>
          </a:p>
        </p:txBody>
      </p:sp>
    </p:spTree>
    <p:extLst>
      <p:ext uri="{BB962C8B-B14F-4D97-AF65-F5344CB8AC3E}">
        <p14:creationId xmlns:p14="http://schemas.microsoft.com/office/powerpoint/2010/main" val="1664551700"/>
      </p:ext>
    </p:extLst>
  </p:cSld>
</p:sld>
</file>

<file path=ppt/slides/slide9.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10" name="직사각형 9">
            <a:extLst xmlns:a="http://schemas.openxmlformats.org/drawingml/2006/main">
              <a:ext uri="{FF2B5EF4-FFF2-40B4-BE49-F238E27FC236}">
                <a16:creationId xmlns:a16="http://schemas.microsoft.com/office/drawing/2014/main" id="{5F97D76D-06A4-4DFE-80A7-50432B51CEEB}"/>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TVING: 추가 회차 정보의 API 응답 근거</a:t>
            </a:r>
          </a:p>
        </p:txBody>
      </p:sp>
      <p:sp>
        <p:nvSpPr>
          <p:cNvPr id="2" name="직사각형 1">
            <a:extLst xmlns:a="http://schemas.openxmlformats.org/drawingml/2006/main">
              <a:ext uri="{FF2B5EF4-FFF2-40B4-BE49-F238E27FC236}">
                <a16:creationId xmlns:a16="http://schemas.microsoft.com/office/drawing/2014/main" id="{C0FB8D23-9DCC-47C3-BFE4-8A85F52F9E1F}"/>
              </a:ext>
            </a:extLst>
          </p:cNvPr>
          <p:cNvSpPr>
            <a:spLocks xmlns:a="http://schemas.openxmlformats.org/drawingml/2006/main" noGrp="1"/>
          </p:cNvSpPr>
          <p:nvPr/>
        </p:nvSpPr>
        <p:spPr>
          <a:xfrm xmlns:a="http://schemas.openxmlformats.org/drawingml/2006/main">
            <a:off x="609600" y="13620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1화 응답</a:t>
            </a:r>
          </a:p>
        </p:txBody>
      </p:sp>
      <p:sp>
        <p:nvSpPr>
          <p:cNvPr id="3" name="직사각형 2">
            <a:extLst xmlns:a="http://schemas.openxmlformats.org/drawingml/2006/main">
              <a:ext uri="{FF2B5EF4-FFF2-40B4-BE49-F238E27FC236}">
                <a16:creationId xmlns:a16="http://schemas.microsoft.com/office/drawing/2014/main" id="{EB24943B-CFBE-410C-B87E-7D53572961F5}"/>
              </a:ext>
            </a:extLst>
          </p:cNvPr>
          <p:cNvSpPr>
            <a:spLocks xmlns:a="http://schemas.openxmlformats.org/drawingml/2006/main" noGrp="1"/>
          </p:cNvSpPr>
          <p:nvPr/>
        </p:nvSpPr>
        <p:spPr>
          <a:xfrm xmlns:a="http://schemas.openxmlformats.org/drawingml/2006/main">
            <a:off x="6343650" y="13620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2화 응답</a:t>
            </a:r>
          </a:p>
        </p:txBody>
      </p:sp>
      <p:pic>
        <p:nvPicPr>
          <p:cNvPr id="4" name="그림 3">
            <a:extLst xmlns:a="http://schemas.openxmlformats.org/drawingml/2006/main">
              <a:ext uri="{FF2B5EF4-FFF2-40B4-BE49-F238E27FC236}">
                <a16:creationId xmlns:a16="http://schemas.microsoft.com/office/drawing/2014/main" id="{00429102-5879-4A52-893F-44BAFC5D1EB9}"/>
              </a:ext>
            </a:extLst>
          </p:cNvPr>
          <p:cNvPicPr>
            <a:picLocks xmlns:a="http://schemas.openxmlformats.org/drawingml/2006/main" noChangeAspect="1"/>
          </p:cNvPicPr>
          <p:nvPr/>
        </p:nvPicPr>
        <p:blipFill>
          <a:blip xmlns:r="http://schemas.openxmlformats.org/officeDocument/2006/relationships" xmlns:a="http://schemas.openxmlformats.org/drawingml/2006/main" r:embed="R6c458f4c16a44794"/>
          <a:stretch xmlns:a="http://schemas.openxmlformats.org/drawingml/2006/main"/>
        </p:blipFill>
        <p:spPr>
          <a:xfrm xmlns:a="http://schemas.openxmlformats.org/drawingml/2006/main">
            <a:off x="1422622" y="1819275"/>
            <a:ext cx="3612706" cy="3009900"/>
          </a:xfrm>
          <a:prstGeom xmlns:a="http://schemas.openxmlformats.org/drawingml/2006/main" prst="rect">
            <a:avLst/>
          </a:prstGeom>
        </p:spPr>
      </p:pic>
      <p:pic>
        <p:nvPicPr>
          <p:cNvPr id="5" name="그림 4">
            <a:extLst xmlns:a="http://schemas.openxmlformats.org/drawingml/2006/main">
              <a:ext uri="{FF2B5EF4-FFF2-40B4-BE49-F238E27FC236}">
                <a16:creationId xmlns:a16="http://schemas.microsoft.com/office/drawing/2014/main" id="{237F904E-F043-47BF-BD8C-BAE0854BA721}"/>
              </a:ext>
            </a:extLst>
          </p:cNvPr>
          <p:cNvPicPr>
            <a:picLocks xmlns:a="http://schemas.openxmlformats.org/drawingml/2006/main" noChangeAspect="1"/>
          </p:cNvPicPr>
          <p:nvPr/>
        </p:nvPicPr>
        <p:blipFill>
          <a:blip xmlns:r="http://schemas.openxmlformats.org/officeDocument/2006/relationships" xmlns:a="http://schemas.openxmlformats.org/drawingml/2006/main" r:embed="R51cd707afad143e2"/>
          <a:stretch xmlns:a="http://schemas.openxmlformats.org/drawingml/2006/main"/>
        </p:blipFill>
        <p:spPr>
          <a:xfrm xmlns:a="http://schemas.openxmlformats.org/drawingml/2006/main">
            <a:off x="6515383" y="1819275"/>
            <a:ext cx="4895283" cy="3009900"/>
          </a:xfrm>
          <a:prstGeom xmlns:a="http://schemas.openxmlformats.org/drawingml/2006/main" prst="rect">
            <a:avLst/>
          </a:prstGeom>
        </p:spPr>
      </p:pic>
      <p:sp>
        <p:nvSpPr>
          <p:cNvPr id="6" name="직사각형 5">
            <a:extLst xmlns:a="http://schemas.openxmlformats.org/drawingml/2006/main">
              <a:ext uri="{FF2B5EF4-FFF2-40B4-BE49-F238E27FC236}">
                <a16:creationId xmlns:a16="http://schemas.microsoft.com/office/drawing/2014/main" id="{C2E644CC-0F5C-4C74-876F-2205BB378A31}"/>
              </a:ext>
            </a:extLst>
          </p:cNvPr>
          <p:cNvSpPr>
            <a:spLocks xmlns:a="http://schemas.openxmlformats.org/drawingml/2006/main" noGrp="1"/>
          </p:cNvSpPr>
          <p:nvPr/>
        </p:nvSpPr>
        <p:spPr>
          <a:xfrm xmlns:a="http://schemas.openxmlformats.org/drawingml/2006/main">
            <a:off x="609600" y="5105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CJ ENM의 작품 소개를 회차별 세부 정보로 보완</a:t>
            </a:r>
          </a:p>
        </p:txBody>
      </p:sp>
      <p:sp>
        <p:nvSpPr>
          <p:cNvPr id="7" name="직사각형 6">
            <a:extLst xmlns:a="http://schemas.openxmlformats.org/drawingml/2006/main">
              <a:ext uri="{FF2B5EF4-FFF2-40B4-BE49-F238E27FC236}">
                <a16:creationId xmlns:a16="http://schemas.microsoft.com/office/drawing/2014/main" id="{799BB4ED-556F-4C9F-86C5-F797D5181E12}"/>
              </a:ext>
            </a:extLst>
          </p:cNvPr>
          <p:cNvSpPr>
            <a:spLocks xmlns:a="http://schemas.openxmlformats.org/drawingml/2006/main" noGrp="1"/>
          </p:cNvSpPr>
          <p:nvPr/>
        </p:nvSpPr>
        <p:spPr>
          <a:xfrm xmlns:a="http://schemas.openxmlformats.org/drawingml/2006/main">
            <a:off x="609600" y="5638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1화: 2026.08.29, 4,072초      2화: 2026.08.30, 3,570초</a:t>
            </a:r>
          </a:p>
        </p:txBody>
      </p:sp>
      <p:sp>
        <p:nvSpPr>
          <p:cNvPr id="8" name="직사각형 7">
            <a:extLst xmlns:a="http://schemas.openxmlformats.org/drawingml/2006/main">
              <a:ext uri="{FF2B5EF4-FFF2-40B4-BE49-F238E27FC236}">
                <a16:creationId xmlns:a16="http://schemas.microsoft.com/office/drawing/2014/main" id="{2EFC63EB-3106-4022-B168-83CE350006E9}"/>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응답 필드: frequency, vod_name.ko, broadcast_date, synopsis.ko, duration</a:t>
            </a:r>
          </a:p>
        </p:txBody>
      </p:sp>
      <p:sp>
        <p:nvSpPr>
          <p:cNvPr id="9" name="직사각형 8">
            <a:extLst xmlns:a="http://schemas.openxmlformats.org/drawingml/2006/main">
              <a:ext uri="{FF2B5EF4-FFF2-40B4-BE49-F238E27FC236}">
                <a16:creationId xmlns:a16="http://schemas.microsoft.com/office/drawing/2014/main" id="{A8AA79C6-4831-402E-99D1-EDE2E1BC0969}"/>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09</a:t>
            </a:r>
          </a:p>
        </p:txBody>
      </p:sp>
    </p:spTree>
    <p:extLst>
      <p:ext uri="{BB962C8B-B14F-4D97-AF65-F5344CB8AC3E}">
        <p14:creationId xmlns:p14="http://schemas.microsoft.com/office/powerpoint/2010/main" val="314729554"/>
      </p:ext>
    </p:extLst>
  </p:cSld>
</p:sld>
</file>

<file path=ppt/slides/slide10.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pic>
        <p:nvPicPr>
          <p:cNvPr id="2" name="그림 1">
            <a:extLst xmlns:a="http://schemas.openxmlformats.org/drawingml/2006/main">
              <a:ext uri="{FF2B5EF4-FFF2-40B4-BE49-F238E27FC236}">
                <a16:creationId xmlns:a16="http://schemas.microsoft.com/office/drawing/2014/main" id="{01D4AB02-7444-4F73-B245-F16A168F410B}"/>
              </a:ext>
            </a:extLst>
          </p:cNvPr>
          <p:cNvPicPr>
            <a:picLocks xmlns:a="http://schemas.openxmlformats.org/drawingml/2006/main" noChangeAspect="1"/>
          </p:cNvPicPr>
          <p:nvPr/>
        </p:nvPicPr>
        <p:blipFill>
          <a:blip xmlns:r="http://schemas.openxmlformats.org/officeDocument/2006/relationships" xmlns:a="http://schemas.openxmlformats.org/drawingml/2006/main" r:embed="Rd958dd065a974c2e"/>
          <a:stretch xmlns:a="http://schemas.openxmlformats.org/drawingml/2006/main"/>
        </p:blipFill>
        <p:spPr>
          <a:xfrm xmlns:a="http://schemas.openxmlformats.org/drawingml/2006/main">
            <a:off x="609600" y="1438275"/>
            <a:ext cx="2952750" cy="16097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401A8C6-5BB9-4395-8596-3DD511B62918}"/>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TVING 상위 20개: 작품 정보와 회차 세부 정보</a:t>
            </a:r>
          </a:p>
        </p:txBody>
      </p:sp>
      <p:sp>
        <p:nvSpPr>
          <p:cNvPr id="4" name="">
            <a:extLst xmlns:a="http://schemas.openxmlformats.org/drawingml/2006/main">
              <a:ext uri="{FF2B5EF4-FFF2-40B4-BE49-F238E27FC236}">
                <a16:creationId xmlns:a16="http://schemas.microsoft.com/office/drawing/2014/main" id="{576AD884-9215-4AB5-AC41-D7380546AC5E}"/>
              </a:ext>
            </a:extLst>
          </p:cNvPr>
          <p:cNvSpPr>
            <a:spLocks xmlns:a="http://schemas.openxmlformats.org/drawingml/2006/main" noGrp="1"/>
          </p:cNvSpPr>
          <p:nvPr/>
        </p:nvSpPr>
        <p:spPr>
          <a:xfrm xmlns:a="http://schemas.openxmlformats.org/drawingml/2006/main">
            <a:off x="609600" y="3267075"/>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수집 방식</a:t>
            </a:r>
          </a:p>
        </p:txBody>
      </p:sp>
      <p:sp>
        <p:nvSpPr>
          <p:cNvPr id="5" name="">
            <a:extLst xmlns:a="http://schemas.openxmlformats.org/drawingml/2006/main">
              <a:ext uri="{FF2B5EF4-FFF2-40B4-BE49-F238E27FC236}">
                <a16:creationId xmlns:a16="http://schemas.microsoft.com/office/drawing/2014/main" id="{A3B624CC-0839-4F33-9669-B6FC321865C9}"/>
              </a:ext>
            </a:extLst>
          </p:cNvPr>
          <p:cNvSpPr>
            <a:spLocks xmlns:a="http://schemas.openxmlformats.org/drawingml/2006/main" noGrp="1"/>
          </p:cNvSpPr>
          <p:nvPr/>
        </p:nvSpPr>
        <p:spPr>
          <a:xfrm xmlns:a="http://schemas.openxmlformats.org/drawingml/2006/main">
            <a:off x="609600" y="3781425"/>
            <a:ext cx="2952750"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303044"/>
                </a:solidFill>
                <a:latin typeface="Malgun Gothic"/>
                <a:ea typeface="Malgun Gothic"/>
                <a:cs typeface="Malgun Gothic"/>
              </a:defRPr>
            </a:defPPr>
          </a:lstStyle>
          <a:p xmlns:a="http://schemas.openxmlformats.org/drawingml/2006/main">
            <a:pPr>
              <a:defRPr sz="1725" b="0">
                <a:solidFill>
                  <a:srgbClr val="303044"/>
                </a:solidFill>
                <a:latin typeface="Malgun Gothic"/>
                <a:ea typeface="Malgun Gothic"/>
                <a:cs typeface="Malgun Gothic"/>
              </a:defRPr>
            </a:pPr>
            <a:r>
              <a:rPr sz="1725" b="0">
                <a:solidFill>
                  <a:srgbClr val="303044"/>
                </a:solidFill>
                <a:latin typeface="Malgun Gothic"/>
                <a:ea typeface="Malgun Gothic"/>
                <a:cs typeface="Malgun Gothic"/>
              </a:rPr>
              <a:t>작품 정보</a:t>
            </a:r>
          </a:p>
          <a:p xmlns:a="http://schemas.openxmlformats.org/drawingml/2006/main">
            <a:pPr>
              <a:defRPr sz="1725" b="0">
                <a:solidFill>
                  <a:srgbClr val="303044"/>
                </a:solidFill>
                <a:latin typeface="Malgun Gothic"/>
                <a:ea typeface="Malgun Gothic"/>
                <a:cs typeface="Malgun Gothic"/>
              </a:defRPr>
            </a:pPr>
            <a:r>
              <a:rPr sz="1725" b="0">
                <a:solidFill>
                  <a:srgbClr val="303044"/>
                </a:solidFill>
                <a:latin typeface="Malgun Gothic"/>
                <a:ea typeface="Malgun Gothic"/>
                <a:cs typeface="Malgun Gothic"/>
              </a:rPr>
              <a:t>페이지 내부 구조화 데이터</a:t>
            </a:r>
          </a:p>
          <a:p xmlns:a="http://schemas.openxmlformats.org/drawingml/2006/main">
            <a:r>
              <a:t/>
            </a:r>
          </a:p>
          <a:p xmlns:a="http://schemas.openxmlformats.org/drawingml/2006/main">
            <a:pPr>
              <a:defRPr sz="1725" b="0">
                <a:solidFill>
                  <a:srgbClr val="303044"/>
                </a:solidFill>
                <a:latin typeface="Malgun Gothic"/>
                <a:ea typeface="Malgun Gothic"/>
                <a:cs typeface="Malgun Gothic"/>
              </a:defRPr>
            </a:pPr>
            <a:r>
              <a:rPr sz="1725" b="0">
                <a:solidFill>
                  <a:srgbClr val="303044"/>
                </a:solidFill>
                <a:latin typeface="Malgun Gothic"/>
                <a:ea typeface="Malgun Gothic"/>
                <a:cs typeface="Malgun Gothic"/>
              </a:rPr>
              <a:t>회차 정보</a:t>
            </a:r>
          </a:p>
          <a:p xmlns:a="http://schemas.openxmlformats.org/drawingml/2006/main">
            <a:pPr>
              <a:defRPr sz="1725" b="0">
                <a:solidFill>
                  <a:srgbClr val="303044"/>
                </a:solidFill>
                <a:latin typeface="Malgun Gothic"/>
                <a:ea typeface="Malgun Gothic"/>
                <a:cs typeface="Malgun Gothic"/>
              </a:defRPr>
            </a:pPr>
            <a:r>
              <a:rPr sz="1725" b="0">
                <a:solidFill>
                  <a:srgbClr val="303044"/>
                </a:solidFill>
                <a:latin typeface="Malgun Gothic"/>
                <a:ea typeface="Malgun Gothic"/>
                <a:cs typeface="Malgun Gothic"/>
              </a:rPr>
              <a:t>API 응답</a:t>
            </a:r>
          </a:p>
        </p:txBody>
      </p:sp>
      <p:graphicFrame>
        <p:nvGraphicFramePr>
          <p:cNvPr id="6" name="">
            <a:extLst xmlns:a="http://schemas.openxmlformats.org/drawingml/2006/main">
              <a:ext uri="{FF2B5EF4-FFF2-40B4-BE49-F238E27FC236}">
                <a16:creationId xmlns:a16="http://schemas.microsoft.com/office/drawing/2014/main" id="{0F570559-CEDA-4623-BA8D-77591F3B6C22}"/>
              </a:ext>
            </a:extLst>
          </p:cNvPr>
          <p:cNvGraphicFramePr/>
          <p:nvPr/>
        </p:nvGraphicFramePr>
        <p:xfrm>
          <a:off xmlns:a="http://schemas.openxmlformats.org/drawingml/2006/main" x="3952875" y="1438275"/>
          <a:ext xmlns:a="http://schemas.openxmlformats.org/drawingml/2006/main" cx="7629525" cy="4267200"/>
        </p:xfrm>
        <a:graphic xmlns:a="http://schemas.openxmlformats.org/drawingml/2006/main">
          <a:graphicData uri="http://schemas.openxmlformats.org/drawingml/2006/table">
            <a:tbl>
              <a:tblPr/>
              <a:tblGrid>
                <a:gridCol w="1381125"/>
                <a:gridCol w="4333875"/>
                <a:gridCol w="1914525"/>
              </a:tblGrid>
              <a:tr h="533400">
                <a:tc>
                  <a:txBody>
                    <a:bodyPr lIns="114300" tIns="114300" rIns="114300" bIns="114300"/>
                    <a:lstStyle/>
                    <a:p>
                      <a:r>
                        <a:rPr sz="1725" b="1">
                          <a:solidFill>
                            <a:srgbClr val="716095"/>
                          </a:solidFill>
                          <a:latin typeface="Malgun Gothic"/>
                          <a:ea typeface="Malgun Gothic"/>
                          <a:cs typeface="Malgun Gothic"/>
                        </a:rPr>
                        <a:t>범위</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저장한 필드</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값 확보 건수</a:t>
                      </a:r>
                    </a:p>
                  </a:txBody>
                  <a:tcPr marL="91440" marR="91440" marT="45720" marB="45720" anchor="ctr">
                    <a:solidFill>
                      <a:srgbClr val="EEEBF7"/>
                    </a:solidFill>
                  </a:tcPr>
                </a:tc>
              </a:tr>
              <a:tr h="533400">
                <a:tc>
                  <a:txBody>
                    <a:bodyPr lIns="114300" tIns="114300" rIns="114300" bIns="114300"/>
                    <a:lstStyle/>
                    <a:p>
                      <a:r>
                        <a:rPr sz="1725" b="0">
                          <a:solidFill>
                            <a:srgbClr val="303044"/>
                          </a:solidFill>
                          <a:latin typeface="Malgun Gothic"/>
                          <a:ea typeface="Malgun Gothic"/>
                          <a:cs typeface="Malgun Gothic"/>
                        </a:rPr>
                        <a:t>작품 기본</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작품명·장르·제작연도·채널</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각 20/20 작품</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출연·소개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출연진·작품 소개·시청 등급</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각 20/20 작품</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제작 인명</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원본 인명 배열 / 역할 검토 필요</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20/20 작품</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방송 기간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시작일 / 종료일</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20/20, 19/20</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회차 기본</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ID·번호·제목·방송일·재생 시간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각 341/341회</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시놉시스</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회차별 소개문</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341/341회</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미확보</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작가·키워드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각 0/20 작품</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67492718-B45A-46A8-87F1-3FB1DDCDFE42}"/>
              </a:ext>
            </a:extLst>
          </p:cNvPr>
          <p:cNvSpPr>
            <a:spLocks xmlns:a="http://schemas.openxmlformats.org/drawingml/2006/main" noGrp="1"/>
          </p:cNvSpPr>
          <p:nvPr/>
        </p:nvSpPr>
        <p:spPr>
          <a:xfrm xmlns:a="http://schemas.openxmlformats.org/drawingml/2006/main">
            <a:off x="609600" y="58578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시놉시스 외에도 작품·회차별 필드를 함께 저장</a:t>
            </a:r>
          </a:p>
        </p:txBody>
      </p:sp>
      <p:sp>
        <p:nvSpPr>
          <p:cNvPr id="8" name="">
            <a:extLst xmlns:a="http://schemas.openxmlformats.org/drawingml/2006/main">
              <a:ext uri="{FF2B5EF4-FFF2-40B4-BE49-F238E27FC236}">
                <a16:creationId xmlns:a16="http://schemas.microsoft.com/office/drawing/2014/main" id="{2B232BEE-EB1F-4DBA-BABF-0A0E242CD28F}"/>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2026.10.07 저장본 / 건수는 확보한 값 기준 / 현재·향후 전체 회차의 완전성을 뜻하지 않음</a:t>
            </a:r>
          </a:p>
        </p:txBody>
      </p:sp>
      <p:sp>
        <p:nvSpPr>
          <p:cNvPr id="9" name="">
            <a:extLst xmlns:a="http://schemas.openxmlformats.org/drawingml/2006/main">
              <a:ext uri="{FF2B5EF4-FFF2-40B4-BE49-F238E27FC236}">
                <a16:creationId xmlns:a16="http://schemas.microsoft.com/office/drawing/2014/main" id="{B95B1BC6-07C1-47C3-A557-BA0224524EA9}"/>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10</a:t>
            </a:r>
          </a:p>
        </p:txBody>
      </p:sp>
    </p:spTree>
    <p:extLst>
      <p:ext uri="{BB962C8B-B14F-4D97-AF65-F5344CB8AC3E}">
        <p14:creationId xmlns:p14="http://schemas.microsoft.com/office/powerpoint/2010/main" val="859924957"/>
      </p:ext>
    </p:extLst>
  </p:cSld>
</p:sld>
</file>

<file path=ppt/slides/slide11.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742E3F4-AFC2-497C-A722-AA9753C01FF6}"/>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나무위키: 포핸즈 본문 수집과 하위 문서 보완</a:t>
            </a:r>
          </a:p>
        </p:txBody>
      </p:sp>
      <p:graphicFrame>
        <p:nvGraphicFramePr>
          <p:cNvPr id="2" name="">
            <a:extLst xmlns:a="http://schemas.openxmlformats.org/drawingml/2006/main">
              <a:ext uri="{FF2B5EF4-FFF2-40B4-BE49-F238E27FC236}">
                <a16:creationId xmlns:a16="http://schemas.microsoft.com/office/drawing/2014/main" id="{A375A2DA-2D53-43D3-B149-1FCEE554972F}"/>
              </a:ext>
            </a:extLst>
          </p:cNvPr>
          <p:cNvGraphicFramePr/>
          <p:nvPr/>
        </p:nvGraphicFramePr>
        <p:xfrm>
          <a:off xmlns:a="http://schemas.openxmlformats.org/drawingml/2006/main" x="609600" y="1438275"/>
          <a:ext xmlns:a="http://schemas.openxmlformats.org/drawingml/2006/main" cx="10972800" cy="3143250"/>
        </p:xfrm>
        <a:graphic xmlns:a="http://schemas.openxmlformats.org/drawingml/2006/main">
          <a:graphicData uri="http://schemas.openxmlformats.org/drawingml/2006/table">
            <a:tbl>
              <a:tblPr/>
              <a:tblGrid>
                <a:gridCol w="1619250"/>
                <a:gridCol w="4162425"/>
                <a:gridCol w="5191125"/>
              </a:tblGrid>
              <a:tr h="523875">
                <a:tc>
                  <a:txBody>
                    <a:bodyPr lIns="114300" tIns="114300" rIns="114300" bIns="114300"/>
                    <a:lstStyle/>
                    <a:p>
                      <a:r>
                        <a:rPr sz="1725"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CJ ENM·TVING에서 확보</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나무위키 본문에서 확보</a:t>
                      </a:r>
                    </a:p>
                  </a:txBody>
                  <a:tcPr marL="91440" marR="91440" marT="45720" marB="45720" anchor="ctr">
                    <a:solidFill>
                      <a:srgbClr val="EEEBF7"/>
                    </a:solidFill>
                  </a:tcPr>
                </a:tc>
              </a:tr>
              <a:tr h="523875">
                <a:tc>
                  <a:txBody>
                    <a:bodyPr lIns="114300" tIns="114300" rIns="114300" bIns="114300"/>
                    <a:lstStyle/>
                    <a:p>
                      <a:r>
                        <a:rPr sz="1725" b="0">
                          <a:solidFill>
                            <a:srgbClr val="303044"/>
                          </a:solidFill>
                          <a:latin typeface="Malgun Gothic"/>
                          <a:ea typeface="Malgun Gothic"/>
                          <a:cs typeface="Malgun Gothic"/>
                        </a:rPr>
                        <a:t>제작사</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두 저장본에 제작사 필드 값 없음</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스튜디오드래곤·스튜디오N·나무엑터스</a:t>
                      </a:r>
                    </a:p>
                  </a:txBody>
                  <a:tcPr marL="91440" marR="91440" marT="45720" marB="45720" anchor="ctr">
                    <a:solidFill>
                      <a:srgbClr val="FFFFFF"/>
                    </a:solidFill>
                  </a:tcPr>
                </a:tc>
              </a:tr>
              <a:tr h="523875">
                <a:tc>
                  <a:txBody>
                    <a:bodyPr lIns="114300" tIns="114300" rIns="114300" bIns="114300"/>
                    <a:lstStyle/>
                    <a:p>
                      <a:r>
                        <a:rPr sz="1725" b="0">
                          <a:solidFill>
                            <a:srgbClr val="303044"/>
                          </a:solidFill>
                          <a:latin typeface="Malgun Gothic"/>
                          <a:ea typeface="Malgun Gothic"/>
                          <a:cs typeface="Malgun Gothic"/>
                        </a:rPr>
                        <a:t>장르</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CJ ENM: 드라마 / TVING: 로맨스</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청춘·성장·음악 등 세부 장르</a:t>
                      </a:r>
                    </a:p>
                  </a:txBody>
                  <a:tcPr marL="91440" marR="91440" marT="45720" marB="45720" anchor="ctr">
                    <a:solidFill>
                      <a:srgbClr val="FFFFFF"/>
                    </a:solidFill>
                  </a:tcPr>
                </a:tc>
              </a:tr>
              <a:tr h="523875">
                <a:tc>
                  <a:txBody>
                    <a:bodyPr lIns="114300" tIns="114300" rIns="114300" bIns="114300"/>
                    <a:lstStyle/>
                    <a:p>
                      <a:r>
                        <a:rPr sz="1725" b="0">
                          <a:solidFill>
                            <a:srgbClr val="303044"/>
                          </a:solidFill>
                          <a:latin typeface="Malgun Gothic"/>
                          <a:ea typeface="Malgun Gothic"/>
                          <a:cs typeface="Malgun Gothic"/>
                        </a:rPr>
                        <a:t>시청 등급</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15세 이상</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주제·언어·모방위험 부가 표기</a:t>
                      </a:r>
                    </a:p>
                  </a:txBody>
                  <a:tcPr marL="91440" marR="91440" marT="45720" marB="45720" anchor="ctr">
                    <a:solidFill>
                      <a:srgbClr val="FFFFFF"/>
                    </a:solidFill>
                  </a:tcPr>
                </a:tc>
              </a:tr>
              <a:tr h="523875">
                <a:tc>
                  <a:txBody>
                    <a:bodyPr lIns="114300" tIns="114300" rIns="114300" bIns="114300"/>
                    <a:lstStyle/>
                    <a:p>
                      <a:r>
                        <a:rPr sz="1725" b="0">
                          <a:solidFill>
                            <a:srgbClr val="303044"/>
                          </a:solidFill>
                          <a:latin typeface="Malgun Gothic"/>
                          <a:ea typeface="Malgun Gothic"/>
                          <a:cs typeface="Malgun Gothic"/>
                        </a:rPr>
                        <a:t>공통 정보</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연출·작가·방송 기간·총 회차 수</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기존 출처의 값과 대조할 정보</a:t>
                      </a:r>
                    </a:p>
                  </a:txBody>
                  <a:tcPr marL="91440" marR="91440" marT="45720" marB="45720" anchor="ctr">
                    <a:solidFill>
                      <a:srgbClr val="FFFFFF"/>
                    </a:solidFill>
                  </a:tcPr>
                </a:tc>
              </a:tr>
              <a:tr h="523875">
                <a:tc>
                  <a:txBody>
                    <a:bodyPr lIns="114300" tIns="114300" rIns="114300" bIns="114300"/>
                    <a:lstStyle/>
                    <a:p>
                      <a:r>
                        <a:rPr sz="1725" b="0">
                          <a:solidFill>
                            <a:srgbClr val="303044"/>
                          </a:solidFill>
                          <a:latin typeface="Malgun Gothic"/>
                          <a:ea typeface="Malgun Gothic"/>
                          <a:cs typeface="Malgun Gothic"/>
                        </a:rPr>
                        <a:t>하위 문서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CJ ENM 인물 2명 / TVING 회차 12개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등장인물·방영 목록 링크 2개 발견</a:t>
                      </a:r>
                    </a:p>
                  </a:txBody>
                  <a:tcPr marL="91440" marR="91440" marT="45720" marB="4572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44C2776E-C946-43A6-BD0F-A3ECC117C9E9}"/>
              </a:ext>
            </a:extLst>
          </p:cNvPr>
          <p:cNvSpPr>
            <a:spLocks xmlns:a="http://schemas.openxmlformats.org/drawingml/2006/main" noGrp="1"/>
          </p:cNvSpPr>
          <p:nvPr/>
        </p:nvSpPr>
        <p:spPr>
          <a:xfrm xmlns:a="http://schemas.openxmlformats.org/drawingml/2006/main">
            <a:off x="609600" y="49530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다음 확인: 사람이 하위 문서 URL 검토 후 별도 수집</a:t>
            </a:r>
          </a:p>
        </p:txBody>
      </p:sp>
      <p:sp>
        <p:nvSpPr>
          <p:cNvPr id="4" name="">
            <a:extLst xmlns:a="http://schemas.openxmlformats.org/drawingml/2006/main">
              <a:ext uri="{FF2B5EF4-FFF2-40B4-BE49-F238E27FC236}">
                <a16:creationId xmlns:a16="http://schemas.microsoft.com/office/drawing/2014/main" id="{83CF3D5D-C8C6-4264-BAC4-7538397262D2}"/>
              </a:ext>
            </a:extLst>
          </p:cNvPr>
          <p:cNvSpPr>
            <a:spLocks xmlns:a="http://schemas.openxmlformats.org/drawingml/2006/main" noGrp="1"/>
          </p:cNvSpPr>
          <p:nvPr/>
        </p:nvSpPr>
        <p:spPr>
          <a:xfrm xmlns:a="http://schemas.openxmlformats.org/drawingml/2006/main">
            <a:off x="609600" y="5476875"/>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본문 기본 정보는 저장 완료. 하위 문서의 인물·회차 세부 내용은 아직 미수집</a:t>
            </a:r>
          </a:p>
        </p:txBody>
      </p:sp>
      <p:sp>
        <p:nvSpPr>
          <p:cNvPr id="5" name="">
            <a:extLst xmlns:a="http://schemas.openxmlformats.org/drawingml/2006/main">
              <a:ext uri="{FF2B5EF4-FFF2-40B4-BE49-F238E27FC236}">
                <a16:creationId xmlns:a16="http://schemas.microsoft.com/office/drawing/2014/main" id="{1591F4FB-C5AD-4CBB-8BE5-46955A48EC63}"/>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2026.10.08 저장본 / 위키의 서술을 출처별로 보존하고 공식 정보와 비교</a:t>
            </a:r>
          </a:p>
        </p:txBody>
      </p:sp>
      <p:sp>
        <p:nvSpPr>
          <p:cNvPr id="6" name="">
            <a:extLst xmlns:a="http://schemas.openxmlformats.org/drawingml/2006/main">
              <a:ext uri="{FF2B5EF4-FFF2-40B4-BE49-F238E27FC236}">
                <a16:creationId xmlns:a16="http://schemas.microsoft.com/office/drawing/2014/main" id="{16670316-C854-45A0-923B-8E3B96219355}"/>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11</a:t>
            </a:r>
          </a:p>
        </p:txBody>
      </p:sp>
    </p:spTree>
    <p:extLst>
      <p:ext uri="{BB962C8B-B14F-4D97-AF65-F5344CB8AC3E}">
        <p14:creationId xmlns:p14="http://schemas.microsoft.com/office/powerpoint/2010/main" val="758448600"/>
      </p:ext>
    </p:extLst>
  </p:cSld>
</p:sld>
</file>

<file path=ppt/slides/slide12.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8" name="직사각형 7">
            <a:extLst xmlns:a="http://schemas.openxmlformats.org/drawingml/2006/main">
              <a:ext uri="{FF2B5EF4-FFF2-40B4-BE49-F238E27FC236}">
                <a16:creationId xmlns:a16="http://schemas.microsoft.com/office/drawing/2014/main" id="{1641FF4D-277A-4345-A4B3-118FDFD3FA3C}"/>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출처별 정보 보완과 수집 도구</a:t>
            </a:r>
          </a:p>
        </p:txBody>
      </p:sp>
      <p:pic>
        <p:nvPicPr>
          <p:cNvPr id="2" name="그림 1">
            <a:extLst xmlns:a="http://schemas.openxmlformats.org/drawingml/2006/main">
              <a:ext uri="{FF2B5EF4-FFF2-40B4-BE49-F238E27FC236}">
                <a16:creationId xmlns:a16="http://schemas.microsoft.com/office/drawing/2014/main" id="{C05ED3FC-042D-4887-8C91-C5D29BDA9AAD}"/>
              </a:ext>
            </a:extLst>
          </p:cNvPr>
          <p:cNvPicPr>
            <a:picLocks xmlns:a="http://schemas.openxmlformats.org/drawingml/2006/main" noChangeAspect="1"/>
          </p:cNvPicPr>
          <p:nvPr/>
        </p:nvPicPr>
        <p:blipFill>
          <a:blip xmlns:r="http://schemas.openxmlformats.org/officeDocument/2006/relationships" xmlns:a="http://schemas.openxmlformats.org/drawingml/2006/main" r:embed="R8d9142d925c747b2"/>
          <a:stretch xmlns:a="http://schemas.openxmlformats.org/drawingml/2006/main"/>
        </p:blipFill>
        <p:spPr>
          <a:xfrm xmlns:a="http://schemas.openxmlformats.org/drawingml/2006/main">
            <a:off x="609600" y="1498873"/>
            <a:ext cx="6410325" cy="4146004"/>
          </a:xfrm>
          <a:prstGeom xmlns:a="http://schemas.openxmlformats.org/drawingml/2006/main" prst="rect">
            <a:avLst/>
          </a:prstGeom>
        </p:spPr>
      </p:pic>
      <p:sp>
        <p:nvSpPr>
          <p:cNvPr id="3" name="직사각형 2">
            <a:extLst xmlns:a="http://schemas.openxmlformats.org/drawingml/2006/main">
              <a:ext uri="{FF2B5EF4-FFF2-40B4-BE49-F238E27FC236}">
                <a16:creationId xmlns:a16="http://schemas.microsoft.com/office/drawing/2014/main" id="{AFF9E7DA-E51A-4A03-9934-33ECACCBC2B6}"/>
              </a:ext>
            </a:extLst>
          </p:cNvPr>
          <p:cNvSpPr>
            <a:spLocks xmlns:a="http://schemas.openxmlformats.org/drawingml/2006/main" noGrp="1"/>
          </p:cNvSpPr>
          <p:nvPr/>
        </p:nvSpPr>
        <p:spPr>
          <a:xfrm xmlns:a="http://schemas.openxmlformats.org/drawingml/2006/main">
            <a:off x="7496175" y="1457325"/>
            <a:ext cx="40862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포핸즈의 출처별 역할</a:t>
            </a:r>
          </a:p>
        </p:txBody>
      </p:sp>
      <p:sp>
        <p:nvSpPr>
          <p:cNvPr id="4" name="직사각형 3">
            <a:extLst xmlns:a="http://schemas.openxmlformats.org/drawingml/2006/main">
              <a:ext uri="{FF2B5EF4-FFF2-40B4-BE49-F238E27FC236}">
                <a16:creationId xmlns:a16="http://schemas.microsoft.com/office/drawing/2014/main" id="{58A535E7-5954-4A80-A3B1-E3800933A388}"/>
              </a:ext>
            </a:extLst>
          </p:cNvPr>
          <p:cNvSpPr>
            <a:spLocks xmlns:a="http://schemas.openxmlformats.org/drawingml/2006/main" noGrp="1"/>
          </p:cNvSpPr>
          <p:nvPr/>
        </p:nvSpPr>
        <p:spPr>
          <a:xfrm xmlns:a="http://schemas.openxmlformats.org/drawingml/2006/main">
            <a:off x="7496175" y="2047875"/>
            <a:ext cx="4086225" cy="2886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CJ ENM</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작품 기본 정보·제작진·등장인물</a:t>
            </a:r>
          </a:p>
          <a:p xmlns:a="http://schemas.openxmlformats.org/drawingml/2006/main">
            <a:endParaRPr sz="1875" b="0">
              <a:solidFill>
                <a:srgbClr val="303044"/>
              </a:solidFill>
              <a:latin typeface="Malgun Gothic"/>
              <a:ea typeface="Malgun Gothic"/>
              <a:cs typeface="Malgun Gothic"/>
            </a:endParaRP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TVING</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12개 회차의 세부 정보</a:t>
            </a:r>
          </a:p>
          <a:p xmlns:a="http://schemas.openxmlformats.org/drawingml/2006/main">
            <a:endParaRPr sz="1875" b="0">
              <a:solidFill>
                <a:srgbClr val="303044"/>
              </a:solidFill>
              <a:latin typeface="Malgun Gothic"/>
              <a:ea typeface="Malgun Gothic"/>
              <a:cs typeface="Malgun Gothic"/>
            </a:endParaRP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나무위키</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사람이 확인한 문서로 추가 보완</a:t>
            </a:r>
          </a:p>
        </p:txBody>
      </p:sp>
      <p:sp>
        <p:nvSpPr>
          <p:cNvPr id="5" name="직사각형 4">
            <a:extLst xmlns:a="http://schemas.openxmlformats.org/drawingml/2006/main">
              <a:ext uri="{FF2B5EF4-FFF2-40B4-BE49-F238E27FC236}">
                <a16:creationId xmlns:a16="http://schemas.microsoft.com/office/drawing/2014/main" id="{9CF42705-F3A7-4366-9644-6C38D48B7D10}"/>
              </a:ext>
            </a:extLst>
          </p:cNvPr>
          <p:cNvSpPr>
            <a:spLocks xmlns:a="http://schemas.openxmlformats.org/drawingml/2006/main" noGrp="1"/>
          </p:cNvSpPr>
          <p:nvPr/>
        </p:nvSpPr>
        <p:spPr>
          <a:xfrm xmlns:a="http://schemas.openxmlformats.org/drawingml/2006/main">
            <a:off x="7496175" y="5353050"/>
            <a:ext cx="40862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716095"/>
                </a:solidFill>
                <a:latin typeface="Malgun Gothic"/>
                <a:ea typeface="Malgun Gothic"/>
                <a:cs typeface="Malgun Gothic"/>
              </a:defRPr>
            </a:defPPr>
          </a:lstStyle>
          <a:p xmlns:a="http://schemas.openxmlformats.org/drawingml/2006/main">
            <a:pPr>
              <a:buNone/>
              <a:defRPr sz="1725" b="1">
                <a:solidFill>
                  <a:srgbClr val="716095"/>
                </a:solidFill>
                <a:latin typeface="Malgun Gothic"/>
                <a:ea typeface="Malgun Gothic"/>
                <a:cs typeface="Malgun Gothic"/>
              </a:defRPr>
            </a:pPr>
            <a:r>
              <a:rPr sz="1725" b="1">
                <a:solidFill>
                  <a:srgbClr val="716095"/>
                </a:solidFill>
                <a:latin typeface="Malgun Gothic"/>
                <a:ea typeface="Malgun Gothic"/>
                <a:cs typeface="Malgun Gothic"/>
              </a:rPr>
              <a:t>출처·수집일을 유지하고 불일치 검토</a:t>
            </a:r>
          </a:p>
        </p:txBody>
      </p:sp>
      <p:sp>
        <p:nvSpPr>
          <p:cNvPr id="6" name="직사각형 5">
            <a:extLst xmlns:a="http://schemas.openxmlformats.org/drawingml/2006/main">
              <a:ext uri="{FF2B5EF4-FFF2-40B4-BE49-F238E27FC236}">
                <a16:creationId xmlns:a16="http://schemas.microsoft.com/office/drawing/2014/main" id="{27ED860B-E92A-44D3-8AB1-454780CE909E}"/>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TVING·나무위키 URL 입력 도구 구현 / CJ ENM은 별도 API 검증 완료, 앱 연결은 후속 작업</a:t>
            </a:r>
          </a:p>
        </p:txBody>
      </p:sp>
      <p:sp>
        <p:nvSpPr>
          <p:cNvPr id="7" name="직사각형 6">
            <a:extLst xmlns:a="http://schemas.openxmlformats.org/drawingml/2006/main">
              <a:ext uri="{FF2B5EF4-FFF2-40B4-BE49-F238E27FC236}">
                <a16:creationId xmlns:a16="http://schemas.microsoft.com/office/drawing/2014/main" id="{CF51061F-C948-440B-A887-785E05F381D4}"/>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12</a:t>
            </a:r>
          </a:p>
        </p:txBody>
      </p:sp>
    </p:spTree>
    <p:extLst>
      <p:ext uri="{BB962C8B-B14F-4D97-AF65-F5344CB8AC3E}">
        <p14:creationId xmlns:p14="http://schemas.microsoft.com/office/powerpoint/2010/main" val="1587358444"/>
      </p:ext>
    </p:extLst>
  </p:cSld>
</p:sld>
</file>

<file path=ppt/slides/slide13.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10" name="직사각형 9">
            <a:extLst xmlns:a="http://schemas.openxmlformats.org/drawingml/2006/main">
              <a:ext uri="{FF2B5EF4-FFF2-40B4-BE49-F238E27FC236}">
                <a16:creationId xmlns:a16="http://schemas.microsoft.com/office/drawing/2014/main" id="{6D2C736A-D274-420C-BCEC-AA1C7C5780AB}"/>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참고: 목록 페이지와 TVING 작품 응답</a:t>
            </a:r>
          </a:p>
        </p:txBody>
      </p:sp>
      <p:sp>
        <p:nvSpPr>
          <p:cNvPr id="2" name="직사각형 1">
            <a:extLst xmlns:a="http://schemas.openxmlformats.org/drawingml/2006/main">
              <a:ext uri="{FF2B5EF4-FFF2-40B4-BE49-F238E27FC236}">
                <a16:creationId xmlns:a16="http://schemas.microsoft.com/office/drawing/2014/main" id="{16050501-375D-42AC-9495-9D31A5B448DC}"/>
              </a:ext>
            </a:extLst>
          </p:cNvPr>
          <p:cNvSpPr>
            <a:spLocks xmlns:a="http://schemas.openxmlformats.org/drawingml/2006/main" noGrp="1"/>
          </p:cNvSpPr>
          <p:nvPr/>
        </p:nvSpPr>
        <p:spPr>
          <a:xfrm xmlns:a="http://schemas.openxmlformats.org/drawingml/2006/main">
            <a:off x="609600" y="13525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MBC 충북 뉴스 목록</a:t>
            </a:r>
          </a:p>
        </p:txBody>
      </p:sp>
      <p:sp>
        <p:nvSpPr>
          <p:cNvPr id="3" name="직사각형 2">
            <a:extLst xmlns:a="http://schemas.openxmlformats.org/drawingml/2006/main">
              <a:ext uri="{FF2B5EF4-FFF2-40B4-BE49-F238E27FC236}">
                <a16:creationId xmlns:a16="http://schemas.microsoft.com/office/drawing/2014/main" id="{FE730710-E599-4D95-91C4-6208D8C8CC2A}"/>
              </a:ext>
            </a:extLst>
          </p:cNvPr>
          <p:cNvSpPr>
            <a:spLocks xmlns:a="http://schemas.openxmlformats.org/drawingml/2006/main" noGrp="1"/>
          </p:cNvSpPr>
          <p:nvPr/>
        </p:nvSpPr>
        <p:spPr>
          <a:xfrm xmlns:a="http://schemas.openxmlformats.org/drawingml/2006/main">
            <a:off x="6343650" y="13525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TVING 작품 메타데이터 응답</a:t>
            </a:r>
          </a:p>
        </p:txBody>
      </p:sp>
      <p:pic>
        <p:nvPicPr>
          <p:cNvPr id="4" name="그림 3">
            <a:extLst xmlns:a="http://schemas.openxmlformats.org/drawingml/2006/main">
              <a:ext uri="{FF2B5EF4-FFF2-40B4-BE49-F238E27FC236}">
                <a16:creationId xmlns:a16="http://schemas.microsoft.com/office/drawing/2014/main" id="{689D66E3-B15C-48EC-AF93-3BDC3A28A7D2}"/>
              </a:ext>
            </a:extLst>
          </p:cNvPr>
          <p:cNvPicPr>
            <a:picLocks xmlns:a="http://schemas.openxmlformats.org/drawingml/2006/main" noChangeAspect="1"/>
          </p:cNvPicPr>
          <p:nvPr/>
        </p:nvPicPr>
        <p:blipFill>
          <a:blip xmlns:r="http://schemas.openxmlformats.org/officeDocument/2006/relationships" xmlns:a="http://schemas.openxmlformats.org/drawingml/2006/main" r:embed="Rce03ca76882b4cfd"/>
          <a:stretch xmlns:a="http://schemas.openxmlformats.org/drawingml/2006/main"/>
        </p:blipFill>
        <p:spPr>
          <a:xfrm xmlns:a="http://schemas.openxmlformats.org/drawingml/2006/main">
            <a:off x="1508145" y="1885950"/>
            <a:ext cx="3441660" cy="3143250"/>
          </a:xfrm>
          <a:prstGeom xmlns:a="http://schemas.openxmlformats.org/drawingml/2006/main" prst="rect">
            <a:avLst/>
          </a:prstGeom>
        </p:spPr>
      </p:pic>
      <p:pic>
        <p:nvPicPr>
          <p:cNvPr id="5" name="그림 4">
            <a:extLst xmlns:a="http://schemas.openxmlformats.org/drawingml/2006/main">
              <a:ext uri="{FF2B5EF4-FFF2-40B4-BE49-F238E27FC236}">
                <a16:creationId xmlns:a16="http://schemas.microsoft.com/office/drawing/2014/main" id="{98C12DAE-3D00-4629-9C55-BCF191DBB277}"/>
              </a:ext>
            </a:extLst>
          </p:cNvPr>
          <p:cNvPicPr>
            <a:picLocks xmlns:a="http://schemas.openxmlformats.org/drawingml/2006/main" noChangeAspect="1"/>
          </p:cNvPicPr>
          <p:nvPr/>
        </p:nvPicPr>
        <p:blipFill>
          <a:blip xmlns:r="http://schemas.openxmlformats.org/officeDocument/2006/relationships" xmlns:a="http://schemas.openxmlformats.org/drawingml/2006/main" r:embed="R8e6536cd95a646f4"/>
          <a:stretch xmlns:a="http://schemas.openxmlformats.org/drawingml/2006/main"/>
        </p:blipFill>
        <p:spPr>
          <a:xfrm xmlns:a="http://schemas.openxmlformats.org/drawingml/2006/main">
            <a:off x="6843494" y="1885950"/>
            <a:ext cx="4239062" cy="3143250"/>
          </a:xfrm>
          <a:prstGeom xmlns:a="http://schemas.openxmlformats.org/drawingml/2006/main" prst="rect">
            <a:avLst/>
          </a:prstGeom>
        </p:spPr>
      </p:pic>
      <p:sp>
        <p:nvSpPr>
          <p:cNvPr id="6" name="직사각형 5">
            <a:extLst xmlns:a="http://schemas.openxmlformats.org/drawingml/2006/main">
              <a:ext uri="{FF2B5EF4-FFF2-40B4-BE49-F238E27FC236}">
                <a16:creationId xmlns:a16="http://schemas.microsoft.com/office/drawing/2014/main" id="{63C16D4E-9D81-4866-B541-596D74EF9EC7}"/>
              </a:ext>
            </a:extLst>
          </p:cNvPr>
          <p:cNvSpPr>
            <a:spLocks xmlns:a="http://schemas.openxmlformats.org/drawingml/2006/main" noGrp="1"/>
          </p:cNvSpPr>
          <p:nvPr/>
        </p:nvSpPr>
        <p:spPr>
          <a:xfrm xmlns:a="http://schemas.openxmlformats.org/drawingml/2006/main">
            <a:off x="609600" y="5372100"/>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뉴스 항목별 제목·기자·시각 표시</a:t>
            </a:r>
          </a:p>
        </p:txBody>
      </p:sp>
      <p:sp>
        <p:nvSpPr>
          <p:cNvPr id="7" name="직사각형 6">
            <a:extLst xmlns:a="http://schemas.openxmlformats.org/drawingml/2006/main">
              <a:ext uri="{FF2B5EF4-FFF2-40B4-BE49-F238E27FC236}">
                <a16:creationId xmlns:a16="http://schemas.microsoft.com/office/drawing/2014/main" id="{AF4389E7-7F42-4B94-8B01-0001845668B5}"/>
              </a:ext>
            </a:extLst>
          </p:cNvPr>
          <p:cNvSpPr>
            <a:spLocks xmlns:a="http://schemas.openxmlformats.org/drawingml/2006/main" noGrp="1"/>
          </p:cNvSpPr>
          <p:nvPr/>
        </p:nvSpPr>
        <p:spPr>
          <a:xfrm xmlns:a="http://schemas.openxmlformats.org/drawingml/2006/main">
            <a:off x="6343650" y="5372100"/>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출연진·소개 존재, 제작 역할은 비교 필요</a:t>
            </a:r>
          </a:p>
        </p:txBody>
      </p:sp>
      <p:sp>
        <p:nvSpPr>
          <p:cNvPr id="8" name="직사각형 7">
            <a:extLst xmlns:a="http://schemas.openxmlformats.org/drawingml/2006/main">
              <a:ext uri="{FF2B5EF4-FFF2-40B4-BE49-F238E27FC236}">
                <a16:creationId xmlns:a16="http://schemas.microsoft.com/office/drawing/2014/main" id="{8B13E126-1B36-4594-816D-AE34FBB52B07}"/>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캡처 원본은 reports/1에 보관 / 상세 출처와 검증 범위는 각 슬라이드의 발표자 노트에 기재</a:t>
            </a:r>
          </a:p>
        </p:txBody>
      </p:sp>
      <p:sp>
        <p:nvSpPr>
          <p:cNvPr id="9" name="직사각형 8">
            <a:extLst xmlns:a="http://schemas.openxmlformats.org/drawingml/2006/main">
              <a:ext uri="{FF2B5EF4-FFF2-40B4-BE49-F238E27FC236}">
                <a16:creationId xmlns:a16="http://schemas.microsoft.com/office/drawing/2014/main" id="{A86686EE-1A8A-47E3-9823-E38491176CEB}"/>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13</a:t>
            </a:r>
          </a:p>
        </p:txBody>
      </p:sp>
    </p:spTree>
    <p:extLst>
      <p:ext uri="{BB962C8B-B14F-4D97-AF65-F5344CB8AC3E}">
        <p14:creationId xmlns:p14="http://schemas.microsoft.com/office/powerpoint/2010/main" val="10575529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2026-10-12T02:21:00.9860000Z</dcterms:created>
  <dcterms:modified xsi:type="dcterms:W3CDTF">2026-10-12T02:21:00.9860000Z</dcterms:modified>
</coreProperties>
</file>