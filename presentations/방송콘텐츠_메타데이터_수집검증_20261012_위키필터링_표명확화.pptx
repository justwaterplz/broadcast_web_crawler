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1124505ad84c72" /><Relationship Type="http://schemas.openxmlformats.org/officeDocument/2006/relationships/extended-properties" Target="/docProps/app.xml" Id="R65ca5a57179143f8" /><Relationship Type="http://schemas.openxmlformats.org/officeDocument/2006/relationships/officeDocument" Target="/ppt/presentation.xml" Id="R4bc04df7374049d4" /></Relationships>
</file>

<file path=ppt/presentation.xml><?xml version="1.0" encoding="utf-8"?>
<p:presentation xmlns:p="http://schemas.openxmlformats.org/presentationml/2006/main">
  <p:sldMasterIdLst>
    <p:sldMasterId xmlns:r="http://schemas.openxmlformats.org/officeDocument/2006/relationships" id="2147483648" r:id="Rddaee264945a4b08"/>
  </p:sldMasterIdLst>
  <p:notesMasterIdLst>
    <p:notesMasterId xmlns:r="http://schemas.openxmlformats.org/officeDocument/2006/relationships" r:id="R4af8d129415c4562"/>
  </p:notesMasterIdLst>
  <p:sldIdLst>
    <p:sldId xmlns:r="http://schemas.openxmlformats.org/officeDocument/2006/relationships" id="256" r:id="Rf3a83a6d32834991"/>
    <p:sldId xmlns:r="http://schemas.openxmlformats.org/officeDocument/2006/relationships" id="257" r:id="R6c1972625c6e41be"/>
    <p:sldId xmlns:r="http://schemas.openxmlformats.org/officeDocument/2006/relationships" id="258" r:id="R5e62608e817649c5"/>
    <p:sldId xmlns:r="http://schemas.openxmlformats.org/officeDocument/2006/relationships" id="259" r:id="Rb8e669fcae5f42bf"/>
    <p:sldId xmlns:r="http://schemas.openxmlformats.org/officeDocument/2006/relationships" id="260" r:id="R62d8060cdd554297"/>
    <p:sldId xmlns:r="http://schemas.openxmlformats.org/officeDocument/2006/relationships" id="261" r:id="R1684c04ec604419b"/>
    <p:sldId xmlns:r="http://schemas.openxmlformats.org/officeDocument/2006/relationships" id="262" r:id="Rd872728d581a414a"/>
    <p:sldId xmlns:r="http://schemas.openxmlformats.org/officeDocument/2006/relationships" id="263" r:id="R8d9efb8db90348d9"/>
    <p:sldId xmlns:r="http://schemas.openxmlformats.org/officeDocument/2006/relationships" id="264" r:id="R13a4c39e00d34f82"/>
    <p:sldId xmlns:r="http://schemas.openxmlformats.org/officeDocument/2006/relationships" id="265" r:id="Rdbb83bf0e5764a08"/>
    <p:sldId xmlns:r="http://schemas.openxmlformats.org/officeDocument/2006/relationships" id="266" r:id="Rc6b12b8e165c431e"/>
    <p:sldId xmlns:r="http://schemas.openxmlformats.org/officeDocument/2006/relationships" id="267" r:id="Re9250fdda8ec427e"/>
    <p:sldId xmlns:r="http://schemas.openxmlformats.org/officeDocument/2006/relationships" id="268" r:id="R52fe6a1592ed46f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01652453a594529" /><Relationship Type="http://schemas.openxmlformats.org/officeDocument/2006/relationships/slideMaster" Target="/ppt/slideMasters/slideMaster1.xml" Id="Rddaee264945a4b08" /><Relationship Type="http://schemas.openxmlformats.org/officeDocument/2006/relationships/notesMaster" Target="/ppt/notesMasters/notesMaster1.xml" Id="R4af8d129415c4562" /><Relationship Type="http://schemas.openxmlformats.org/officeDocument/2006/relationships/presProps" Target="/ppt/presProps.xml" Id="Rfb019e96c0304d26" /><Relationship Type="http://schemas.openxmlformats.org/officeDocument/2006/relationships/viewProps" Target="/ppt/viewProps.xml" Id="Re1eb92f77c6b493d" /><Relationship Type="http://schemas.openxmlformats.org/officeDocument/2006/relationships/tableStyles" Target="/ppt/tableStyles.xml" Id="Rcc1b2d5beb024c8b" /><Relationship Type="http://schemas.openxmlformats.org/officeDocument/2006/relationships/slide" Target="/ppt/slides/slide1.xml" Id="Rf3a83a6d32834991" /><Relationship Type="http://schemas.openxmlformats.org/officeDocument/2006/relationships/slide" Target="/ppt/slides/slide2.xml" Id="R6c1972625c6e41be" /><Relationship Type="http://schemas.openxmlformats.org/officeDocument/2006/relationships/slide" Target="/ppt/slides/slide3.xml" Id="R5e62608e817649c5" /><Relationship Type="http://schemas.openxmlformats.org/officeDocument/2006/relationships/slide" Target="/ppt/slides/slide4.xml" Id="Rb8e669fcae5f42bf" /><Relationship Type="http://schemas.openxmlformats.org/officeDocument/2006/relationships/slide" Target="/ppt/slides/slide5.xml" Id="R62d8060cdd554297" /><Relationship Type="http://schemas.openxmlformats.org/officeDocument/2006/relationships/slide" Target="/ppt/slides/slide6.xml" Id="R1684c04ec604419b" /><Relationship Type="http://schemas.openxmlformats.org/officeDocument/2006/relationships/slide" Target="/ppt/slides/slide7.xml" Id="Rd872728d581a414a" /><Relationship Type="http://schemas.openxmlformats.org/officeDocument/2006/relationships/slide" Target="/ppt/slides/slide8.xml" Id="R8d9efb8db90348d9" /><Relationship Type="http://schemas.openxmlformats.org/officeDocument/2006/relationships/slide" Target="/ppt/slides/slide9.xml" Id="R13a4c39e00d34f82" /><Relationship Type="http://schemas.openxmlformats.org/officeDocument/2006/relationships/slide" Target="/ppt/slides/slide10.xml" Id="Rdbb83bf0e5764a08" /><Relationship Type="http://schemas.openxmlformats.org/officeDocument/2006/relationships/slide" Target="/ppt/slides/slide11.xml" Id="Rc6b12b8e165c431e" /><Relationship Type="http://schemas.openxmlformats.org/officeDocument/2006/relationships/slide" Target="/ppt/slides/slide12.xml" Id="Re9250fdda8ec427e" /><Relationship Type="http://schemas.openxmlformats.org/officeDocument/2006/relationships/slide" Target="/ppt/slides/slide13.xml" Id="R52fe6a1592ed46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2f7f6c351648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342430af554f7e" /><Relationship Type="http://schemas.openxmlformats.org/officeDocument/2006/relationships/notesMaster" Target="/ppt/notesMasters/notesMaster1.xml" Id="R1ab55111d67042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38c5c2f72747f4" /><Relationship Type="http://schemas.openxmlformats.org/officeDocument/2006/relationships/notesMaster" Target="/ppt/notesMasters/notesMaster1.xml" Id="R2c9a6e6b9f5044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9859e389d84a47" /><Relationship Type="http://schemas.openxmlformats.org/officeDocument/2006/relationships/notesMaster" Target="/ppt/notesMasters/notesMaster1.xml" Id="R51f5a1f2e1994f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2d41910fa24138" /><Relationship Type="http://schemas.openxmlformats.org/officeDocument/2006/relationships/notesMaster" Target="/ppt/notesMasters/notesMaster1.xml" Id="Rf90dc8867b2047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41fc92c9c54197" /><Relationship Type="http://schemas.openxmlformats.org/officeDocument/2006/relationships/notesMaster" Target="/ppt/notesMasters/notesMaster1.xml" Id="R2cdb1ecaadca49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d4fbc1058f4849" /><Relationship Type="http://schemas.openxmlformats.org/officeDocument/2006/relationships/notesMaster" Target="/ppt/notesMasters/notesMaster1.xml" Id="Rb81d98c78b684a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8ef77a67a641e4" /><Relationship Type="http://schemas.openxmlformats.org/officeDocument/2006/relationships/notesMaster" Target="/ppt/notesMasters/notesMaster1.xml" Id="R32f557b61bac4b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9138ab62f94eaa" /><Relationship Type="http://schemas.openxmlformats.org/officeDocument/2006/relationships/notesMaster" Target="/ppt/notesMasters/notesMaster1.xml" Id="R8b6e9a085f284a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6d9dd2b72b4f8d" /><Relationship Type="http://schemas.openxmlformats.org/officeDocument/2006/relationships/notesMaster" Target="/ppt/notesMasters/notesMaster1.xml" Id="R677ffb5e3f0448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9d98ceca60486f" /><Relationship Type="http://schemas.openxmlformats.org/officeDocument/2006/relationships/notesMaster" Target="/ppt/notesMasters/notesMaster1.xml" Id="Rcee5a0e03a7f47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7d0fa0fddd45ca" /><Relationship Type="http://schemas.openxmlformats.org/officeDocument/2006/relationships/notesMaster" Target="/ppt/notesMasters/notesMaster1.xml" Id="R846271ef094949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e6ba1c07954623" /><Relationship Type="http://schemas.openxmlformats.org/officeDocument/2006/relationships/notesMaster" Target="/ppt/notesMasters/notesMaster1.xml" Id="Rab14fa070c9040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15f07f51424d48" /><Relationship Type="http://schemas.openxmlformats.org/officeDocument/2006/relationships/notesMaster" Target="/ppt/notesMasters/notesMaster1.xml" Id="R5a44a44eca5c4f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xmlns:a="http://schemas.openxmlformats.org/drawingml/2006/main">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a:p xmlns:a="http://schemas.openxmlformats.org/drawingml/2006/main">
            <a:r>
              <a:t>사용자 수정 반영: 이 슬라이드의 표는 제공한 웹사이트 화면에서 확인한 정보만 다룹니다. 15세 이상은 API의 dlbrtGrd에서 확인한 값이며 화면 기본 정보에 표시된 항목으로 제시하지 않습니다. 화면에 표시된 출연진은 송강·이준영·장규리·정진영 4명이고 등장인물 설명은 강비오(송강)·최정요(이준영) 2명만 제공합니다. 사이트의 전체 출연진 또는 다른 문서의 등장인물 수로 일반화하지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xmlns:a="http://schemas.openxmlformats.org/drawingml/2006/main">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a:p xmlns:a="http://schemas.openxmlformats.org/drawingml/2006/main">
            <a:r>
              <a:t>화면과 API 비교 수정: 제공 캡처 cjenm_detail1.png에는 시청 등급이 표시되지 않고 소개문은 접힌 상태로 더보기 링크가 있습니다. API dlbrtGrd는 15세 이상이며 pgmDescp는 전체 소개문 텍스트입니다. 더보기 클릭 후 화면에 같은 전체 소개문이 표시되는지는 이번 비교에서 확인하지 않았으므로 전체 소개문을 API에서만 존재하는 정보로 단정하지 않습니다. 제작진·출연진·회차 수는 화면과 API에 공통이며 구조화된 필드로 확보할 수 있습니다. 등장인물 응답은 화면과 같은 2명으로 추가 인물이 없고, 두 API에는 회차별 시놉시스가 없습니다. API 실측 근거 reports/cjenm-api-verification/20261012_085630의 원본 응답과 검증 보고서입니다.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a:p xmlns:a="http://schemas.openxmlformats.org/drawingml/2006/main">
            <a:r>
              <a:t>CJ ENM과 TVING 비교 근거: reports/cjenm-api-verification/20261012_085630/content-metadata.json 및 data/tving/20261007_210908_251349_드라마_전체/contents.json의 P001790301. TVING episodes는 12개이며 전 회차에 시놉시스·방송일·duration_seconds가 있습니다. CJ ENM 응답의 episode_count 12는 총 회차 수만 제공하고 episodes 배열은 비어 있습니다. 출연진은 CJ ENM 4명, TVING 7명이며 추가 3명은 윤세아·김주헌·서재희입니다. 두 출처는 다른 시점의 데이터이며 출연진 전체의 완전성을 보장하지 않습니다. 방송 기간과 회차별 방송일을 구분합니다. TVING director 배열은 제작 역할이 혼재할 수 있어 추가 연출진 확정 자료로 사용하지 않습니다. CJ ENM에서 확인한 연출 박현석·작가 신이원을 유지하고 원본 출처별 값을 별도로 보존합니다. 시놉시스는 회차 소개이며 대본 원문이 아닙니다.</a:t>
            </a:r>
          </a:p>
          <a:p xmlns:a="http://schemas.openxmlformats.org/drawingml/2006/main">
            <a:r>
              <a:t>부분집합으로 단정하지 않습니다. CJ ENM에는 작가 신이원 및 두 인물의 배역·설명 텍스트가 있습니다. TVING 저장본에는 writers=null이며 인물 설명 필드가 없습니다. TVING directors는 연출·작가 등의 역할이 혼재한 원본 인명 배열이므로 연출진이 더 많다는 결론을 내리지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a:p xmlns:a="http://schemas.openxmlformats.org/drawingml/2006/main">
            <a:r>
              <a:t>이 슬라이드는 앞 비교표의 추가 회차 정보에 대한 응답 근거입니다. CJ ENM의 두 API에는 회차별 시놉시스·방송일·재생 시간 목록이 없으며 TVING 응답에서 확보합니다. 1화와 2화 예시 외에도 저장 JSON에 12개 회차를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집계 근거: data/tving/20261007_210908_251349_드라마_전체/contents.json. 20개 작품과 341개 회차를 저장했습니다. 작품 기본 정보는 __NEXT_DATA__ 및 JSON-LD에서 추출하며 회차 세부 정보는 /v2/media/frequency/program/{code} API 응답에서 추출합니다. 코드 근거: src/broadcast_web_crawler/tving.py parse_detail, content_metadata, collect_program_with_report. 현재 배치가 기본 정보까지 API만으로 수집했음을 검증한 것은 아닙니다. HTTP HTML과 API 요청을 결합하고 브라우저 화면 조작 없이 저장합니다. 모든 제시된 작품 공통 필드는 각각 20개에 값이 있으며 종료일은 19개, 작가와 키워드는 0개입니다. 회차 ID·번호·제목·방송일·재생 시간·시놉시스는 각각 341개에 값이 있습니다. 인명 역할 및 자료의 사실 정확성 검증과는 별개의 값 존재 집계입니다. TVING director에는 작가 등 다른 역할이 혼재할 수 있습니다. 수집기는 페이지네이션 및 여러 시즌 순회를 지원하지 않으므로 회차 개수로 전체 작품의 완전성을 일반화하지 않습니다. 왼쪽 화면은 목록 구조 예시이며 당시 순위 증거는 저장 배치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data/namuwiki/20261008_151253_308786_나무위키_TVING_20개작품/포핸즈_20261008/program.json 및 collection-report.json. 포핸즈 본문은 2026.10.08 HTTP 200, status=exists, extraction_status=collected로 저장됐습니다. 본문 제작사 원본은 스튜디오드래곤, 스튜디오N, 나무엑터스입니다. 위키의 주장을 제작 사실로 독립 검증한 것은 아닙니다. 시청 등급 원본은 15세 이상 시청가 (주제, 언어, 모방위험)입니다. related_documents에 포핸즈/등장인물 및 포핸즈/방영 목록 링크를 확보했으며 related_documents_checked=false, episode_details_collected=false, episodes=[] 입니다. 현재 등장인물 절의 텍스트는 하위 문서 안내만 포함합니다. 하위 문서의 상세 인물·관계·줄거리·회차 정보는 아직 확인하거나 수집하지 않았습니다. 사용자가 직접 대상 작품과 하위 문서 URL을 확인한 뒤 입력하는 흐름을 사용합니다. 수집 시 문서 URL·절 제목·수집 시각 및 가능하면 문서 버전을 같이 보존하고 작품 일치 여부, 원문 근거, 사실과 평가의 구분을 검토합니다. 이번 검토에서 현재 웹 도구로 본문을 다시 열지는 못했습니다. 이 슬라이드는 저장된 과거 수집 결과를 기준으로 하며 현재 접속 검증을 주장하지 않습니다. 기존 냉장고를 부탁해 예시를 같은 작품인 포핸즈의 저장 데이터로 대체해 출처 간 비교를 유지합니다.</a:t>
            </a:r>
          </a:p>
          <a:p xmlns:a="http://schemas.openxmlformats.org/drawingml/2006/main">
            <a:r>
              <a:t>사용자 요청 반영: 나무위키는 공동 편집 문서이므로 콘텐츠 관계자 외의 다수 편집자가 서술을 작성·수정할 수 있다는 특성을 설명합니다. 위키 서술을 검증된 공식 사실로 자동 승격하지 않고 원문·출처·수집 시각을 보존하며 공식 출처와 비교하고 사실·평가를 구분하는 필터링 및 검토가 필요합니다. 모든 위키 내용이 잘못되었다고 단정하지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a:p xmlns:a="http://schemas.openxmlformats.org/drawingml/2006/main">
            <a:r>
              <a:t>출처들은 엄밀한 부분집합 관계가 아닙니다. CJ ENM 고유 정보는 작가와 인물 설명, TVING은 회차별 소개·방송일·재생 시간, 나무위키 본문은 제작사·세부 장르·등급 부가 표기입니다. 포핸즈 위키 본문은 저장 완료이며 하위 문서 수집은 다음 확인 범위입니다. 중복 값은 출처별로 보존하고 동일 작품을 제목뿐 아니라 TVING 연결 ID, 방송 기간, 채널 등으로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c07e83e6ad49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f0b84d2b5b49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075e7574ac46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3f052dac7549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d0d247d1154c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a69d54962d4e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aee1a435604544" /><Relationship Type="http://schemas.openxmlformats.org/officeDocument/2006/relationships/slideLayout" Target="/ppt/slideLayouts/slideLayout1.xml" Id="Re4460da49ea548cb" /><Relationship Type="http://schemas.openxmlformats.org/officeDocument/2006/relationships/slideLayout" Target="/ppt/slideLayouts/slideLayout2.xml" Id="R5a88cc612f7f45f1" /><Relationship Type="http://schemas.openxmlformats.org/officeDocument/2006/relationships/slideLayout" Target="/ppt/slideLayouts/slideLayout3.xml" Id="R8aeec45dd0c44900" /><Relationship Type="http://schemas.openxmlformats.org/officeDocument/2006/relationships/slideLayout" Target="/ppt/slideLayouts/slideLayout4.xml" Id="R1b91492cbf8a43fa" /><Relationship Type="http://schemas.openxmlformats.org/officeDocument/2006/relationships/slideLayout" Target="/ppt/slideLayouts/slideLayout5.xml" Id="R97200ffae4db4656" /><Relationship Type="http://schemas.openxmlformats.org/officeDocument/2006/relationships/slideLayout" Target="/ppt/slideLayouts/slideLayout6.xml" Id="R789f28c108d84c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460da49ea548cb"/>
    <p:sldLayoutId xmlns:r="http://schemas.openxmlformats.org/officeDocument/2006/relationships" id="2147483650" r:id="R5a88cc612f7f45f1"/>
    <p:sldLayoutId xmlns:r="http://schemas.openxmlformats.org/officeDocument/2006/relationships" id="2147483651" r:id="R8aeec45dd0c44900"/>
    <p:sldLayoutId xmlns:r="http://schemas.openxmlformats.org/officeDocument/2006/relationships" id="2147483652" r:id="R1b91492cbf8a43fa"/>
    <p:sldLayoutId xmlns:r="http://schemas.openxmlformats.org/officeDocument/2006/relationships" id="2147483653" r:id="R97200ffae4db4656"/>
    <p:sldLayoutId xmlns:r="http://schemas.openxmlformats.org/officeDocument/2006/relationships" id="2147483654" r:id="R789f28c108d84c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b9a7812ed94e78" /><Relationship Type="http://schemas.openxmlformats.org/officeDocument/2006/relationships/notesSlide" Target="/ppt/notesSlides/notesSlide1.xml" Id="Ref0006ac6a5544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8a381192984d18" /><Relationship Type="http://schemas.openxmlformats.org/officeDocument/2006/relationships/notesSlide" Target="/ppt/notesSlides/notesSlide2.xml" Id="R2b2b7f264fe644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bf1477c0ed45df" /><Relationship Type="http://schemas.openxmlformats.org/officeDocument/2006/relationships/image" Target="/ppt/media/image.png" Id="R152261857b554247" /><Relationship Type="http://schemas.openxmlformats.org/officeDocument/2006/relationships/notesSlide" Target="/ppt/notesSlides/notesSlide3.xml" Id="Re334ad1b997240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422146e64a74128" /><Relationship Type="http://schemas.openxmlformats.org/officeDocument/2006/relationships/image" Target="/ppt/media/image2.png" Id="R20741167f0e94121" /><Relationship Type="http://schemas.openxmlformats.org/officeDocument/2006/relationships/image" Target="/ppt/media/image3.png" Id="Rfc6b632292484bc1" /><Relationship Type="http://schemas.openxmlformats.org/officeDocument/2006/relationships/notesSlide" Target="/ppt/notesSlides/notesSlide4.xml" Id="Rf9563e18c86a4e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dc09e9b56446e0" /><Relationship Type="http://schemas.openxmlformats.org/officeDocument/2006/relationships/image" Target="/ppt/media/image4.png" Id="R976a0818f4c34d95" /><Relationship Type="http://schemas.openxmlformats.org/officeDocument/2006/relationships/notesSlide" Target="/ppt/notesSlides/notesSlide5.xml" Id="Rfc3c85636c2d40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30858fb80164caf" /><Relationship Type="http://schemas.openxmlformats.org/officeDocument/2006/relationships/image" Target="/ppt/media/image5.png" Id="R05bb0022d5004dea" /><Relationship Type="http://schemas.openxmlformats.org/officeDocument/2006/relationships/notesSlide" Target="/ppt/notesSlides/notesSlide6.xml" Id="Rc0effcd113694f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b8a8afaebfd4047" /><Relationship Type="http://schemas.openxmlformats.org/officeDocument/2006/relationships/image" Target="/ppt/media/image6.png" Id="R0cecb603cbf14942" /><Relationship Type="http://schemas.openxmlformats.org/officeDocument/2006/relationships/notesSlide" Target="/ppt/notesSlides/notesSlide7.xml" Id="R652b309beffe48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e6d3dda12b4f73" /><Relationship Type="http://schemas.openxmlformats.org/officeDocument/2006/relationships/image" Target="/ppt/media/image7.png" Id="R42685f6fb4954d91" /><Relationship Type="http://schemas.openxmlformats.org/officeDocument/2006/relationships/notesSlide" Target="/ppt/notesSlides/notesSlide8.xml" Id="Rd59f45dda6a04d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1ca857e7ae643fe" /><Relationship Type="http://schemas.openxmlformats.org/officeDocument/2006/relationships/image" Target="/ppt/media/image8.png" Id="R8137a7f550024de2" /><Relationship Type="http://schemas.openxmlformats.org/officeDocument/2006/relationships/image" Target="/ppt/media/image9.png" Id="R55c5d079272d4b6b" /><Relationship Type="http://schemas.openxmlformats.org/officeDocument/2006/relationships/notesSlide" Target="/ppt/notesSlides/notesSlide9.xml" Id="R264d39d64df442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3624eb866b04c83" /><Relationship Type="http://schemas.openxmlformats.org/officeDocument/2006/relationships/image" Target="/ppt/media/image10.png" Id="R22f16160d5f04061" /><Relationship Type="http://schemas.openxmlformats.org/officeDocument/2006/relationships/notesSlide" Target="/ppt/notesSlides/notesSlide10.xml" Id="Rfd6f598d8b3c4d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e4d90d3f9354dd9" /><Relationship Type="http://schemas.openxmlformats.org/officeDocument/2006/relationships/notesSlide" Target="/ppt/notesSlides/notesSlide11.xml" Id="R20be3123e17348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1392eb6fbc4b69" /><Relationship Type="http://schemas.openxmlformats.org/officeDocument/2006/relationships/image" Target="/ppt/media/image11.png" Id="Rafe22d72d19341a0" /><Relationship Type="http://schemas.openxmlformats.org/officeDocument/2006/relationships/notesSlide" Target="/ppt/notesSlides/notesSlide12.xml" Id="R7ccb3144822d4c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255c1091f084e85" /><Relationship Type="http://schemas.openxmlformats.org/officeDocument/2006/relationships/image" Target="/ppt/media/image12.png" Id="R4b7654c8bb754663" /><Relationship Type="http://schemas.openxmlformats.org/officeDocument/2006/relationships/image" Target="/ppt/media/image13.png" Id="Rffa2dfbaf4b44915" /><Relationship Type="http://schemas.openxmlformats.org/officeDocument/2006/relationships/notesSlide" Target="/ppt/notesSlides/notesSlide13.xml" Id="Rbd10837a650f4e3d"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직사각형 4">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직사각형 1">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직사각형 2">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직사각형 3">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직사각형 1">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표 2">
            <a:extLst xmlns:a="http://schemas.openxmlformats.org/drawingml/2006/main">
              <a:ext uri="{FF2B5EF4-FFF2-40B4-BE49-F238E27FC236}">
                <a16:creationId xmlns:a16="http://schemas.microsoft.com/office/drawing/2014/main" id="{30959D6E-3407-4C97-ACBC-81CC8294E9CA}"/>
              </a:ext>
            </a:extLst>
          </p:cNvPr>
          <p:cNvGraphicFramePr/>
          <p:nvPr/>
        </p:nvGraphicFramePr>
        <p:xfrm>
          <a:off xmlns:a="http://schemas.openxmlformats.org/drawingml/2006/main" x="609600" y="1952625"/>
          <a:ext xmlns:a="http://schemas.openxmlformats.org/drawingml/2006/main" cx="10972800" cy="2381252"/>
        </p:xfrm>
        <a:graphic xmlns:a="http://schemas.openxmlformats.org/drawingml/2006/main">
          <a:graphicData uri="http://schemas.openxmlformats.org/drawingml/2006/table">
            <a:tbl>
              <a:tblPr/>
              <a:tblGrid>
                <a:gridCol w="5619750"/>
                <a:gridCol w="5353050"/>
              </a:tblGrid>
              <a:tr h="595313">
                <a:tc>
                  <a:txBody>
                    <a:bodyPr/>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직사각형 4">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직사각형 5">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직사각형 6">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그림 1">
            <a:extLst xmlns:a="http://schemas.openxmlformats.org/drawingml/2006/main">
              <a:ext uri="{FF2B5EF4-FFF2-40B4-BE49-F238E27FC236}">
                <a16:creationId xmlns:a16="http://schemas.microsoft.com/office/drawing/2014/main" id="{53AD6A85-2F98-44B9-B142-B6F18E052B8C}"/>
              </a:ext>
            </a:extLst>
          </p:cNvPr>
          <p:cNvPicPr>
            <a:picLocks xmlns:a="http://schemas.openxmlformats.org/drawingml/2006/main" noChangeAspect="1"/>
          </p:cNvPicPr>
          <p:nvPr/>
        </p:nvPicPr>
        <p:blipFill>
          <a:blip xmlns:r="http://schemas.openxmlformats.org/officeDocument/2006/relationships" xmlns:a="http://schemas.openxmlformats.org/drawingml/2006/main" r:embed="R152261857b554247"/>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직사각형 3">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직사각형 4">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직사각형 5">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endParaRPr sz="1800" b="0">
              <a:solidFill>
                <a:srgbClr val="303044"/>
              </a:solidFill>
              <a:latin typeface="Malgun Gothic"/>
              <a:ea typeface="Malgun Gothic"/>
              <a:cs typeface="Malgun Gothic"/>
            </a:endParaRP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직사각형 6">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직사각형 7">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직사각형 1">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직사각형 2">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그림 3">
            <a:extLst xmlns:a="http://schemas.openxmlformats.org/drawingml/2006/main">
              <a:ext uri="{FF2B5EF4-FFF2-40B4-BE49-F238E27FC236}">
                <a16:creationId xmlns:a16="http://schemas.microsoft.com/office/drawing/2014/main" id="{349FCD81-E907-4FBF-AA73-FAD3F96252F5}"/>
              </a:ext>
            </a:extLst>
          </p:cNvPr>
          <p:cNvPicPr>
            <a:picLocks xmlns:a="http://schemas.openxmlformats.org/drawingml/2006/main" noChangeAspect="1"/>
          </p:cNvPicPr>
          <p:nvPr/>
        </p:nvPicPr>
        <p:blipFill>
          <a:blip xmlns:r="http://schemas.openxmlformats.org/officeDocument/2006/relationships" xmlns:a="http://schemas.openxmlformats.org/drawingml/2006/main" r:embed="R20741167f0e94121"/>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B02587BE-EFED-4D5C-8845-7F61BEEE5F92}"/>
              </a:ext>
            </a:extLst>
          </p:cNvPr>
          <p:cNvPicPr>
            <a:picLocks xmlns:a="http://schemas.openxmlformats.org/drawingml/2006/main" noChangeAspect="1"/>
          </p:cNvPicPr>
          <p:nvPr/>
        </p:nvPicPr>
        <p:blipFill>
          <a:blip xmlns:r="http://schemas.openxmlformats.org/officeDocument/2006/relationships" xmlns:a="http://schemas.openxmlformats.org/drawingml/2006/main" r:embed="Rfc6b632292484bc1"/>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직사각형 6">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직사각형 7">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그림 1">
            <a:extLst xmlns:a="http://schemas.openxmlformats.org/drawingml/2006/main">
              <a:ext uri="{FF2B5EF4-FFF2-40B4-BE49-F238E27FC236}">
                <a16:creationId xmlns:a16="http://schemas.microsoft.com/office/drawing/2014/main" id="{45442EE3-A4F9-4957-90CA-3E76E5E46B70}"/>
              </a:ext>
            </a:extLst>
          </p:cNvPr>
          <p:cNvPicPr>
            <a:picLocks xmlns:a="http://schemas.openxmlformats.org/drawingml/2006/main" noChangeAspect="1"/>
          </p:cNvPicPr>
          <p:nvPr/>
        </p:nvPicPr>
        <p:blipFill>
          <a:blip xmlns:r="http://schemas.openxmlformats.org/officeDocument/2006/relationships" xmlns:a="http://schemas.openxmlformats.org/drawingml/2006/main" r:embed="R976a0818f4c34d95"/>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사이트·API 호스트의 robots.txt에서 수집 제한 확인</a:t>
            </a:r>
          </a:p>
        </p:txBody>
      </p:sp>
      <p:sp>
        <p:nvSpPr>
          <p:cNvPr id="4" name="직사각형 3">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직사각형 4">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직사각형 5">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직사각형 6">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직사각형 7">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직사각형 8">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CJ ENM 사이트 robots.txt / API 호스트는 별도 확인 / 응답 존재와 수집 허용은 구분</a:t>
            </a:r>
          </a:p>
        </p:txBody>
      </p:sp>
      <p:sp>
        <p:nvSpPr>
          <p:cNvPr id="10" name="직사각형 9">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그림 1">
            <a:extLst xmlns:a="http://schemas.openxmlformats.org/drawingml/2006/main">
              <a:ext uri="{FF2B5EF4-FFF2-40B4-BE49-F238E27FC236}">
                <a16:creationId xmlns:a16="http://schemas.microsoft.com/office/drawing/2014/main" id="{3A1094D4-64B9-4341-94E0-01685193F81C}"/>
              </a:ext>
            </a:extLst>
          </p:cNvPr>
          <p:cNvPicPr>
            <a:picLocks xmlns:a="http://schemas.openxmlformats.org/drawingml/2006/main" noChangeAspect="1"/>
          </p:cNvPicPr>
          <p:nvPr/>
        </p:nvPicPr>
        <p:blipFill>
          <a:blip xmlns:r="http://schemas.openxmlformats.org/officeDocument/2006/relationships" xmlns:a="http://schemas.openxmlformats.org/drawingml/2006/main" r:embed="R05bb0022d5004dea"/>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표 2">
            <a:extLst xmlns:a="http://schemas.openxmlformats.org/drawingml/2006/main">
              <a:ext uri="{FF2B5EF4-FFF2-40B4-BE49-F238E27FC236}">
                <a16:creationId xmlns:a16="http://schemas.microsoft.com/office/drawing/2014/main" id="{8E2DEB2B-2EFF-42B5-A8A8-7DC6B32EB3A3}"/>
              </a:ext>
            </a:extLst>
          </p:cNvPr>
          <p:cNvGraphicFramePr/>
          <p:nvPr/>
        </p:nvGraphicFramePr>
        <p:xfrm>
          <a:off xmlns:a="http://schemas.openxmlformats.org/drawingml/2006/main" x="4724400" y="1438275"/>
          <a:ext xmlns:a="http://schemas.openxmlformats.org/drawingml/2006/main" cx="6858000" cy="3435035"/>
        </p:xfrm>
        <a:graphic xmlns:a="http://schemas.openxmlformats.org/drawingml/2006/main">
          <a:graphicData uri="http://schemas.openxmlformats.org/drawingml/2006/table">
            <a:tbl>
              <a:tblPr/>
              <a:tblGrid>
                <a:gridCol w="1666875"/>
                <a:gridCol w="5191125"/>
              </a:tblGrid>
              <a:tr h="563563">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화면에서 확인한 정보</a:t>
                      </a:r>
                    </a:p>
                  </a:txBody>
                  <a:tcPr marL="91440" marR="91440" marT="45720" marB="45720" anchor="ctr">
                    <a:solidFill>
                      <a:srgbClr val="EEEBF7"/>
                    </a:solidFill>
                  </a:tcPr>
                </a:tc>
              </a:tr>
              <a:tr h="563563">
                <a:tc>
                  <a:txBody>
                    <a:bodyPr/>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포핸즈, tvN, 12회</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출연진 4명 중 2명 정보만 제공</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등장인물 설명은 화면의 출연진 전체를 다루지 않음</a:t>
            </a:r>
          </a:p>
        </p:txBody>
      </p:sp>
      <p:sp>
        <p:nvSpPr>
          <p:cNvPr id="5" name="직사각형 4">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 기본 정보에는 연령 등급 미표시 / 15세 이상은 API 응답에서 확인</a:t>
            </a:r>
          </a:p>
        </p:txBody>
      </p:sp>
      <p:sp>
        <p:nvSpPr>
          <p:cNvPr id="6" name="직사각형 5">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409E380C-7014-407B-89A0-0A7BAF114EAF}"/>
              </a:ext>
            </a:extLst>
          </p:cNvPr>
          <p:cNvPicPr>
            <a:picLocks xmlns:a="http://schemas.openxmlformats.org/drawingml/2006/main" noChangeAspect="1"/>
          </p:cNvPicPr>
          <p:nvPr/>
        </p:nvPicPr>
        <p:blipFill>
          <a:blip xmlns:r="http://schemas.openxmlformats.org/officeDocument/2006/relationships" xmlns:a="http://schemas.openxmlformats.org/drawingml/2006/main" r:embed="R0cecb603cbf14942"/>
          <a:stretch xmlns:a="http://schemas.openxmlformats.org/drawingml/2006/main"/>
        </p:blipFill>
        <p:spPr>
          <a:xfrm xmlns:a="http://schemas.openxmlformats.org/drawingml/2006/main">
            <a:off x="609600" y="1809750"/>
            <a:ext cx="2952750" cy="3276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63912D-ED2F-498D-90DD-B72E9E7308F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화면 정보와 API 응답 비교</a:t>
            </a:r>
          </a:p>
        </p:txBody>
      </p:sp>
      <p:sp>
        <p:nvSpPr>
          <p:cNvPr id="4" name="">
            <a:extLst xmlns:a="http://schemas.openxmlformats.org/drawingml/2006/main">
              <a:ext uri="{FF2B5EF4-FFF2-40B4-BE49-F238E27FC236}">
                <a16:creationId xmlns:a16="http://schemas.microsoft.com/office/drawing/2014/main" id="{46D3745F-C814-4982-8324-AC2F83BDC91F}"/>
              </a:ext>
            </a:extLst>
          </p:cNvPr>
          <p:cNvSpPr>
            <a:spLocks xmlns:a="http://schemas.openxmlformats.org/drawingml/2006/main" noGrp="1"/>
          </p:cNvSpPr>
          <p:nvPr/>
        </p:nvSpPr>
        <p:spPr>
          <a:xfrm xmlns:a="http://schemas.openxmlformats.org/drawingml/2006/main">
            <a:off x="609600" y="13620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716095"/>
                </a:solidFill>
                <a:latin typeface="Malgun Gothic"/>
                <a:ea typeface="Malgun Gothic"/>
                <a:cs typeface="Malgun Gothic"/>
              </a:defRPr>
            </a:defPPr>
          </a:lstStyle>
          <a:p xmlns:a="http://schemas.openxmlformats.org/drawingml/2006/main">
            <a:pPr>
              <a:buNone/>
              <a:defRPr sz="1950" b="1">
                <a:solidFill>
                  <a:srgbClr val="716095"/>
                </a:solidFill>
                <a:latin typeface="Malgun Gothic"/>
                <a:ea typeface="Malgun Gothic"/>
                <a:cs typeface="Malgun Gothic"/>
              </a:defRPr>
            </a:pPr>
            <a:r>
              <a:rPr sz="1950" b="1">
                <a:solidFill>
                  <a:srgbClr val="716095"/>
                </a:solidFill>
                <a:latin typeface="Malgun Gothic"/>
                <a:ea typeface="Malgun Gothic"/>
                <a:cs typeface="Malgun Gothic"/>
              </a:rPr>
              <a:t>프로그램 API 응답</a:t>
            </a:r>
          </a:p>
        </p:txBody>
      </p:sp>
      <p:graphicFrame>
        <p:nvGraphicFramePr>
          <p:cNvPr id="5" name="">
            <a:extLst xmlns:a="http://schemas.openxmlformats.org/drawingml/2006/main">
              <a:ext uri="{FF2B5EF4-FFF2-40B4-BE49-F238E27FC236}">
                <a16:creationId xmlns:a16="http://schemas.microsoft.com/office/drawing/2014/main" id="{3B9AB606-E5B6-465A-B3C1-A74B51BA682C}"/>
              </a:ext>
            </a:extLst>
          </p:cNvPr>
          <p:cNvGraphicFramePr/>
          <p:nvPr/>
        </p:nvGraphicFramePr>
        <p:xfrm>
          <a:off xmlns:a="http://schemas.openxmlformats.org/drawingml/2006/main" x="3952875" y="1438275"/>
          <a:ext xmlns:a="http://schemas.openxmlformats.org/drawingml/2006/main" cx="7629525" cy="3657600"/>
        </p:xfrm>
        <a:graphic xmlns:a="http://schemas.openxmlformats.org/drawingml/2006/main">
          <a:graphicData uri="http://schemas.openxmlformats.org/drawingml/2006/table">
            <a:tbl>
              <a:tblPr/>
              <a:tblGrid>
                <a:gridCol w="1381125"/>
                <a:gridCol w="2143125"/>
                <a:gridCol w="4105275"/>
              </a:tblGrid>
              <a:tr h="6096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화면에서 확인</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API 응답으로 확인</a:t>
                      </a:r>
                    </a:p>
                  </a:txBody>
                  <a:tcPr marL="91440" marR="91440" marT="45720" marB="45720" anchor="ctr">
                    <a:solidFill>
                      <a:srgbClr val="EEEBF7"/>
                    </a:solidFill>
                  </a:tcPr>
                </a:tc>
              </a:tr>
              <a:tr h="609600">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미표시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 / 추가 정보</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접힌 소개문 일부</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전체 소개문 텍스트 반환</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제작·출연</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연출·극본·4명 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 정보를 필드별 JSON으로 제공</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2명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동일한 2명 / 추가 인물 없음</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회차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 / 회차별 시놉시스 없음</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F2C21FE-8C49-4EE2-9DBC-9D211EE69518}"/>
              </a:ext>
            </a:extLst>
          </p:cNvPr>
          <p:cNvSpPr>
            <a:spLocks xmlns:a="http://schemas.openxmlformats.org/drawingml/2006/main" noGrp="1"/>
          </p:cNvSpPr>
          <p:nvPr/>
        </p:nvSpPr>
        <p:spPr>
          <a:xfrm xmlns:a="http://schemas.openxmlformats.org/drawingml/2006/main">
            <a:off x="609600" y="54292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추가 확인: 연령 등급 / 전체 소개문 텍스트 확보</a:t>
            </a:r>
          </a:p>
        </p:txBody>
      </p:sp>
      <p:sp>
        <p:nvSpPr>
          <p:cNvPr id="7" name="">
            <a:extLst xmlns:a="http://schemas.openxmlformats.org/drawingml/2006/main">
              <a:ext uri="{FF2B5EF4-FFF2-40B4-BE49-F238E27FC236}">
                <a16:creationId xmlns:a16="http://schemas.microsoft.com/office/drawing/2014/main" id="{AD8420D4-C243-47C9-9245-833E54E98B0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화면의 더보기 펼침은 별도 확인 / 두 API의 직접 조회와 JSON 저장 검증 완료</a:t>
            </a:r>
          </a:p>
        </p:txBody>
      </p:sp>
      <p:sp>
        <p:nvSpPr>
          <p:cNvPr id="8" name="">
            <a:extLst xmlns:a="http://schemas.openxmlformats.org/drawingml/2006/main">
              <a:ext uri="{FF2B5EF4-FFF2-40B4-BE49-F238E27FC236}">
                <a16:creationId xmlns:a16="http://schemas.microsoft.com/office/drawing/2014/main" id="{A1CF1561-623C-48DB-8EC0-66918425409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1E795317-D665-462F-A8B3-307B390D3912}"/>
              </a:ext>
            </a:extLst>
          </p:cNvPr>
          <p:cNvPicPr>
            <a:picLocks xmlns:a="http://schemas.openxmlformats.org/drawingml/2006/main" noChangeAspect="1"/>
          </p:cNvPicPr>
          <p:nvPr/>
        </p:nvPicPr>
        <p:blipFill>
          <a:blip xmlns:r="http://schemas.openxmlformats.org/officeDocument/2006/relationships" xmlns:a="http://schemas.openxmlformats.org/drawingml/2006/main" r:embed="R42685f6fb4954d91"/>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AF5666-768A-4371-9C3D-ECD418027765}"/>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CJ ENM 정보에 추가되는 작품·회차 정보</a:t>
            </a:r>
          </a:p>
        </p:txBody>
      </p:sp>
      <p:sp>
        <p:nvSpPr>
          <p:cNvPr id="4" name="">
            <a:extLst xmlns:a="http://schemas.openxmlformats.org/drawingml/2006/main">
              <a:ext uri="{FF2B5EF4-FFF2-40B4-BE49-F238E27FC236}">
                <a16:creationId xmlns:a16="http://schemas.microsoft.com/office/drawing/2014/main" id="{4A00DEB8-F33E-4736-B0F6-10D8D9D35F6A}"/>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같은 작품: 포핸즈</a:t>
            </a:r>
          </a:p>
        </p:txBody>
      </p:sp>
      <p:sp>
        <p:nvSpPr>
          <p:cNvPr id="5" name="">
            <a:extLst xmlns:a="http://schemas.openxmlformats.org/drawingml/2006/main">
              <a:ext uri="{FF2B5EF4-FFF2-40B4-BE49-F238E27FC236}">
                <a16:creationId xmlns:a16="http://schemas.microsoft.com/office/drawing/2014/main" id="{85C186EB-088A-40A9-826C-2AB0228FA381}"/>
              </a:ext>
            </a:extLst>
          </p:cNvPr>
          <p:cNvSpPr>
            <a:spLocks xmlns:a="http://schemas.openxmlformats.org/drawingml/2006/main" noGrp="1"/>
          </p:cNvSpPr>
          <p:nvPr/>
        </p:nvSpPr>
        <p:spPr>
          <a:xfrm xmlns:a="http://schemas.openxmlformats.org/drawingml/2006/main">
            <a:off x="609600" y="3829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CJ ENM의 연결 URL로 식별</a:t>
            </a:r>
          </a:p>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P001790301</a:t>
            </a:r>
          </a:p>
        </p:txBody>
      </p:sp>
      <p:sp>
        <p:nvSpPr>
          <p:cNvPr id="6" name="">
            <a:extLst xmlns:a="http://schemas.openxmlformats.org/drawingml/2006/main">
              <a:ext uri="{FF2B5EF4-FFF2-40B4-BE49-F238E27FC236}">
                <a16:creationId xmlns:a16="http://schemas.microsoft.com/office/drawing/2014/main" id="{0452C662-09E3-40E4-86D3-77BD433F67C5}"/>
              </a:ext>
            </a:extLst>
          </p:cNvPr>
          <p:cNvSpPr>
            <a:spLocks xmlns:a="http://schemas.openxmlformats.org/drawingml/2006/main" noGrp="1"/>
          </p:cNvSpPr>
          <p:nvPr/>
        </p:nvSpPr>
        <p:spPr>
          <a:xfrm xmlns:a="http://schemas.openxmlformats.org/drawingml/2006/main">
            <a:off x="609600" y="47910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12개 회차</a:t>
            </a:r>
          </a:p>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시놉시스 12개 저장</a:t>
            </a:r>
          </a:p>
        </p:txBody>
      </p:sp>
      <p:graphicFrame>
        <p:nvGraphicFramePr>
          <p:cNvPr id="7" name="">
            <a:extLst xmlns:a="http://schemas.openxmlformats.org/drawingml/2006/main">
              <a:ext uri="{FF2B5EF4-FFF2-40B4-BE49-F238E27FC236}">
                <a16:creationId xmlns:a16="http://schemas.microsoft.com/office/drawing/2014/main" id="{2939A729-6168-499D-AC9D-84F34543A082}"/>
              </a:ext>
            </a:extLst>
          </p:cNvPr>
          <p:cNvGraphicFramePr/>
          <p:nvPr/>
        </p:nvGraphicFramePr>
        <p:xfrm>
          <a:off xmlns:a="http://schemas.openxmlformats.org/drawingml/2006/main" x="3952875" y="1438275"/>
          <a:ext xmlns:a="http://schemas.openxmlformats.org/drawingml/2006/main" cx="7629525" cy="4267200"/>
        </p:xfrm>
        <a:graphic xmlns:a="http://schemas.openxmlformats.org/drawingml/2006/main">
          <a:graphicData uri="http://schemas.openxmlformats.org/drawingml/2006/table">
            <a:tbl>
              <a:tblPr/>
              <a:tblGrid>
                <a:gridCol w="1381125"/>
                <a:gridCol w="2286000"/>
                <a:gridCol w="3962400"/>
              </a:tblGrid>
              <a:tr h="5334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TVING으로 보완</a:t>
                      </a:r>
                    </a:p>
                  </a:txBody>
                  <a:tcPr marL="91440" marR="91440" marT="45720" marB="45720" anchor="ctr">
                    <a:solidFill>
                      <a:srgbClr val="EEEBF7"/>
                    </a:solidFill>
                  </a:tcPr>
                </a:tc>
              </a:tr>
              <a:tr h="5334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전체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소개 제공 / 공통 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4명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7명 / 윤세아·김주헌·서재희 추가</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12개 회차 목록·제목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내용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1~12화 각각의 소개문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방송일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방송일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재생 시간(초)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작가·인물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작가·2명 인물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작가·인물 설명 미확보</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B8EC642-3DDA-4527-A477-7003CE7CAF1C}"/>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공통 기본 정보에 출처별 고유 정보를 결합</a:t>
            </a:r>
          </a:p>
        </p:txBody>
      </p:sp>
      <p:sp>
        <p:nvSpPr>
          <p:cNvPr id="9" name="">
            <a:extLst xmlns:a="http://schemas.openxmlformats.org/drawingml/2006/main">
              <a:ext uri="{FF2B5EF4-FFF2-40B4-BE49-F238E27FC236}">
                <a16:creationId xmlns:a16="http://schemas.microsoft.com/office/drawing/2014/main" id="{E305FE57-4363-4BB8-8DDE-19D7C1A5AAF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포핸즈 기준 / CJ ENM: 2026.10.12 API 검증 / TVING: 2026.10.07 저장 데이터</a:t>
            </a:r>
          </a:p>
        </p:txBody>
      </p:sp>
      <p:sp>
        <p:nvSpPr>
          <p:cNvPr id="10" name="">
            <a:extLst xmlns:a="http://schemas.openxmlformats.org/drawingml/2006/main">
              <a:ext uri="{FF2B5EF4-FFF2-40B4-BE49-F238E27FC236}">
                <a16:creationId xmlns:a16="http://schemas.microsoft.com/office/drawing/2014/main" id="{D153633B-CDB3-4EA9-96C3-D8EBEE81E081}"/>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추가 회차 정보의 API 응답 근거</a:t>
            </a:r>
          </a:p>
        </p:txBody>
      </p:sp>
      <p:sp>
        <p:nvSpPr>
          <p:cNvPr id="2" name="직사각형 1">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직사각형 2">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그림 3">
            <a:extLst xmlns:a="http://schemas.openxmlformats.org/drawingml/2006/main">
              <a:ext uri="{FF2B5EF4-FFF2-40B4-BE49-F238E27FC236}">
                <a16:creationId xmlns:a16="http://schemas.microsoft.com/office/drawing/2014/main" id="{BDBB20F6-2F62-4242-8397-2D52BE82762E}"/>
              </a:ext>
            </a:extLst>
          </p:cNvPr>
          <p:cNvPicPr>
            <a:picLocks xmlns:a="http://schemas.openxmlformats.org/drawingml/2006/main" noChangeAspect="1"/>
          </p:cNvPicPr>
          <p:nvPr/>
        </p:nvPicPr>
        <p:blipFill>
          <a:blip xmlns:r="http://schemas.openxmlformats.org/officeDocument/2006/relationships" xmlns:a="http://schemas.openxmlformats.org/drawingml/2006/main" r:embed="R8137a7f550024de2"/>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6260DF52-520D-446F-B94E-B4732C6D4D56}"/>
              </a:ext>
            </a:extLst>
          </p:cNvPr>
          <p:cNvPicPr>
            <a:picLocks xmlns:a="http://schemas.openxmlformats.org/drawingml/2006/main" noChangeAspect="1"/>
          </p:cNvPicPr>
          <p:nvPr/>
        </p:nvPicPr>
        <p:blipFill>
          <a:blip xmlns:r="http://schemas.openxmlformats.org/officeDocument/2006/relationships" xmlns:a="http://schemas.openxmlformats.org/drawingml/2006/main" r:embed="R55c5d079272d4b6b"/>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CJ ENM의 작품 소개를 회차별 세부 정보로 보완</a:t>
            </a:r>
          </a:p>
        </p:txBody>
      </p:sp>
      <p:sp>
        <p:nvSpPr>
          <p:cNvPr id="7" name="직사각형 6">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직사각형 7">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직사각형 8">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70A4B110-651D-4D6D-9E6F-475F9AABA613}"/>
              </a:ext>
            </a:extLst>
          </p:cNvPr>
          <p:cNvPicPr>
            <a:picLocks xmlns:a="http://schemas.openxmlformats.org/drawingml/2006/main" noChangeAspect="1"/>
          </p:cNvPicPr>
          <p:nvPr/>
        </p:nvPicPr>
        <p:blipFill>
          <a:blip xmlns:r="http://schemas.openxmlformats.org/officeDocument/2006/relationships" xmlns:a="http://schemas.openxmlformats.org/drawingml/2006/main" r:embed="R22f16160d5f04061"/>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19341D1-6C74-405F-96FC-8A2FB73A935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상위 20개: 작품 정보와 회차 세부 정보</a:t>
            </a:r>
          </a:p>
        </p:txBody>
      </p:sp>
      <p:sp>
        <p:nvSpPr>
          <p:cNvPr id="4" name="">
            <a:extLst xmlns:a="http://schemas.openxmlformats.org/drawingml/2006/main">
              <a:ext uri="{FF2B5EF4-FFF2-40B4-BE49-F238E27FC236}">
                <a16:creationId xmlns:a16="http://schemas.microsoft.com/office/drawing/2014/main" id="{5C5B3356-4D76-4BD1-921A-5E61CD03247E}"/>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수집 방식</a:t>
            </a:r>
          </a:p>
        </p:txBody>
      </p:sp>
      <p:sp>
        <p:nvSpPr>
          <p:cNvPr id="5" name="">
            <a:extLst xmlns:a="http://schemas.openxmlformats.org/drawingml/2006/main">
              <a:ext uri="{FF2B5EF4-FFF2-40B4-BE49-F238E27FC236}">
                <a16:creationId xmlns:a16="http://schemas.microsoft.com/office/drawing/2014/main" id="{EF82156E-5858-4CFF-8F7D-1492813C325D}"/>
              </a:ext>
            </a:extLst>
          </p:cNvPr>
          <p:cNvSpPr>
            <a:spLocks xmlns:a="http://schemas.openxmlformats.org/drawingml/2006/main" noGrp="1"/>
          </p:cNvSpPr>
          <p:nvPr/>
        </p:nvSpPr>
        <p:spPr>
          <a:xfrm xmlns:a="http://schemas.openxmlformats.org/drawingml/2006/main">
            <a:off x="609600" y="3781425"/>
            <a:ext cx="2952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작품 정보</a:t>
            </a:r>
          </a:p>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페이지 내부 구조화 데이터</a:t>
            </a:r>
          </a:p>
          <a:p xmlns:a="http://schemas.openxmlformats.org/drawingml/2006/main">
            <a:r>
              <a:t/>
            </a:r>
          </a:p>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회차 정보</a:t>
            </a:r>
          </a:p>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API 응답</a:t>
            </a:r>
          </a:p>
        </p:txBody>
      </p:sp>
      <p:graphicFrame>
        <p:nvGraphicFramePr>
          <p:cNvPr id="6" name="">
            <a:extLst xmlns:a="http://schemas.openxmlformats.org/drawingml/2006/main">
              <a:ext uri="{FF2B5EF4-FFF2-40B4-BE49-F238E27FC236}">
                <a16:creationId xmlns:a16="http://schemas.microsoft.com/office/drawing/2014/main" id="{95600EBA-3CE9-4D1F-B2FE-85FC6025EBCE}"/>
              </a:ext>
            </a:extLst>
          </p:cNvPr>
          <p:cNvGraphicFramePr/>
          <p:nvPr/>
        </p:nvGraphicFramePr>
        <p:xfrm>
          <a:off xmlns:a="http://schemas.openxmlformats.org/drawingml/2006/main" x="3952875" y="1438275"/>
          <a:ext xmlns:a="http://schemas.openxmlformats.org/drawingml/2006/main" cx="7629525" cy="4267200"/>
        </p:xfrm>
        <a:graphic xmlns:a="http://schemas.openxmlformats.org/drawingml/2006/main">
          <a:graphicData uri="http://schemas.openxmlformats.org/drawingml/2006/table">
            <a:tbl>
              <a:tblPr/>
              <a:tblGrid>
                <a:gridCol w="1381125"/>
                <a:gridCol w="4333875"/>
                <a:gridCol w="1914525"/>
              </a:tblGrid>
              <a:tr h="533400">
                <a:tc>
                  <a:txBody>
                    <a:bodyPr lIns="114300" tIns="114300" rIns="114300" bIns="114300"/>
                    <a:lstStyle/>
                    <a:p>
                      <a:r>
                        <a:rPr sz="1725" b="1">
                          <a:solidFill>
                            <a:srgbClr val="716095"/>
                          </a:solidFill>
                          <a:latin typeface="Malgun Gothic"/>
                          <a:ea typeface="Malgun Gothic"/>
                          <a:cs typeface="Malgun Gothic"/>
                        </a:rPr>
                        <a:t>범위</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저장한 필드</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값 확보 건수</a:t>
                      </a:r>
                    </a:p>
                  </a:txBody>
                  <a:tcPr marL="91440" marR="91440" marT="45720" marB="45720" anchor="ctr">
                    <a:solidFill>
                      <a:srgbClr val="EEEBF7"/>
                    </a:solidFill>
                  </a:tcPr>
                </a:tc>
              </a:tr>
              <a:tr h="533400">
                <a:tc>
                  <a:txBody>
                    <a:bodyPr lIns="114300" tIns="114300" rIns="114300" bIns="114300"/>
                    <a:lstStyle/>
                    <a:p>
                      <a:r>
                        <a:rPr sz="1725" b="0">
                          <a:solidFill>
                            <a:srgbClr val="303044"/>
                          </a:solidFill>
                          <a:latin typeface="Malgun Gothic"/>
                          <a:ea typeface="Malgun Gothic"/>
                          <a:cs typeface="Malgun Gothic"/>
                        </a:rPr>
                        <a:t>작품 기본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작품명·장르·제작연도·채널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출연·소개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출연진·작품 소개·시청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제작 인명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원본 인명 배열 / 역할 검토 필요</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시작일 / 종료일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20/20, 19/20</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회차 기본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ID·번호·제목·방송일·재생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341/341회</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341/341회</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미확보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작가·키워드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0/20 작품</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9139106-90D5-4BEB-9681-2656BEFA0303}"/>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시놉시스 외에도 작품·회차별 필드를 함께 저장</a:t>
            </a:r>
          </a:p>
        </p:txBody>
      </p:sp>
      <p:sp>
        <p:nvSpPr>
          <p:cNvPr id="8" name="">
            <a:extLst xmlns:a="http://schemas.openxmlformats.org/drawingml/2006/main">
              <a:ext uri="{FF2B5EF4-FFF2-40B4-BE49-F238E27FC236}">
                <a16:creationId xmlns:a16="http://schemas.microsoft.com/office/drawing/2014/main" id="{8F4577C2-989F-4A09-9CC4-C3AB533E44A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2026.10.07 저장본 / 건수는 확보한 값 기준 / 현재·향후 전체 회차의 완전성을 뜻하지 않음</a:t>
            </a:r>
          </a:p>
        </p:txBody>
      </p:sp>
      <p:sp>
        <p:nvSpPr>
          <p:cNvPr id="9" name="">
            <a:extLst xmlns:a="http://schemas.openxmlformats.org/drawingml/2006/main">
              <a:ext uri="{FF2B5EF4-FFF2-40B4-BE49-F238E27FC236}">
                <a16:creationId xmlns:a16="http://schemas.microsoft.com/office/drawing/2014/main" id="{29C22759-B0AA-411F-8332-FB242E51C90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8061FF-F54A-4C99-B14C-4C7C039E386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포핸즈 본문 수집과 하위 문서 보완</a:t>
            </a:r>
          </a:p>
        </p:txBody>
      </p:sp>
      <p:graphicFrame>
        <p:nvGraphicFramePr>
          <p:cNvPr id="2" name="">
            <a:extLst xmlns:a="http://schemas.openxmlformats.org/drawingml/2006/main">
              <a:ext uri="{FF2B5EF4-FFF2-40B4-BE49-F238E27FC236}">
                <a16:creationId xmlns:a16="http://schemas.microsoft.com/office/drawing/2014/main" id="{3792EF07-E6D7-4CAC-B40E-B2C5D109CBC0}"/>
              </a:ext>
            </a:extLst>
          </p:cNvPr>
          <p:cNvGraphicFramePr/>
          <p:nvPr/>
        </p:nvGraphicFramePr>
        <p:xfrm>
          <a:off xmlns:a="http://schemas.openxmlformats.org/drawingml/2006/main" x="609600" y="1438275"/>
          <a:ext xmlns:a="http://schemas.openxmlformats.org/drawingml/2006/main" cx="10972800" cy="3143250"/>
        </p:xfrm>
        <a:graphic xmlns:a="http://schemas.openxmlformats.org/drawingml/2006/main">
          <a:graphicData uri="http://schemas.openxmlformats.org/drawingml/2006/table">
            <a:tbl>
              <a:tblPr/>
              <a:tblGrid>
                <a:gridCol w="1619250"/>
                <a:gridCol w="4162425"/>
                <a:gridCol w="5191125"/>
              </a:tblGrid>
              <a:tr h="523875">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ENM·TVING에서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나무위키 본문에서 확보</a:t>
                      </a:r>
                    </a:p>
                  </a:txBody>
                  <a:tcPr marL="91440" marR="91440" marT="45720" marB="45720" anchor="ctr">
                    <a:solidFill>
                      <a:srgbClr val="EEEBF7"/>
                    </a:solidFill>
                  </a:tcPr>
                </a:tc>
              </a:tr>
              <a:tr h="523875">
                <a:tc>
                  <a:txBody>
                    <a:bodyPr lIns="114300" tIns="114300" rIns="114300" bIns="114300"/>
                    <a:lstStyle/>
                    <a:p>
                      <a:r>
                        <a:rPr sz="1725" b="0">
                          <a:solidFill>
                            <a:srgbClr val="303044"/>
                          </a:solidFill>
                          <a:latin typeface="Malgun Gothic"/>
                          <a:ea typeface="Malgun Gothic"/>
                          <a:cs typeface="Malgun Gothic"/>
                        </a:rPr>
                        <a:t>제작사</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두 저장본에 제작사 필드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스튜디오드래곤·스튜디오N·나무엑터스</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장르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CJ ENM: 드라마 / TVING: 로맨스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청춘·성장·음악 등 세부 장르</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주제·언어·모방위험 부가 표기</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공통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연출·작가·방송 기간·총 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박현석·신이원 / 12부작 / 동일 방송 기간</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하위 문서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CJ ENM 인물 2명 / TVING 회차 12개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등장인물·방영 목록 링크 2개 발견</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D345D11-07E6-4053-B08A-A959572CDEDC}"/>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2026.10.08 저장본 / 위키의 서술을 출처별로 보존하고 공식 정보와 비교</a:t>
            </a:r>
          </a:p>
        </p:txBody>
      </p:sp>
      <p:sp>
        <p:nvSpPr>
          <p:cNvPr id="6" name="">
            <a:extLst xmlns:a="http://schemas.openxmlformats.org/drawingml/2006/main">
              <a:ext uri="{FF2B5EF4-FFF2-40B4-BE49-F238E27FC236}">
                <a16:creationId xmlns:a16="http://schemas.microsoft.com/office/drawing/2014/main" id="{9DB07AE8-0C0B-4986-8267-4387A538AE9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
        <p:nvSpPr>
          <p:cNvPr id="8" name="">
            <a:extLst xmlns:a="http://schemas.openxmlformats.org/drawingml/2006/main">
              <a:ext uri="{FF2B5EF4-FFF2-40B4-BE49-F238E27FC236}">
                <a16:creationId xmlns:a16="http://schemas.microsoft.com/office/drawing/2014/main" id="{F47498E4-07E1-4AFD-A83E-9809F40610D5}"/>
              </a:ext>
            </a:extLst>
          </p:cNvPr>
          <p:cNvSpPr>
            <a:spLocks xmlns:a="http://schemas.openxmlformats.org/drawingml/2006/main" noGrp="1"/>
          </p:cNvSpPr>
          <p:nvPr/>
        </p:nvSpPr>
        <p:spPr>
          <a:xfrm xmlns:a="http://schemas.openxmlformats.org/drawingml/2006/main">
            <a:off x="609600" y="47815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공동 편집 문서의 신뢰도 검토</a:t>
            </a:r>
          </a:p>
        </p:txBody>
      </p:sp>
      <p:sp>
        <p:nvSpPr>
          <p:cNvPr id="9" name="">
            <a:extLst xmlns:a="http://schemas.openxmlformats.org/drawingml/2006/main">
              <a:ext uri="{FF2B5EF4-FFF2-40B4-BE49-F238E27FC236}">
                <a16:creationId xmlns:a16="http://schemas.microsoft.com/office/drawing/2014/main" id="{667F73B9-EFD8-4959-A5A2-DF992150B7C2}"/>
              </a:ext>
            </a:extLst>
          </p:cNvPr>
          <p:cNvSpPr>
            <a:spLocks xmlns:a="http://schemas.openxmlformats.org/drawingml/2006/main" noGrp="1"/>
          </p:cNvSpPr>
          <p:nvPr/>
        </p:nvSpPr>
        <p:spPr>
          <a:xfrm xmlns:a="http://schemas.openxmlformats.org/drawingml/2006/main">
            <a:off x="609600" y="52101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콘텐츠 관계자 외에도 불특정 다수가 같은 문서를 작성·수정할 수 있으므로,</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공식 출처 대조와 사실·평가 구분 등 정보 필터링이 필요함</a:t>
            </a:r>
          </a:p>
        </p:txBody>
      </p:sp>
      <p:sp>
        <p:nvSpPr>
          <p:cNvPr id="10" name="">
            <a:extLst xmlns:a="http://schemas.openxmlformats.org/drawingml/2006/main">
              <a:ext uri="{FF2B5EF4-FFF2-40B4-BE49-F238E27FC236}">
                <a16:creationId xmlns:a16="http://schemas.microsoft.com/office/drawing/2014/main" id="{FF43BCB7-7A25-4B86-BE52-C61E56079CBD}"/>
              </a:ext>
            </a:extLst>
          </p:cNvPr>
          <p:cNvSpPr>
            <a:spLocks xmlns:a="http://schemas.openxmlformats.org/drawingml/2006/main" noGrp="1"/>
          </p:cNvSpPr>
          <p:nvPr/>
        </p:nvSpPr>
        <p:spPr>
          <a:xfrm xmlns:a="http://schemas.openxmlformats.org/drawingml/2006/main">
            <a:off x="609600" y="58864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303044"/>
                </a:solidFill>
                <a:latin typeface="Malgun Gothic"/>
                <a:ea typeface="Malgun Gothic"/>
                <a:cs typeface="Malgun Gothic"/>
              </a:defRPr>
            </a:defPPr>
          </a:lstStyle>
          <a:p xmlns:a="http://schemas.openxmlformats.org/drawingml/2006/main">
            <a:pPr>
              <a:defRPr sz="1500" b="0">
                <a:solidFill>
                  <a:srgbClr val="303044"/>
                </a:solidFill>
                <a:latin typeface="Malgun Gothic"/>
                <a:ea typeface="Malgun Gothic"/>
                <a:cs typeface="Malgun Gothic"/>
              </a:defRPr>
            </a:pPr>
            <a:r>
              <a:rPr sz="1500" b="0">
                <a:solidFill>
                  <a:srgbClr val="303044"/>
                </a:solidFill>
                <a:latin typeface="Malgun Gothic"/>
                <a:ea typeface="Malgun Gothic"/>
                <a:cs typeface="Malgun Gothic"/>
              </a:rPr>
              <a:t>하위 문서: URL 직접 검토 후 수집 예정 / 현재 인물·회차 세부 내용 미수집</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그림 1">
            <a:extLst xmlns:a="http://schemas.openxmlformats.org/drawingml/2006/main">
              <a:ext uri="{FF2B5EF4-FFF2-40B4-BE49-F238E27FC236}">
                <a16:creationId xmlns:a16="http://schemas.microsoft.com/office/drawing/2014/main" id="{A529C460-AB7B-4E5B-B36F-CAAF485B2971}"/>
              </a:ext>
            </a:extLst>
          </p:cNvPr>
          <p:cNvPicPr>
            <a:picLocks xmlns:a="http://schemas.openxmlformats.org/drawingml/2006/main" noChangeAspect="1"/>
          </p:cNvPicPr>
          <p:nvPr/>
        </p:nvPicPr>
        <p:blipFill>
          <a:blip xmlns:r="http://schemas.openxmlformats.org/officeDocument/2006/relationships" xmlns:a="http://schemas.openxmlformats.org/drawingml/2006/main" r:embed="Rafe22d72d19341a0"/>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직사각형 3">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r>
              <a:t/>
            </a:r>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r>
              <a:t/>
            </a:r>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제작사·세부 장르 / 하위 문서 추가 확인</a:t>
            </a:r>
          </a:p>
        </p:txBody>
      </p:sp>
      <p:sp>
        <p:nvSpPr>
          <p:cNvPr id="5" name="직사각형 4">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직사각형 5">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직사각형 6">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직사각형 1">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직사각형 2">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그림 3">
            <a:extLst xmlns:a="http://schemas.openxmlformats.org/drawingml/2006/main">
              <a:ext uri="{FF2B5EF4-FFF2-40B4-BE49-F238E27FC236}">
                <a16:creationId xmlns:a16="http://schemas.microsoft.com/office/drawing/2014/main" id="{A0EDCC55-2244-4AF8-BF76-0D916E0327B6}"/>
              </a:ext>
            </a:extLst>
          </p:cNvPr>
          <p:cNvPicPr>
            <a:picLocks xmlns:a="http://schemas.openxmlformats.org/drawingml/2006/main" noChangeAspect="1"/>
          </p:cNvPicPr>
          <p:nvPr/>
        </p:nvPicPr>
        <p:blipFill>
          <a:blip xmlns:r="http://schemas.openxmlformats.org/officeDocument/2006/relationships" xmlns:a="http://schemas.openxmlformats.org/drawingml/2006/main" r:embed="R4b7654c8bb754663"/>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BDE3224B-AAB0-4A39-8E25-68347C7B8D0D}"/>
              </a:ext>
            </a:extLst>
          </p:cNvPr>
          <p:cNvPicPr>
            <a:picLocks xmlns:a="http://schemas.openxmlformats.org/drawingml/2006/main" noChangeAspect="1"/>
          </p:cNvPicPr>
          <p:nvPr/>
        </p:nvPicPr>
        <p:blipFill>
          <a:blip xmlns:r="http://schemas.openxmlformats.org/officeDocument/2006/relationships" xmlns:a="http://schemas.openxmlformats.org/drawingml/2006/main" r:embed="Rffa2dfbaf4b44915"/>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직사각형 6">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직사각형 7">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직사각형 8">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2026-10-12T02:42:49.3140000Z</dcterms:created>
  <dcterms:modified xsi:type="dcterms:W3CDTF">2026-10-12T02:42:49.3140000Z</dcterms:modified>
</coreProperties>
</file>