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1353798e44024" /><Relationship Type="http://schemas.openxmlformats.org/officeDocument/2006/relationships/extended-properties" Target="/docProps/app.xml" Id="Re5de0d24566b4a70" /><Relationship Type="http://schemas.openxmlformats.org/officeDocument/2006/relationships/officeDocument" Target="/ppt/presentation.xml" Id="R6b92a5ca19f2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dc412b305141e1"/>
  </p:sldMasterIdLst>
  <p:notesMasterIdLst>
    <p:notesMasterId xmlns:r="http://schemas.openxmlformats.org/officeDocument/2006/relationships" r:id="R363e20cd6ebd462b"/>
  </p:notesMasterIdLst>
  <p:sldIdLst>
    <p:sldId xmlns:r="http://schemas.openxmlformats.org/officeDocument/2006/relationships" id="256" r:id="R62cbc34a5e4a416b"/>
    <p:sldId xmlns:r="http://schemas.openxmlformats.org/officeDocument/2006/relationships" id="257" r:id="R240eae3533b4403d"/>
    <p:sldId xmlns:r="http://schemas.openxmlformats.org/officeDocument/2006/relationships" id="258" r:id="R87515af0b1d84552"/>
    <p:sldId xmlns:r="http://schemas.openxmlformats.org/officeDocument/2006/relationships" id="259" r:id="R0634ae9a53814dd7"/>
    <p:sldId xmlns:r="http://schemas.openxmlformats.org/officeDocument/2006/relationships" id="260" r:id="R8f9e00d78fa64f7d"/>
    <p:sldId xmlns:r="http://schemas.openxmlformats.org/officeDocument/2006/relationships" id="261" r:id="Re5b36efb99a4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5b974cd9846e6" /><Relationship Type="http://schemas.openxmlformats.org/officeDocument/2006/relationships/slideMaster" Target="/ppt/slideMasters/slideMaster1.xml" Id="Re0dc412b305141e1" /><Relationship Type="http://schemas.openxmlformats.org/officeDocument/2006/relationships/notesMaster" Target="/ppt/notesMasters/notesMaster1.xml" Id="R363e20cd6ebd462b" /><Relationship Type="http://schemas.openxmlformats.org/officeDocument/2006/relationships/presProps" Target="/ppt/presProps.xml" Id="R3908cc0596484830" /><Relationship Type="http://schemas.openxmlformats.org/officeDocument/2006/relationships/tableStyles" Target="/ppt/tableStyles.xml" Id="Rd620de90b33f4dd1" /><Relationship Type="http://schemas.openxmlformats.org/officeDocument/2006/relationships/slide" Target="/ppt/slides/slide1.xml" Id="R62cbc34a5e4a416b" /><Relationship Type="http://schemas.openxmlformats.org/officeDocument/2006/relationships/slide" Target="/ppt/slides/slide2.xml" Id="R240eae3533b4403d" /><Relationship Type="http://schemas.openxmlformats.org/officeDocument/2006/relationships/slide" Target="/ppt/slides/slide3.xml" Id="R87515af0b1d84552" /><Relationship Type="http://schemas.openxmlformats.org/officeDocument/2006/relationships/slide" Target="/ppt/slides/slide4.xml" Id="R0634ae9a53814dd7" /><Relationship Type="http://schemas.openxmlformats.org/officeDocument/2006/relationships/slide" Target="/ppt/slides/slide5.xml" Id="R8f9e00d78fa64f7d" /><Relationship Type="http://schemas.openxmlformats.org/officeDocument/2006/relationships/slide" Target="/ppt/slides/slide6.xml" Id="Re5b36efb99a4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f8f988dbc4c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4d7ce1e1a4aed" /><Relationship Type="http://schemas.openxmlformats.org/officeDocument/2006/relationships/notesMaster" Target="/ppt/notesMasters/notesMaster1.xml" Id="R8a4b8c15709045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9d26cc3714a54" /><Relationship Type="http://schemas.openxmlformats.org/officeDocument/2006/relationships/notesMaster" Target="/ppt/notesMasters/notesMaster1.xml" Id="R4b8b1741b4ca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4755edb6334731" /><Relationship Type="http://schemas.openxmlformats.org/officeDocument/2006/relationships/notesMaster" Target="/ppt/notesMasters/notesMaster1.xml" Id="R18faa2ee2f89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f1f685ae43467d" /><Relationship Type="http://schemas.openxmlformats.org/officeDocument/2006/relationships/notesMaster" Target="/ppt/notesMasters/notesMaster1.xml" Id="R95ba7e01fb26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780ad11f5d461d" /><Relationship Type="http://schemas.openxmlformats.org/officeDocument/2006/relationships/notesMaster" Target="/ppt/notesMasters/notesMaster1.xml" Id="R40b7434be17a4c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5f4f1b41b47c3" /><Relationship Type="http://schemas.openxmlformats.org/officeDocument/2006/relationships/notesMaster" Target="/ppt/notesMasters/notesMaster1.xml" Id="Ra59c0612698b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방송·미디어 콘텐츠 메타데이터 수집 가능성 검토의 예시 발표자료입니다. TVING과 나무위키는 프로젝트의 저장된 JSON을 근거로 작성했습니다. CJ ENM과 컴투스온은 사용자의 직접 점검 결과입니다. 자료 작성일 2026-10-11, 수집 예시 기준일 2026-10-07~08.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수집 대상은 사용자가 지정한 사이트를 기준으로 작성했습니다. 입력은 콘텐츠 ID가 아니라 페이지 URL입니다. TVING 수집 로직은 tving.py 및 tving_batch.py, 나무위키 수집 로직은 namuwiki.py로 분리되어 있습니다. 콘텐츠 JSON과 진단 보고서를 별도로 저장합니다.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D:\MMLAB\projects\broadcast_web_crawler\data\tving\20261007_210908_251349_드라마_전체\collection-report.json</a:t>
            </a:r>
          </a:p>
          <a:p xmlns:a="http://schemas.openxmlformats.org/drawingml/2006/main">
            <a:r>
              <a:t>D:\MMLAB\projects\broadcast_web_crawler\data\tving\20261008_155538_396845_TVING_작품상세\contents.json</a:t>
            </a:r>
          </a:p>
          <a:p xmlns:a="http://schemas.openxmlformats.org/drawingml/2006/main">
            <a:r>
              <a:t>원문: https://www.tving.com/more/genre/PCA 및 https://www.tving.com/contents/P001790587</a:t>
            </a:r>
          </a:p>
          <a:p xmlns:a="http://schemas.openxmlformats.org/drawingml/2006/main">
            <a:r>
              <a:t>20개 작품·341개 회차·341개 시놉시스는 2026-10-07 저장 배치의 결과입니다. 단일 작품 8개 회차 예시는 2026-10-08 저장 결과입니다. 현재 사이트 전체 또는 다른 시즌의 완전성을 뜻하지 않습니다. 시놉시스는 회차 소개 텍스트이며 대본 원문이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D:\MMLAB\projects\broadcast_web_crawler\data\namuwiki\20261008_144044_283930_나무위키_냉장고를 부탁해\contents.json</a:t>
            </a:r>
          </a:p>
          <a:p xmlns:a="http://schemas.openxmlformats.org/drawingml/2006/main">
            <a:r>
              <a:t>원문: https://namu.wiki/w/%EB%83%89%EC%9E%A5%EA%B3%A0%EB%A5%BC%20%EB%B6%80%ED%83%81%ED%95%B4</a:t>
            </a:r>
          </a:p>
          <a:p xmlns:a="http://schemas.openxmlformats.org/drawingml/2006/main">
            <a:r>
              <a:t>2026-10-08에 저장한 문서 기준입니다. 방송 기간과 254회는 시즌 1 관련 원문 정보입니다. 문서에는 시즌 2도 언급되므로 이후 시즌이나 최신 편성 전체를 뜻하지 않습니다. episodes는 빈 배열입니다. 셰프 군단과 방영 목록 링크는 저장하지만 이 단일 문서 수집에서는 따라가지 않았습니다. 문서에 없는 값은 null이며 모든 방송 문서에 같은 필드가 있다고 보장하지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사용자가 이 대화에서 제공한 직접 점검 결과. CJ ENM은 robots.txt에서 자동 사이트 순회·접속이 제한된다는 사용자 확인 내용을 반영했습니다. robots.txt 제한을 법률상 금지와 동일하게 표현하지 않습니다. 컴투스온은 https://com2usn.com/work/ 직접 확인 시 필요한 데이터가 없었다는 사용자 관찰을 반영했습니다. 이번 웹 도구 재접속에서는 두 페이지의 내용을 확인하지 못했으므로 현재 정책 또는 사이트 전체의 데이터 부재를 독립 검증한 결과로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앱 화면 출처: 프로젝트 reports/desktop/studio.png. 직접 구현한 Electron + React + Python 앱의 로컬 캡처입니다. 화면은 shadcn/ui와 라벤더 테마를 적용했습니다. URL 입력, 범위 설정, 수집 진행 확인, 과거 결과 조회, JSON 및 수집 보고서 표시 기능이 있습니다. 출처별 수집 로직은 분리하고 콘텐츠 메타데이터 스키마를 공유합니다. 향후 회차 누락·제작진 누락과 원문 근거를 확인하며 나무위키 관련 문서 확장은 별도 범위로 검토합니다.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eff37fbc140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a1091a26242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eeea8b6624f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887d548bb47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485b00ea74d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a40468adc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4A48D-1C1B-49B6-8F76-1A5E7DAD4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236E81-BFBF-4176-81B4-8D5BFA9837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1DBB26-EF0B-4EDC-A068-43CB5D2E4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07AD2E-3EF1-4241-A1C2-D4AB4386E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18865C-51CE-489C-84F9-8F54D67511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5AA8F2-E995-4220-AD2F-9B43A4BCB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4DFB79-FC89-493E-AC6F-143073337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7D3B14-98C5-4D2E-98A4-1A24B3C960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A13007-8306-4F7D-A84C-0C55B4D818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B7DFD7-2F77-4F1F-A905-E56AD33203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fc19ed81f14ad1" /><Relationship Type="http://schemas.openxmlformats.org/officeDocument/2006/relationships/slideLayout" Target="/ppt/slideLayouts/slideLayout1.xml" Id="Re01b0f3596304834" /><Relationship Type="http://schemas.openxmlformats.org/officeDocument/2006/relationships/slideLayout" Target="/ppt/slideLayouts/slideLayout2.xml" Id="R7fdcac4859ed44f8" /><Relationship Type="http://schemas.openxmlformats.org/officeDocument/2006/relationships/slideLayout" Target="/ppt/slideLayouts/slideLayout3.xml" Id="R93b3fff833a94eef" /><Relationship Type="http://schemas.openxmlformats.org/officeDocument/2006/relationships/slideLayout" Target="/ppt/slideLayouts/slideLayout4.xml" Id="R4fe35f4e120748d8" /><Relationship Type="http://schemas.openxmlformats.org/officeDocument/2006/relationships/slideLayout" Target="/ppt/slideLayouts/slideLayout5.xml" Id="R39dc77ef98fd407e" /><Relationship Type="http://schemas.openxmlformats.org/officeDocument/2006/relationships/slideLayout" Target="/ppt/slideLayouts/slideLayout6.xml" Id="Rd59d9a67bdb448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1b0f3596304834"/>
    <p:sldLayoutId xmlns:r="http://schemas.openxmlformats.org/officeDocument/2006/relationships" id="2147483650" r:id="R7fdcac4859ed44f8"/>
    <p:sldLayoutId xmlns:r="http://schemas.openxmlformats.org/officeDocument/2006/relationships" id="2147483651" r:id="R93b3fff833a94eef"/>
    <p:sldLayoutId xmlns:r="http://schemas.openxmlformats.org/officeDocument/2006/relationships" id="2147483652" r:id="R4fe35f4e120748d8"/>
    <p:sldLayoutId xmlns:r="http://schemas.openxmlformats.org/officeDocument/2006/relationships" id="2147483653" r:id="R39dc77ef98fd407e"/>
    <p:sldLayoutId xmlns:r="http://schemas.openxmlformats.org/officeDocument/2006/relationships" id="2147483654" r:id="Rd59d9a67bdb448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80f955fce4ad2" /><Relationship Type="http://schemas.openxmlformats.org/officeDocument/2006/relationships/notesSlide" Target="/ppt/notesSlides/notesSlide1.xml" Id="R2ad806c9ca0948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7263f14954224" /><Relationship Type="http://schemas.openxmlformats.org/officeDocument/2006/relationships/notesSlide" Target="/ppt/notesSlides/notesSlide2.xml" Id="Rcee7c395468f40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518796a7c46b4" /><Relationship Type="http://schemas.openxmlformats.org/officeDocument/2006/relationships/notesSlide" Target="/ppt/notesSlides/notesSlide3.xml" Id="Ra35051340d08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f5ef4e5744456" /><Relationship Type="http://schemas.openxmlformats.org/officeDocument/2006/relationships/notesSlide" Target="/ppt/notesSlides/notesSlide4.xml" Id="R5ccdc48fc8c1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37415f56e463a" /><Relationship Type="http://schemas.openxmlformats.org/officeDocument/2006/relationships/notesSlide" Target="/ppt/notesSlides/notesSlide5.xml" Id="R1a92f3a812cf43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21a9c7c30467e" /><Relationship Type="http://schemas.openxmlformats.org/officeDocument/2006/relationships/image" Target="/ppt/media/image.png" Id="R69112babf11b4a3c" /><Relationship Type="http://schemas.openxmlformats.org/officeDocument/2006/relationships/notesSlide" Target="/ppt/notesSlides/notesSlide6.xml" Id="R150571e741644a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E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C689E-CC8C-4631-AD9E-A54250F9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7746D-8039-443E-8095-6EE45374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44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방송 콘텐츠</a:t>
            </a:r>
          </a:p>
          <a:p xmlns:a="http://schemas.openxmlformats.org/drawingml/2006/main">
            <a:pPr>
              <a:defRPr sz="44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44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메타데이터 수집 가능성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E1160-821C-4DA6-A139-25A4BEB9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TVING과 나무위키의 실제 수집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6ED18-2177-4897-97D5-1BCC97EC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국가 용역과제 진행 보고 예시</a:t>
            </a:r>
          </a:p>
          <a:p xmlns:a="http://schemas.openxmlformats.org/drawingml/2006/main">
            <a:pPr>
              <a:defRPr sz="180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2026.10.11</a:t>
            </a:r>
          </a:p>
        </p:txBody>
      </p:sp>
    </p:spTree>
    <p:extLst>
      <p:ext uri="{BB962C8B-B14F-4D97-AF65-F5344CB8AC3E}">
        <p14:creationId xmlns:p14="http://schemas.microsoft.com/office/powerpoint/2010/main" val="1271877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EA64E-A9F9-4C61-8BA7-E9BD134C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수집 대상과 확인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AFFE8-DEEF-45AB-9D98-EEB62F37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1720A-CAFF-4451-AB10-EDEAC3FC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방송 프로그램에 관한 공개 텍스트를 구조화된 JSON으로 저장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FCC90-3683-4257-8A3A-6C72AF984B4B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613410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수집원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검토하는 정보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</a:tr>
              <a:tr h="61341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CJ ENM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프로그램 소개 및 제작 정보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TVING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작품 메타데이터와 회차별 시놉시스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나무위키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제작진, 출연·진행자, 방송 정보와 프로그램 설명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컴투스온 Work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작품 포트폴리오의 방송 콘텐츠 정보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9A079-A359-4361-869D-1465B184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확인 방법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F7B64-3B24-4861-8450-3B3BF6E9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URL 직접 입력 / 페이지·공개 응답 확인 / 필드 추출 / JSON 저장</a:t>
            </a:r>
          </a:p>
        </p:txBody>
      </p:sp>
    </p:spTree>
    <p:extLst>
      <p:ext uri="{BB962C8B-B14F-4D97-AF65-F5344CB8AC3E}">
        <p14:creationId xmlns:p14="http://schemas.microsoft.com/office/powerpoint/2010/main" val="580745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911AF-C64E-4682-A3A6-5D6819AE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TVING: 작품과 회차별 시놉시스 수집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8C92-E865-4C19-8BED-2E43FAD5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86FE4-1368-44A0-B8E6-047B38AA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20개 작품   341개 회차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EF946-0B0D-4E38-A61F-DB7D7ED9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드라마 전체 상위 20개 수집 예시에서 341개 회차 시놉시스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BFC60-4EB0-448B-856E-06ACEF3F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로또 1등도 출근합니다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5AF7-6253-487C-9948-1F7DA8502F27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49530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3571875"/>
              </a:tblGrid>
              <a:tr h="480060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값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</a:tr>
              <a:tr h="480060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오피스 드라마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윤영빈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이준혁, 서현우, 오대환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 정보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8개 회차 저장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6985F-9EEF-44E9-94CE-7788643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9875"/>
            <a:ext cx="556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회차별 데이터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7496D-1FAE-41A6-856F-161B343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556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1. 참는 자에게 복이 있나니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EE70F-4528-4F07-9D8E-D6190A53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5562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어제와 같았고, 내일과도 같을 오늘을 살아가는 은태. 맥주를 사러 들렸던 편의점에서 얼떨결에 로또를 사게 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A59CB-0D6E-4580-B5A7-481FBB36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76775"/>
            <a:ext cx="556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2. 8,145,060분의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31F36-13B0-4768-8960-C784886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95875"/>
            <a:ext cx="5562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당첨금을 찾느라 처음으로 늦은 출근을 하는 은태. 모두가 일하는 그 시각, 사무실에는 5팀의 자리만 비어있다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17C77-32E6-4C44-B65B-1C6C597D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저장 데이터 기준: 2026.10.07~08 / 시놉시스는 회차 소개이며 대본 원문은 아님</a:t>
            </a:r>
          </a:p>
        </p:txBody>
      </p:sp>
    </p:spTree>
    <p:extLst>
      <p:ext uri="{BB962C8B-B14F-4D97-AF65-F5344CB8AC3E}">
        <p14:creationId xmlns:p14="http://schemas.microsoft.com/office/powerpoint/2010/main" val="1664551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DD0E9-083E-4984-B241-4B58E875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나무위키: 프로그램 메타데이터 수집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16870-2752-4476-A56F-02B9DFC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72A8A-FF55-459D-BB18-06368E0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냉장고를 부탁해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F93D3-40AA-4BFE-B265-769458E81354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63817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381500"/>
              </a:tblGrid>
              <a:tr h="518432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값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</a:tr>
              <a:tr h="518432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방송사 / 제작사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JTBC / 미스틱스토리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432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성희성, 이건영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432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작가 예시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강윤정, 문정선, 김희연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432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김성주, 안정환, 정형돈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432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방송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2014-11-17 ~ 2019-11-25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432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회차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254회 (문서의 시즌 1 정보)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C10EF-C575-43C3-992C-0639177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프로그램 설명도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55292-FED1-4AB4-805C-AE361DF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9875"/>
            <a:ext cx="4095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게스트의 냉장고 속 재료를 이용해</a:t>
            </a:r>
          </a:p>
          <a:p xmlns:a="http://schemas.openxmlformats.org/drawingml/2006/main">
            <a: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셰프들이 제한 시간 15분 안에</a:t>
            </a:r>
          </a:p>
          <a:p xmlns:a="http://schemas.openxmlformats.org/drawingml/2006/main">
            <a: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요리를 만들어 대결하는 프로그램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95BAB-3F4B-4E3A-B8A3-F545FEA4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29125"/>
            <a:ext cx="4095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수집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A15B1-1A6A-419F-9A3D-39D68D43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4095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관련 문서 링크 저장</a:t>
            </a:r>
          </a:p>
          <a:p xmlns:a="http://schemas.openxmlformats.org/drawingml/2006/main">
            <a:pPr>
              <a:def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현재 예시의 회차별 데이터는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F65D1-0BB4-46E2-9C04-89CA2C7C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저장 데이터 기준: 2026.10.08 / 총 회차 수와 회차별 시놉시스 확보는 구분</a:t>
            </a:r>
          </a:p>
        </p:txBody>
      </p:sp>
    </p:spTree>
    <p:extLst>
      <p:ext uri="{BB962C8B-B14F-4D97-AF65-F5344CB8AC3E}">
        <p14:creationId xmlns:p14="http://schemas.microsoft.com/office/powerpoint/2010/main" val="758448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0BC5C-7962-4820-8F95-E36B3E41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CJ ENM과 컴투스온의 수집 제약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001B8-25B2-45DE-84F8-608F758E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51F86-7D9D-43B4-A828-B8EEEA9D9EDD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29125"/>
                <a:gridCol w="4257675"/>
              </a:tblGrid>
              <a:tr h="1025525">
                <a:tc>
                  <a:txBody>
                    <a:bodyPr lIns="133350" tIns="133350" rIns="133350" bIns="133350"/>
                    <a:lstStyle/>
                    <a:p>
                      <a:r>
                        <a:rPr sz="202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제약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1">
                          <a:solidFill>
                            <a:srgbClr val="71609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방향</a:t>
                      </a:r>
                    </a:p>
                  </a:txBody>
                  <a:tcPr marL="91440" marR="91440" marT="45720" marB="45720" anchor="ctr">
                    <a:solidFill>
                      <a:srgbClr val="EEEBF7"/>
                    </a:solidFill>
                  </a:tcPr>
                </a:tc>
              </a:tr>
              <a:tr h="1025525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CJ ENM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robots.txt에 따른</a:t>
                      </a:r>
                    </a:p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수집 제한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 수집원으로</a:t>
                      </a:r>
                    </a:p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TVING 활용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5525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컴투스온 Work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점검한 페이지에서</a:t>
                      </a:r>
                    </a:p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메타데이터 미확인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자료 제공 여부와</a:t>
                      </a:r>
                    </a:p>
                    <a:p>
                      <a:r>
                        <a:rPr sz="2025" b="0">
                          <a:solidFill>
                            <a:srgbClr val="30304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공개 출처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862C7-C858-4F73-B8C7-16DB8F4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수집 제한과 정보 부족을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A6B90-3AAB-4920-9FF9-17D2632C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CJ ENM은 자동 수집 정책의 제약, 컴투스온은 점검한 페이지의 정보 부족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144AB-3203-4816-8A1D-230C0D7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사용자 직접 점검 결과 기준 / 컴투스온 점검 URL: https://com2usn.com/work/</a:t>
            </a:r>
          </a:p>
        </p:txBody>
      </p:sp>
    </p:spTree>
    <p:extLst>
      <p:ext uri="{BB962C8B-B14F-4D97-AF65-F5344CB8AC3E}">
        <p14:creationId xmlns:p14="http://schemas.microsoft.com/office/powerpoint/2010/main" val="84728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92474-0DCF-4F3F-9B36-C7FB6E44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수집 도구 구현과 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0B8EF-0252-4E15-B0D6-5E3181AC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5047D-56BC-40EE-AD04-F5FBBDBF9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12babf11b4a3c"/>
          <a:stretch xmlns:a="http://schemas.openxmlformats.org/drawingml/2006/main"/>
        </p:blipFill>
        <p:spPr>
          <a:xfrm xmlns:a="http://schemas.openxmlformats.org/drawingml/2006/main">
            <a:off x="609600" y="1440442"/>
            <a:ext cx="7239000" cy="46819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72C41-CCD1-44C2-855E-EAFD1F8F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8590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563FC-5FC3-4E7A-880F-44A9FD83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66925"/>
            <a:ext cx="3295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URL 입력과 수집 범위 설정</a:t>
            </a:r>
          </a:p>
          <a:p xmlns:a="http://schemas.openxmlformats.org/drawingml/2006/main">
            <a: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작품 정보·회차·JSON 조회</a:t>
            </a:r>
          </a:p>
          <a:p xmlns:a="http://schemas.openxmlformats.org/drawingml/2006/main">
            <a: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실행별 폴더에 결과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A2808-98EF-47E6-A47F-4935E069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16095"/>
                </a:solidFill>
                <a:latin typeface="Malgun Gothic"/>
                <a:ea typeface="Malgun Gothic"/>
                <a:cs typeface="Malgun Gothic"/>
              </a:rPr>
              <a:t>다음 확인 사항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8B456-9AE9-482B-8C30-388DE5A1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3295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필드 누락 및 회차 완전성</a:t>
            </a:r>
          </a:p>
          <a:p xmlns:a="http://schemas.openxmlformats.org/drawingml/2006/main">
            <a: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출처별 데이터 품질</a:t>
            </a:r>
          </a:p>
          <a:p xmlns:a="http://schemas.openxmlformats.org/drawingml/2006/main">
            <a:pPr>
              <a:def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3044"/>
                </a:solidFill>
                <a:latin typeface="Malgun Gothic"/>
                <a:ea typeface="Malgun Gothic"/>
                <a:cs typeface="Malgun Gothic"/>
              </a:rPr>
              <a:t>위키 관련 문서의 수집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AA77D-75B0-4F24-B876-E2D90C3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97587"/>
                </a:solidFill>
                <a:latin typeface="Malgun Gothic"/>
                <a:ea typeface="Malgun Gothic"/>
                <a:cs typeface="Malgun Gothic"/>
              </a:rPr>
              <a:t>TVING과 나무위키의 수집 로직을 분리하고 공통 콘텐츠 스키마로 저장</a:t>
            </a:r>
          </a:p>
        </p:txBody>
      </p:sp>
    </p:spTree>
    <p:extLst>
      <p:ext uri="{BB962C8B-B14F-4D97-AF65-F5344CB8AC3E}">
        <p14:creationId xmlns:p14="http://schemas.microsoft.com/office/powerpoint/2010/main" val="1587358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2026-10-10T16:15:43.2660000Z</dcterms:created>
  <dcterms:modified xsi:type="dcterms:W3CDTF">2026-10-10T16:15:43.2660000Z</dcterms:modified>
</coreProperties>
</file>