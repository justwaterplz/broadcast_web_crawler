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9b80cf81fa444d" /><Relationship Type="http://schemas.openxmlformats.org/officeDocument/2006/relationships/extended-properties" Target="/docProps/app.xml" Id="R31e40dd531214419" /><Relationship Type="http://schemas.openxmlformats.org/officeDocument/2006/relationships/officeDocument" Target="/ppt/presentation.xml" Id="R5f0f61874f9e4d7f" /></Relationships>
</file>

<file path=ppt/presentation.xml><?xml version="1.0" encoding="utf-8"?>
<p:presentation xmlns:p="http://schemas.openxmlformats.org/presentationml/2006/main">
  <p:sldMasterIdLst>
    <p:sldMasterId xmlns:r="http://schemas.openxmlformats.org/officeDocument/2006/relationships" id="2147483648" r:id="R2aadde812de649e3"/>
  </p:sldMasterIdLst>
  <p:notesMasterIdLst>
    <p:notesMasterId xmlns:r="http://schemas.openxmlformats.org/officeDocument/2006/relationships" r:id="R3c13fb5868b5487f"/>
  </p:notesMasterIdLst>
  <p:sldIdLst>
    <p:sldId xmlns:r="http://schemas.openxmlformats.org/officeDocument/2006/relationships" id="256" r:id="Rd89e05ae73834ef9"/>
    <p:sldId xmlns:r="http://schemas.openxmlformats.org/officeDocument/2006/relationships" id="257" r:id="Rb88b301f632340f4"/>
    <p:sldId xmlns:r="http://schemas.openxmlformats.org/officeDocument/2006/relationships" id="258" r:id="Rf83463eb949e47ab"/>
    <p:sldId xmlns:r="http://schemas.openxmlformats.org/officeDocument/2006/relationships" id="259" r:id="Re19c5dd2e24c42dc"/>
    <p:sldId xmlns:r="http://schemas.openxmlformats.org/officeDocument/2006/relationships" id="260" r:id="R2c056c6a91774882"/>
    <p:sldId xmlns:r="http://schemas.openxmlformats.org/officeDocument/2006/relationships" id="261" r:id="R158d582708934321"/>
    <p:sldId xmlns:r="http://schemas.openxmlformats.org/officeDocument/2006/relationships" id="262" r:id="Rd05247fa3d164951"/>
    <p:sldId xmlns:r="http://schemas.openxmlformats.org/officeDocument/2006/relationships" id="263" r:id="R82f99202f7d04e14"/>
    <p:sldId xmlns:r="http://schemas.openxmlformats.org/officeDocument/2006/relationships" id="264" r:id="Rcea88a60c44f4a61"/>
    <p:sldId xmlns:r="http://schemas.openxmlformats.org/officeDocument/2006/relationships" id="265" r:id="Rf77f1a489013432d"/>
    <p:sldId xmlns:r="http://schemas.openxmlformats.org/officeDocument/2006/relationships" id="266" r:id="R7dfc221d52e14a02"/>
    <p:sldId xmlns:r="http://schemas.openxmlformats.org/officeDocument/2006/relationships" id="267" r:id="R517f9a55bf8b4dd5"/>
    <p:sldId xmlns:r="http://schemas.openxmlformats.org/officeDocument/2006/relationships" id="268" r:id="Rc3c22f475465436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8ded7d4f7a646ee" /><Relationship Type="http://schemas.openxmlformats.org/officeDocument/2006/relationships/slideMaster" Target="/ppt/slideMasters/slideMaster1.xml" Id="R2aadde812de649e3" /><Relationship Type="http://schemas.openxmlformats.org/officeDocument/2006/relationships/notesMaster" Target="/ppt/notesMasters/notesMaster1.xml" Id="R3c13fb5868b5487f" /><Relationship Type="http://schemas.openxmlformats.org/officeDocument/2006/relationships/presProps" Target="/ppt/presProps.xml" Id="R80ccbdb7064a4fae" /><Relationship Type="http://schemas.openxmlformats.org/officeDocument/2006/relationships/viewProps" Target="/ppt/viewProps.xml" Id="R1282e4dd5b9b4f91" /><Relationship Type="http://schemas.openxmlformats.org/officeDocument/2006/relationships/tableStyles" Target="/ppt/tableStyles.xml" Id="R3d334ff1a47b4d8f" /><Relationship Type="http://schemas.openxmlformats.org/officeDocument/2006/relationships/slide" Target="/ppt/slides/slide1.xml" Id="Rd89e05ae73834ef9" /><Relationship Type="http://schemas.openxmlformats.org/officeDocument/2006/relationships/slide" Target="/ppt/slides/slide2.xml" Id="Rb88b301f632340f4" /><Relationship Type="http://schemas.openxmlformats.org/officeDocument/2006/relationships/slide" Target="/ppt/slides/slide3.xml" Id="Rf83463eb949e47ab" /><Relationship Type="http://schemas.openxmlformats.org/officeDocument/2006/relationships/slide" Target="/ppt/slides/slide4.xml" Id="Re19c5dd2e24c42dc" /><Relationship Type="http://schemas.openxmlformats.org/officeDocument/2006/relationships/slide" Target="/ppt/slides/slide5.xml" Id="R2c056c6a91774882" /><Relationship Type="http://schemas.openxmlformats.org/officeDocument/2006/relationships/slide" Target="/ppt/slides/slide6.xml" Id="R158d582708934321" /><Relationship Type="http://schemas.openxmlformats.org/officeDocument/2006/relationships/slide" Target="/ppt/slides/slide7.xml" Id="Rd05247fa3d164951" /><Relationship Type="http://schemas.openxmlformats.org/officeDocument/2006/relationships/slide" Target="/ppt/slides/slide8.xml" Id="R82f99202f7d04e14" /><Relationship Type="http://schemas.openxmlformats.org/officeDocument/2006/relationships/slide" Target="/ppt/slides/slide9.xml" Id="Rcea88a60c44f4a61" /><Relationship Type="http://schemas.openxmlformats.org/officeDocument/2006/relationships/slide" Target="/ppt/slides/slide10.xml" Id="Rf77f1a489013432d" /><Relationship Type="http://schemas.openxmlformats.org/officeDocument/2006/relationships/slide" Target="/ppt/slides/slide11.xml" Id="R7dfc221d52e14a02" /><Relationship Type="http://schemas.openxmlformats.org/officeDocument/2006/relationships/slide" Target="/ppt/slides/slide12.xml" Id="R517f9a55bf8b4dd5" /><Relationship Type="http://schemas.openxmlformats.org/officeDocument/2006/relationships/slide" Target="/ppt/slides/slide13.xml" Id="Rc3c22f47546543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385e87257048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a012e0371d4718" /><Relationship Type="http://schemas.openxmlformats.org/officeDocument/2006/relationships/notesMaster" Target="/ppt/notesMasters/notesMaster1.xml" Id="Ra14a00529ca445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0c0834fc934e06" /><Relationship Type="http://schemas.openxmlformats.org/officeDocument/2006/relationships/notesMaster" Target="/ppt/notesMasters/notesMaster1.xml" Id="R65e9e49f567046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717ab3cd514203" /><Relationship Type="http://schemas.openxmlformats.org/officeDocument/2006/relationships/notesMaster" Target="/ppt/notesMasters/notesMaster1.xml" Id="R90cb54fba7404e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c6d2f3d1324068" /><Relationship Type="http://schemas.openxmlformats.org/officeDocument/2006/relationships/notesMaster" Target="/ppt/notesMasters/notesMaster1.xml" Id="R91e12c043f624d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85ee33bf8144ac" /><Relationship Type="http://schemas.openxmlformats.org/officeDocument/2006/relationships/notesMaster" Target="/ppt/notesMasters/notesMaster1.xml" Id="R38b241f1a2984e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2b39278d214d5e" /><Relationship Type="http://schemas.openxmlformats.org/officeDocument/2006/relationships/notesMaster" Target="/ppt/notesMasters/notesMaster1.xml" Id="Rceaf5df0fd86474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251b5cbd36492b" /><Relationship Type="http://schemas.openxmlformats.org/officeDocument/2006/relationships/notesMaster" Target="/ppt/notesMasters/notesMaster1.xml" Id="R79ad857915ee41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24df70ce06470c" /><Relationship Type="http://schemas.openxmlformats.org/officeDocument/2006/relationships/notesMaster" Target="/ppt/notesMasters/notesMaster1.xml" Id="Rcc20ceeca5aa44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e2ee039e2b402c" /><Relationship Type="http://schemas.openxmlformats.org/officeDocument/2006/relationships/notesMaster" Target="/ppt/notesMasters/notesMaster1.xml" Id="R15ef1a85fbb948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0352c965c54f31" /><Relationship Type="http://schemas.openxmlformats.org/officeDocument/2006/relationships/notesMaster" Target="/ppt/notesMasters/notesMaster1.xml" Id="R97ee7d869ff84f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72474bdfbc4f77" /><Relationship Type="http://schemas.openxmlformats.org/officeDocument/2006/relationships/notesMaster" Target="/ppt/notesMasters/notesMaster1.xml" Id="Rf4927b26091942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7993c98ac204677" /><Relationship Type="http://schemas.openxmlformats.org/officeDocument/2006/relationships/notesMaster" Target="/ppt/notesMasters/notesMaster1.xml" Id="Re9e6f3d23f2241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081a44fb345487e" /><Relationship Type="http://schemas.openxmlformats.org/officeDocument/2006/relationships/notesMaster" Target="/ppt/notesMasters/notesMaster1.xml" Id="R1e9b1b60059b47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xmlns:a="http://schemas.openxmlformats.org/drawingml/2006/main">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a:p xmlns:a="http://schemas.openxmlformats.org/drawingml/2006/main">
            <a:r>
              <a:t>사용자 수정 반영: 이 슬라이드의 표는 제공한 웹사이트 화면에서 확인한 정보만 다룹니다. 15세 이상은 API의 dlbrtGrd에서 확인한 값이며 화면 기본 정보에 표시된 항목으로 제시하지 않습니다. 화면에 표시된 출연진은 송강·이준영·장규리·정진영 4명이고 등장인물 설명은 강비오(송강)·최정요(이준영) 2명만 제공합니다. 사이트의 전체 출연진 또는 다른 문서의 등장인물 수로 일반화하지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xmlns:a="http://schemas.openxmlformats.org/drawingml/2006/main">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화면: D:/MMLAB/projects/broadcast_web_crawler/reports/1/tving_drama1.png</a:t>
            </a:r>
          </a:p>
          <a:p xmlns:a="http://schemas.openxmlformats.org/drawingml/2006/main">
            <a:r>
              <a:t>원문: https://www.tving.com/more/genre/PCA</a:t>
            </a:r>
          </a:p>
          <a:p xmlns:a="http://schemas.openxmlformats.org/drawingml/2006/main">
            <a:r>
              <a:t>실제 집계: D:/MMLAB/projects/broadcast_web_crawler/data/tving/20261007_210908_251349_드라마_전체/collection-report.json</a:t>
            </a:r>
          </a:p>
          <a:p xmlns:a="http://schemas.openxmlformats.org/drawingml/2006/main">
            <a:r>
              <a:t>2026-10-07 저장 배치의 성공 작품 20, 수집 회차 341, 시놉시스 있는 회차 341. 화면 캡처의 작품 순서는 해당 과거 배치 순서를 증명하지 않습니다. 작품별 전체 시즌의 완전성을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수집 근거: D:/MMLAB/projects/broadcast_web_crawler/data/namuwiki/20261008_144044_283930_나무위키_냉장고를 부탁해/contents.json</a:t>
            </a:r>
          </a:p>
          <a:p xmlns:a="http://schemas.openxmlformats.org/drawingml/2006/main">
            <a:r>
              <a:t>위키 포핸즈 URL: https://namu.wiki/w/%ED%8F%AC%ED%95%B8%EC%A6%88</a:t>
            </a:r>
          </a:p>
          <a:p xmlns:a="http://schemas.openxmlformats.org/drawingml/2006/main">
            <a:r>
              <a:t>포핸즈 본문 및 하위 문서 존재는 사용자 직접 확인 근거입니다. 도구 조회는 실패했으므로 구체적 하위 문서 목록이나 수집 결과는 검증 완료로 제시하지 않습니다. 현재 namuwiki.py는 관련 문서 링크 저장까지 지원하며 선택 문서 추가 수집 UI는 후속 구현입니다. 폴더 reports/1에는 나무위키 캡처가 없습니다. 냉장고를 부탁해의 254회는 시즌 1 정보이고 episodes 배열은 비어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d7cf2324b145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733da8e85f44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64ac4ef1d240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3dc225b55b4b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b1e89a3bc034b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c5422318134b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7b956aa3d64d44" /><Relationship Type="http://schemas.openxmlformats.org/officeDocument/2006/relationships/slideLayout" Target="/ppt/slideLayouts/slideLayout1.xml" Id="Rd4f72563e9344988" /><Relationship Type="http://schemas.openxmlformats.org/officeDocument/2006/relationships/slideLayout" Target="/ppt/slideLayouts/slideLayout2.xml" Id="Ra2c5655cdf744dd9" /><Relationship Type="http://schemas.openxmlformats.org/officeDocument/2006/relationships/slideLayout" Target="/ppt/slideLayouts/slideLayout3.xml" Id="Re4a1b50cfbb043c8" /><Relationship Type="http://schemas.openxmlformats.org/officeDocument/2006/relationships/slideLayout" Target="/ppt/slideLayouts/slideLayout4.xml" Id="R98824753f2ae4564" /><Relationship Type="http://schemas.openxmlformats.org/officeDocument/2006/relationships/slideLayout" Target="/ppt/slideLayouts/slideLayout5.xml" Id="R6d1a17151b5845b7" /><Relationship Type="http://schemas.openxmlformats.org/officeDocument/2006/relationships/slideLayout" Target="/ppt/slideLayouts/slideLayout6.xml" Id="R73eeaf7756c0461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f72563e9344988"/>
    <p:sldLayoutId xmlns:r="http://schemas.openxmlformats.org/officeDocument/2006/relationships" id="2147483650" r:id="Ra2c5655cdf744dd9"/>
    <p:sldLayoutId xmlns:r="http://schemas.openxmlformats.org/officeDocument/2006/relationships" id="2147483651" r:id="Re4a1b50cfbb043c8"/>
    <p:sldLayoutId xmlns:r="http://schemas.openxmlformats.org/officeDocument/2006/relationships" id="2147483652" r:id="R98824753f2ae4564"/>
    <p:sldLayoutId xmlns:r="http://schemas.openxmlformats.org/officeDocument/2006/relationships" id="2147483653" r:id="R6d1a17151b5845b7"/>
    <p:sldLayoutId xmlns:r="http://schemas.openxmlformats.org/officeDocument/2006/relationships" id="2147483654" r:id="R73eeaf7756c0461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d68251f16949e3" /><Relationship Type="http://schemas.openxmlformats.org/officeDocument/2006/relationships/notesSlide" Target="/ppt/notesSlides/notesSlide1.xml" Id="Rba17cc0cfaf843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1ccb34ed4840dc" /><Relationship Type="http://schemas.openxmlformats.org/officeDocument/2006/relationships/notesSlide" Target="/ppt/notesSlides/notesSlide2.xml" Id="R7cde2efc4c914b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230af91bc94919" /><Relationship Type="http://schemas.openxmlformats.org/officeDocument/2006/relationships/image" Target="/ppt/media/image.png" Id="R5be7d232cfe44c99" /><Relationship Type="http://schemas.openxmlformats.org/officeDocument/2006/relationships/notesSlide" Target="/ppt/notesSlides/notesSlide3.xml" Id="R9a776d39d18f42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49f28245724d57" /><Relationship Type="http://schemas.openxmlformats.org/officeDocument/2006/relationships/image" Target="/ppt/media/image2.png" Id="Rf71ce47a25704743" /><Relationship Type="http://schemas.openxmlformats.org/officeDocument/2006/relationships/image" Target="/ppt/media/image3.png" Id="Ra2d825b6426e4009" /><Relationship Type="http://schemas.openxmlformats.org/officeDocument/2006/relationships/notesSlide" Target="/ppt/notesSlides/notesSlide4.xml" Id="R01907069573c49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19a676697f946ae" /><Relationship Type="http://schemas.openxmlformats.org/officeDocument/2006/relationships/image" Target="/ppt/media/image4.png" Id="Re05d73964a294981" /><Relationship Type="http://schemas.openxmlformats.org/officeDocument/2006/relationships/notesSlide" Target="/ppt/notesSlides/notesSlide5.xml" Id="Rb5aca8919d1144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13372a06b1b4c2a" /><Relationship Type="http://schemas.openxmlformats.org/officeDocument/2006/relationships/image" Target="/ppt/media/image5.png" Id="R3102bd637ea1477c" /><Relationship Type="http://schemas.openxmlformats.org/officeDocument/2006/relationships/notesSlide" Target="/ppt/notesSlides/notesSlide6.xml" Id="R874f90a323df496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e008634d908485b" /><Relationship Type="http://schemas.openxmlformats.org/officeDocument/2006/relationships/image" Target="/ppt/media/image6.png" Id="R57102c5a3d694a33" /><Relationship Type="http://schemas.openxmlformats.org/officeDocument/2006/relationships/notesSlide" Target="/ppt/notesSlides/notesSlide7.xml" Id="Ra968610ef89e44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28edbf5e8e4b18" /><Relationship Type="http://schemas.openxmlformats.org/officeDocument/2006/relationships/image" Target="/ppt/media/image7.png" Id="Rf8c0e8aa58c648ef" /><Relationship Type="http://schemas.openxmlformats.org/officeDocument/2006/relationships/notesSlide" Target="/ppt/notesSlides/notesSlide8.xml" Id="R5917d4a435ff48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6ed967466054053" /><Relationship Type="http://schemas.openxmlformats.org/officeDocument/2006/relationships/image" Target="/ppt/media/image8.png" Id="Rabd73c641c1c4d01" /><Relationship Type="http://schemas.openxmlformats.org/officeDocument/2006/relationships/image" Target="/ppt/media/image9.png" Id="R10c761ef14724b90" /><Relationship Type="http://schemas.openxmlformats.org/officeDocument/2006/relationships/notesSlide" Target="/ppt/notesSlides/notesSlide9.xml" Id="Rc2c5ee0092e34c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089eadb9ec143d3" /><Relationship Type="http://schemas.openxmlformats.org/officeDocument/2006/relationships/image" Target="/ppt/media/image10.png" Id="R0560a397c76a499d" /><Relationship Type="http://schemas.openxmlformats.org/officeDocument/2006/relationships/notesSlide" Target="/ppt/notesSlides/notesSlide10.xml" Id="R7a3f03b898204b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b1bff6538f41bf" /><Relationship Type="http://schemas.openxmlformats.org/officeDocument/2006/relationships/notesSlide" Target="/ppt/notesSlides/notesSlide11.xml" Id="Ra697405765bd48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88af9e2e9964376" /><Relationship Type="http://schemas.openxmlformats.org/officeDocument/2006/relationships/image" Target="/ppt/media/image11.png" Id="Rda1405d7a2ee4b36" /><Relationship Type="http://schemas.openxmlformats.org/officeDocument/2006/relationships/notesSlide" Target="/ppt/notesSlides/notesSlide12.xml" Id="Rb138a37581c24c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ba2e18b287446cb" /><Relationship Type="http://schemas.openxmlformats.org/officeDocument/2006/relationships/image" Target="/ppt/media/image12.png" Id="Reecbe5caf63944f0" /><Relationship Type="http://schemas.openxmlformats.org/officeDocument/2006/relationships/image" Target="/ppt/media/image13.png" Id="R5e31ef02a8f74cad" /><Relationship Type="http://schemas.openxmlformats.org/officeDocument/2006/relationships/notesSlide" Target="/ppt/notesSlides/notesSlide13.xml" Id="R761aa17f571f4e5c"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직사각형 4">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직사각형 1">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직사각형 2">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직사각형 3">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직사각형 1">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표 2">
            <a:extLst xmlns:a="http://schemas.openxmlformats.org/drawingml/2006/main">
              <a:ext uri="{FF2B5EF4-FFF2-40B4-BE49-F238E27FC236}">
                <a16:creationId xmlns:a16="http://schemas.microsoft.com/office/drawing/2014/main" id="{A0730AC3-5B4C-4380-AFDF-FE59B8651ACD}"/>
              </a:ext>
            </a:extLst>
          </p:cNvPr>
          <p:cNvGraphicFramePr/>
          <p:nvPr/>
        </p:nvGraphicFramePr>
        <p:xfrm>
          <a:off xmlns:a="http://schemas.openxmlformats.org/drawingml/2006/main" x="609600" y="1952625"/>
          <a:ext xmlns:a="http://schemas.openxmlformats.org/drawingml/2006/main" cx="10972800" cy="2381252"/>
        </p:xfrm>
        <a:graphic xmlns:a="http://schemas.openxmlformats.org/drawingml/2006/main">
          <a:graphicData uri="http://schemas.openxmlformats.org/drawingml/2006/table">
            <a:tbl>
              <a:tblPr/>
              <a:tblGrid>
                <a:gridCol w="5619750"/>
                <a:gridCol w="5353050"/>
              </a:tblGrid>
              <a:tr h="595313">
                <a:tc>
                  <a:txBody>
                    <a:bodyPr/>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직사각형 4">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직사각형 5">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직사각형 6">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그림 1">
            <a:extLst xmlns:a="http://schemas.openxmlformats.org/drawingml/2006/main">
              <a:ext uri="{FF2B5EF4-FFF2-40B4-BE49-F238E27FC236}">
                <a16:creationId xmlns:a16="http://schemas.microsoft.com/office/drawing/2014/main" id="{904BE085-C3EF-487E-ADAA-E207F5C499DF}"/>
              </a:ext>
            </a:extLst>
          </p:cNvPr>
          <p:cNvPicPr>
            <a:picLocks xmlns:a="http://schemas.openxmlformats.org/drawingml/2006/main" noChangeAspect="1"/>
          </p:cNvPicPr>
          <p:nvPr/>
        </p:nvPicPr>
        <p:blipFill>
          <a:blip xmlns:r="http://schemas.openxmlformats.org/officeDocument/2006/relationships" xmlns:a="http://schemas.openxmlformats.org/drawingml/2006/main" r:embed="R5be7d232cfe44c99"/>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직사각형 3">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직사각형 4">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직사각형 5">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endParaRPr sz="1800" b="0">
              <a:solidFill>
                <a:srgbClr val="303044"/>
              </a:solidFill>
              <a:latin typeface="Malgun Gothic"/>
              <a:ea typeface="Malgun Gothic"/>
              <a:cs typeface="Malgun Gothic"/>
            </a:endParaRP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직사각형 6">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직사각형 7">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직사각형 1">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직사각형 2">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그림 3">
            <a:extLst xmlns:a="http://schemas.openxmlformats.org/drawingml/2006/main">
              <a:ext uri="{FF2B5EF4-FFF2-40B4-BE49-F238E27FC236}">
                <a16:creationId xmlns:a16="http://schemas.microsoft.com/office/drawing/2014/main" id="{C2DF49C4-ED52-4D1B-A4F7-1BDA80C9E1BE}"/>
              </a:ext>
            </a:extLst>
          </p:cNvPr>
          <p:cNvPicPr>
            <a:picLocks xmlns:a="http://schemas.openxmlformats.org/drawingml/2006/main" noChangeAspect="1"/>
          </p:cNvPicPr>
          <p:nvPr/>
        </p:nvPicPr>
        <p:blipFill>
          <a:blip xmlns:r="http://schemas.openxmlformats.org/officeDocument/2006/relationships" xmlns:a="http://schemas.openxmlformats.org/drawingml/2006/main" r:embed="Rf71ce47a25704743"/>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2711365A-202D-4821-880C-4FB117051EC3}"/>
              </a:ext>
            </a:extLst>
          </p:cNvPr>
          <p:cNvPicPr>
            <a:picLocks xmlns:a="http://schemas.openxmlformats.org/drawingml/2006/main" noChangeAspect="1"/>
          </p:cNvPicPr>
          <p:nvPr/>
        </p:nvPicPr>
        <p:blipFill>
          <a:blip xmlns:r="http://schemas.openxmlformats.org/officeDocument/2006/relationships" xmlns:a="http://schemas.openxmlformats.org/drawingml/2006/main" r:embed="Ra2d825b6426e4009"/>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직사각형 6">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직사각형 7">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그림 1">
            <a:extLst xmlns:a="http://schemas.openxmlformats.org/drawingml/2006/main">
              <a:ext uri="{FF2B5EF4-FFF2-40B4-BE49-F238E27FC236}">
                <a16:creationId xmlns:a16="http://schemas.microsoft.com/office/drawing/2014/main" id="{65714C8B-1946-4F06-BE84-4C3FB3669E52}"/>
              </a:ext>
            </a:extLst>
          </p:cNvPr>
          <p:cNvPicPr>
            <a:picLocks xmlns:a="http://schemas.openxmlformats.org/drawingml/2006/main" noChangeAspect="1"/>
          </p:cNvPicPr>
          <p:nvPr/>
        </p:nvPicPr>
        <p:blipFill>
          <a:blip xmlns:r="http://schemas.openxmlformats.org/officeDocument/2006/relationships" xmlns:a="http://schemas.openxmlformats.org/drawingml/2006/main" r:embed="Re05d73964a294981"/>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API 호스트의 robots.txt에서 수집 제한 확인</a:t>
            </a:r>
          </a:p>
        </p:txBody>
      </p:sp>
      <p:sp>
        <p:nvSpPr>
          <p:cNvPr id="4" name="직사각형 3">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직사각형 4">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직사각형 5">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직사각형 6">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직사각형 7">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직사각형 8">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자동 수집 제한 확인 후 브라우저에서 데이터 존재 점검 / 직접 API 조회 결과는 다음 검증에서 설명</a:t>
            </a:r>
          </a:p>
        </p:txBody>
      </p:sp>
      <p:sp>
        <p:nvSpPr>
          <p:cNvPr id="10" name="직사각형 9">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그림 1">
            <a:extLst xmlns:a="http://schemas.openxmlformats.org/drawingml/2006/main">
              <a:ext uri="{FF2B5EF4-FFF2-40B4-BE49-F238E27FC236}">
                <a16:creationId xmlns:a16="http://schemas.microsoft.com/office/drawing/2014/main" id="{3B3C7FCE-FE15-4B48-A34B-1E39A9F0AE9E}"/>
              </a:ext>
            </a:extLst>
          </p:cNvPr>
          <p:cNvPicPr>
            <a:picLocks xmlns:a="http://schemas.openxmlformats.org/drawingml/2006/main" noChangeAspect="1"/>
          </p:cNvPicPr>
          <p:nvPr/>
        </p:nvPicPr>
        <p:blipFill>
          <a:blip xmlns:r="http://schemas.openxmlformats.org/officeDocument/2006/relationships" xmlns:a="http://schemas.openxmlformats.org/drawingml/2006/main" r:embed="R3102bd637ea1477c"/>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표 2">
            <a:extLst xmlns:a="http://schemas.openxmlformats.org/drawingml/2006/main">
              <a:ext uri="{FF2B5EF4-FFF2-40B4-BE49-F238E27FC236}">
                <a16:creationId xmlns:a16="http://schemas.microsoft.com/office/drawing/2014/main" id="{5A12F39F-2E41-4B94-B7C2-3414C003E8C0}"/>
              </a:ext>
            </a:extLst>
          </p:cNvPr>
          <p:cNvGraphicFramePr/>
          <p:nvPr/>
        </p:nvGraphicFramePr>
        <p:xfrm>
          <a:off xmlns:a="http://schemas.openxmlformats.org/drawingml/2006/main" x="4724400" y="1438275"/>
          <a:ext xmlns:a="http://schemas.openxmlformats.org/drawingml/2006/main" cx="6858000" cy="3435035"/>
        </p:xfrm>
        <a:graphic xmlns:a="http://schemas.openxmlformats.org/drawingml/2006/main">
          <a:graphicData uri="http://schemas.openxmlformats.org/drawingml/2006/table">
            <a:tbl>
              <a:tblPr/>
              <a:tblGrid>
                <a:gridCol w="1666875"/>
                <a:gridCol w="5191125"/>
              </a:tblGrid>
              <a:tr h="563563">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화면에서 확인한 정보</a:t>
                      </a:r>
                    </a:p>
                  </a:txBody>
                  <a:tcPr marL="91440" marR="91440" marT="45720" marB="45720" anchor="ctr">
                    <a:solidFill>
                      <a:srgbClr val="EEEBF7"/>
                    </a:solidFill>
                  </a:tcPr>
                </a:tc>
              </a:tr>
              <a:tr h="563563">
                <a:tc>
                  <a:txBody>
                    <a:bodyPr/>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포핸즈, tvN, 12회</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출연진 4명 중 2명 정보만 제공</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등장인물 설명은 화면의 출연진 전체를 다루지 않음</a:t>
            </a:r>
          </a:p>
        </p:txBody>
      </p:sp>
      <p:sp>
        <p:nvSpPr>
          <p:cNvPr id="5" name="직사각형 4">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 기본 정보에는 연령 등급 미표시 / 15세 이상은 API 응답에서 확인</a:t>
            </a:r>
          </a:p>
        </p:txBody>
      </p:sp>
      <p:sp>
        <p:nvSpPr>
          <p:cNvPr id="6" name="직사각형 5">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86D4117B-DA49-48FB-ADF1-9C1461D2B38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페이지의 API 응답에서 작품 정보 확인</a:t>
            </a:r>
          </a:p>
        </p:txBody>
      </p:sp>
      <p:pic>
        <p:nvPicPr>
          <p:cNvPr id="2" name="그림 1">
            <a:extLst xmlns:a="http://schemas.openxmlformats.org/drawingml/2006/main">
              <a:ext uri="{FF2B5EF4-FFF2-40B4-BE49-F238E27FC236}">
                <a16:creationId xmlns:a16="http://schemas.microsoft.com/office/drawing/2014/main" id="{EF12F1A5-4BF2-40B9-B5AE-7230BD26E80A}"/>
              </a:ext>
            </a:extLst>
          </p:cNvPr>
          <p:cNvPicPr>
            <a:picLocks xmlns:a="http://schemas.openxmlformats.org/drawingml/2006/main" noChangeAspect="1"/>
          </p:cNvPicPr>
          <p:nvPr/>
        </p:nvPicPr>
        <p:blipFill>
          <a:blip xmlns:r="http://schemas.openxmlformats.org/officeDocument/2006/relationships" xmlns:a="http://schemas.openxmlformats.org/drawingml/2006/main" r:embed="R57102c5a3d694a33"/>
          <a:stretch xmlns:a="http://schemas.openxmlformats.org/drawingml/2006/main"/>
        </p:blipFill>
        <p:spPr>
          <a:xfrm xmlns:a="http://schemas.openxmlformats.org/drawingml/2006/main">
            <a:off x="1267691" y="1552575"/>
            <a:ext cx="3684443" cy="352425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A5094C3A-DE27-447E-B9ED-66EFD5A81C25}"/>
              </a:ext>
            </a:extLst>
          </p:cNvPr>
          <p:cNvSpPr>
            <a:spLocks xmlns:a="http://schemas.openxmlformats.org/drawingml/2006/main" noGrp="1"/>
          </p:cNvSpPr>
          <p:nvPr/>
        </p:nvSpPr>
        <p:spPr>
          <a:xfrm xmlns:a="http://schemas.openxmlformats.org/drawingml/2006/main">
            <a:off x="6038850" y="1381125"/>
            <a:ext cx="5543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프로그램 정보 / 등장인물 정보</a:t>
            </a:r>
          </a:p>
        </p:txBody>
      </p:sp>
      <p:graphicFrame>
        <p:nvGraphicFramePr>
          <p:cNvPr id="4" name="표 3">
            <a:extLst xmlns:a="http://schemas.openxmlformats.org/drawingml/2006/main">
              <a:ext uri="{FF2B5EF4-FFF2-40B4-BE49-F238E27FC236}">
                <a16:creationId xmlns:a16="http://schemas.microsoft.com/office/drawing/2014/main" id="{9EBA139C-53DC-4B4A-B6C3-92D81C25CCD2}"/>
              </a:ext>
            </a:extLst>
          </p:cNvPr>
          <p:cNvGraphicFramePr/>
          <p:nvPr/>
        </p:nvGraphicFramePr>
        <p:xfrm>
          <a:off xmlns:a="http://schemas.openxmlformats.org/drawingml/2006/main" x="6038850" y="2038350"/>
          <a:ext xmlns:a="http://schemas.openxmlformats.org/drawingml/2006/main" cx="5543550" cy="2857500"/>
        </p:xfrm>
        <a:graphic xmlns:a="http://schemas.openxmlformats.org/drawingml/2006/main">
          <a:graphicData uri="http://schemas.openxmlformats.org/drawingml/2006/table">
            <a:tbl>
              <a:tblPr/>
              <a:tblGrid>
                <a:gridCol w="2619375"/>
                <a:gridCol w="2924175"/>
              </a:tblGrid>
              <a:tr h="571500">
                <a:tc>
                  <a:txBody>
                    <a:bodyPr/>
                    <a:lstStyle/>
                    <a:p>
                      <a:r>
                        <a:rPr sz="1725" b="1">
                          <a:solidFill>
                            <a:srgbClr val="716095"/>
                          </a:solidFill>
                          <a:latin typeface="Malgun Gothic"/>
                          <a:ea typeface="Malgun Gothic"/>
                          <a:cs typeface="Malgun Gothic"/>
                        </a:rPr>
                        <a:t>검증 조건</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두 API의 결과</a:t>
                      </a:r>
                    </a:p>
                  </a:txBody>
                  <a:tcPr marL="91440" marR="91440" marT="45720" marB="45720" anchor="ctr">
                    <a:solidFill>
                      <a:srgbClr val="EEEBF7"/>
                    </a:solidFill>
                  </a:tcPr>
                </a:tc>
              </a:tr>
              <a:tr h="571500">
                <a:tc>
                  <a:txBody>
                    <a:bodyPr/>
                    <a:lstStyle/>
                    <a:p>
                      <a:r>
                        <a:rPr sz="1725" b="0">
                          <a:solidFill>
                            <a:srgbClr val="303044"/>
                          </a:solidFill>
                          <a:latin typeface="Malgun Gothic"/>
                          <a:ea typeface="Malgun Gothic"/>
                          <a:cs typeface="Malgun Gothic"/>
                        </a:rPr>
                        <a:t>직접 HTTP 요청</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200 OK / resultCd 0000</a:t>
                      </a:r>
                    </a:p>
                  </a:txBody>
                  <a:tcPr marL="91440" marR="91440" marT="45720" marB="45720" anchor="ctr">
                    <a:solidFill>
                      <a:srgbClr val="FFFFFF"/>
                    </a:solidFill>
                  </a:tcPr>
                </a:tc>
              </a:tr>
              <a:tr h="571500">
                <a:tc>
                  <a:txBody>
                    <a:bodyPr/>
                    <a:lstStyle/>
                    <a:p>
                      <a:r>
                        <a:rPr sz="1725" b="0">
                          <a:solidFill>
                            <a:srgbClr val="303044"/>
                          </a:solidFill>
                          <a:latin typeface="Malgun Gothic"/>
                          <a:ea typeface="Malgun Gothic"/>
                          <a:cs typeface="Malgun Gothic"/>
                        </a:rPr>
                        <a:t>브라우저·로그인</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사용하지 않음</a:t>
                      </a:r>
                    </a:p>
                  </a:txBody>
                  <a:tcPr marL="91440" marR="91440" marT="45720" marB="45720" anchor="ctr">
                    <a:solidFill>
                      <a:srgbClr val="FFFFFF"/>
                    </a:solidFill>
                  </a:tcPr>
                </a:tc>
              </a:tr>
              <a:tr h="571500">
                <a:tc>
                  <a:txBody>
                    <a:bodyPr/>
                    <a:lstStyle/>
                    <a:p>
                      <a:r>
                        <a:rPr sz="1725" b="0">
                          <a:solidFill>
                            <a:srgbClr val="303044"/>
                          </a:solidFill>
                          <a:latin typeface="Malgun Gothic"/>
                          <a:ea typeface="Malgun Gothic"/>
                          <a:cs typeface="Malgun Gothic"/>
                        </a:rPr>
                        <a:t>Cookie·Authorization</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사용하지 않음</a:t>
                      </a:r>
                    </a:p>
                  </a:txBody>
                  <a:tcPr marL="91440" marR="91440" marT="45720" marB="45720" anchor="ctr">
                    <a:solidFill>
                      <a:srgbClr val="FFFFFF"/>
                    </a:solidFill>
                  </a:tcPr>
                </a:tc>
              </a:tr>
              <a:tr h="571500">
                <a:tc>
                  <a:txBody>
                    <a:bodyPr/>
                    <a:lstStyle/>
                    <a:p>
                      <a:r>
                        <a:rPr sz="1725" b="0">
                          <a:solidFill>
                            <a:srgbClr val="303044"/>
                          </a:solidFill>
                          <a:latin typeface="Malgun Gothic"/>
                          <a:ea typeface="Malgun Gothic"/>
                          <a:cs typeface="Malgun Gothic"/>
                        </a:rPr>
                        <a:t>기존 응답 비교</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JSON 내용 동일</a:t>
                      </a:r>
                    </a:p>
                  </a:txBody>
                  <a:tcPr marL="91440" marR="91440" marT="45720" marB="45720" anchor="ctr">
                    <a:solidFill>
                      <a:srgbClr val="FFFFFF"/>
                    </a:solidFill>
                  </a:tcPr>
                </a:tc>
              </a:tr>
            </a:tbl>
          </a:graphicData>
        </a:graphic>
      </p:graphicFrame>
      <p:sp>
        <p:nvSpPr>
          <p:cNvPr id="5" name="직사각형 4">
            <a:extLst xmlns:a="http://schemas.openxmlformats.org/drawingml/2006/main">
              <a:ext uri="{FF2B5EF4-FFF2-40B4-BE49-F238E27FC236}">
                <a16:creationId xmlns:a16="http://schemas.microsoft.com/office/drawing/2014/main" id="{5056B699-F0E3-403D-914A-443581805B77}"/>
              </a:ext>
            </a:extLst>
          </p:cNvPr>
          <p:cNvSpPr>
            <a:spLocks xmlns:a="http://schemas.openxmlformats.org/drawingml/2006/main" noGrp="1"/>
          </p:cNvSpPr>
          <p:nvPr/>
        </p:nvSpPr>
        <p:spPr>
          <a:xfrm xmlns:a="http://schemas.openxmlformats.org/drawingml/2006/main">
            <a:off x="609600" y="5429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716095"/>
                </a:solidFill>
                <a:latin typeface="Malgun Gothic"/>
                <a:ea typeface="Malgun Gothic"/>
                <a:cs typeface="Malgun Gothic"/>
              </a:defRPr>
            </a:defPPr>
          </a:lstStyle>
          <a:p xmlns:a="http://schemas.openxmlformats.org/drawingml/2006/main">
            <a:pPr>
              <a:buNone/>
              <a:defRPr sz="2325" b="1">
                <a:solidFill>
                  <a:srgbClr val="716095"/>
                </a:solidFill>
                <a:latin typeface="Malgun Gothic"/>
                <a:ea typeface="Malgun Gothic"/>
                <a:cs typeface="Malgun Gothic"/>
              </a:defRPr>
            </a:pPr>
            <a:r>
              <a:rPr sz="2325" b="1">
                <a:solidFill>
                  <a:srgbClr val="716095"/>
                </a:solidFill>
                <a:latin typeface="Malgun Gothic"/>
                <a:ea typeface="Malgun Gothic"/>
                <a:cs typeface="Malgun Gothic"/>
              </a:rPr>
              <a:t>추가 검증: Python 직접 조회와 JSON 저장 성공</a:t>
            </a:r>
          </a:p>
        </p:txBody>
      </p:sp>
      <p:sp>
        <p:nvSpPr>
          <p:cNvPr id="6" name="직사각형 5">
            <a:extLst xmlns:a="http://schemas.openxmlformats.org/drawingml/2006/main">
              <a:ext uri="{FF2B5EF4-FFF2-40B4-BE49-F238E27FC236}">
                <a16:creationId xmlns:a16="http://schemas.microsoft.com/office/drawing/2014/main" id="{D3575E07-5676-48E5-88B0-149EC94B1C4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브라우저 응답 확인 후 두 API 직접 호출 검증 / 2026.10.12 / 정책상 제한과 기술적 성공은 구분</a:t>
            </a:r>
          </a:p>
        </p:txBody>
      </p:sp>
      <p:sp>
        <p:nvSpPr>
          <p:cNvPr id="7" name="직사각형 6">
            <a:extLst xmlns:a="http://schemas.openxmlformats.org/drawingml/2006/main">
              <a:ext uri="{FF2B5EF4-FFF2-40B4-BE49-F238E27FC236}">
                <a16:creationId xmlns:a16="http://schemas.microsoft.com/office/drawing/2014/main" id="{129F01D3-6DBD-443F-A271-5A4E15048CBA}"/>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701F7316-6CCF-4245-A0A5-BE2D76C5BA9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같은 포핸즈의 회차 정보로 보완</a:t>
            </a:r>
          </a:p>
        </p:txBody>
      </p:sp>
      <p:pic>
        <p:nvPicPr>
          <p:cNvPr id="2" name="그림 1">
            <a:extLst xmlns:a="http://schemas.openxmlformats.org/drawingml/2006/main">
              <a:ext uri="{FF2B5EF4-FFF2-40B4-BE49-F238E27FC236}">
                <a16:creationId xmlns:a16="http://schemas.microsoft.com/office/drawing/2014/main" id="{A798EB7A-D690-4AB5-BF00-2A040B6656B4}"/>
              </a:ext>
            </a:extLst>
          </p:cNvPr>
          <p:cNvPicPr>
            <a:picLocks xmlns:a="http://schemas.openxmlformats.org/drawingml/2006/main" noChangeAspect="1"/>
          </p:cNvPicPr>
          <p:nvPr/>
        </p:nvPicPr>
        <p:blipFill>
          <a:blip xmlns:r="http://schemas.openxmlformats.org/officeDocument/2006/relationships" xmlns:a="http://schemas.openxmlformats.org/drawingml/2006/main" r:embed="Rf8c0e8aa58c648ef"/>
          <a:stretch xmlns:a="http://schemas.openxmlformats.org/drawingml/2006/main"/>
        </p:blipFill>
        <p:spPr>
          <a:xfrm xmlns:a="http://schemas.openxmlformats.org/drawingml/2006/main">
            <a:off x="2536785" y="1438275"/>
            <a:ext cx="7118430" cy="274320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B1AF6185-ECCC-444C-B4BA-E0BC2763F689}"/>
              </a:ext>
            </a:extLst>
          </p:cNvPr>
          <p:cNvSpPr>
            <a:spLocks xmlns:a="http://schemas.openxmlformats.org/drawingml/2006/main" noGrp="1"/>
          </p:cNvSpPr>
          <p:nvPr/>
        </p:nvSpPr>
        <p:spPr>
          <a:xfrm xmlns:a="http://schemas.openxmlformats.org/drawingml/2006/main">
            <a:off x="609600" y="44291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12개 회차의 제목·시놉시스·방송일·재생 시간 저장</a:t>
            </a:r>
          </a:p>
        </p:txBody>
      </p:sp>
      <p:sp>
        <p:nvSpPr>
          <p:cNvPr id="4" name="직사각형 3">
            <a:extLst xmlns:a="http://schemas.openxmlformats.org/drawingml/2006/main">
              <a:ext uri="{FF2B5EF4-FFF2-40B4-BE49-F238E27FC236}">
                <a16:creationId xmlns:a16="http://schemas.microsoft.com/office/drawing/2014/main" id="{2E6C1581-00F7-477C-A706-8774560E1B29}"/>
              </a:ext>
            </a:extLst>
          </p:cNvPr>
          <p:cNvSpPr>
            <a:spLocks xmlns:a="http://schemas.openxmlformats.org/drawingml/2006/main" noGrp="1"/>
          </p:cNvSpPr>
          <p:nvPr/>
        </p:nvSpPr>
        <p:spPr>
          <a:xfrm xmlns:a="http://schemas.openxmlformats.org/drawingml/2006/main">
            <a:off x="609600" y="5038725"/>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03044"/>
                </a:solidFill>
                <a:latin typeface="Malgun Gothic"/>
                <a:ea typeface="Malgun Gothic"/>
                <a:cs typeface="Malgun Gothic"/>
              </a:defRPr>
            </a:defPPr>
          </a:lstStyle>
          <a:p xmlns:a="http://schemas.openxmlformats.org/drawingml/2006/main">
            <a:pPr>
              <a:buNone/>
              <a:defRPr sz="1800" b="1">
                <a:solidFill>
                  <a:srgbClr val="303044"/>
                </a:solidFill>
                <a:latin typeface="Malgun Gothic"/>
                <a:ea typeface="Malgun Gothic"/>
                <a:cs typeface="Malgun Gothic"/>
              </a:defRPr>
            </a:pPr>
            <a:r>
              <a:rPr sz="1800" b="1">
                <a:solidFill>
                  <a:srgbClr val="303044"/>
                </a:solidFill>
                <a:latin typeface="Malgun Gothic"/>
                <a:ea typeface="Malgun Gothic"/>
                <a:cs typeface="Malgun Gothic"/>
              </a:rPr>
              <a:t>2화 소개 예시</a:t>
            </a:r>
          </a:p>
        </p:txBody>
      </p:sp>
      <p:sp>
        <p:nvSpPr>
          <p:cNvPr id="5" name="직사각형 4">
            <a:extLst xmlns:a="http://schemas.openxmlformats.org/drawingml/2006/main">
              <a:ext uri="{FF2B5EF4-FFF2-40B4-BE49-F238E27FC236}">
                <a16:creationId xmlns:a16="http://schemas.microsoft.com/office/drawing/2014/main" id="{B26A3CE6-AE48-4C39-BB26-30110AF4DA6C}"/>
              </a:ext>
            </a:extLst>
          </p:cNvPr>
          <p:cNvSpPr>
            <a:spLocks xmlns:a="http://schemas.openxmlformats.org/drawingml/2006/main" noGrp="1"/>
          </p:cNvSpPr>
          <p:nvPr/>
        </p:nvSpPr>
        <p:spPr>
          <a:xfrm xmlns:a="http://schemas.openxmlformats.org/drawingml/2006/main">
            <a:off x="2809875" y="5038725"/>
            <a:ext cx="87725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비오는 정요를 의식적으로 멀리한다. 현수는 교습의 조건으로 정요와의 포핸즈를 내건다.</a:t>
            </a:r>
          </a:p>
        </p:txBody>
      </p:sp>
      <p:sp>
        <p:nvSpPr>
          <p:cNvPr id="6" name="직사각형 5">
            <a:extLst xmlns:a="http://schemas.openxmlformats.org/drawingml/2006/main">
              <a:ext uri="{FF2B5EF4-FFF2-40B4-BE49-F238E27FC236}">
                <a16:creationId xmlns:a16="http://schemas.microsoft.com/office/drawing/2014/main" id="{3A8A5C1B-EFED-4715-B88D-B58A174D4C62}"/>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응답의 TVING URL로 연결 / 12개 회차 수집 근거: 2026.10.07 저장 JSON</a:t>
            </a:r>
          </a:p>
        </p:txBody>
      </p:sp>
      <p:sp>
        <p:nvSpPr>
          <p:cNvPr id="7" name="직사각형 6">
            <a:extLst xmlns:a="http://schemas.openxmlformats.org/drawingml/2006/main">
              <a:ext uri="{FF2B5EF4-FFF2-40B4-BE49-F238E27FC236}">
                <a16:creationId xmlns:a16="http://schemas.microsoft.com/office/drawing/2014/main" id="{6C15AA52-B143-418B-944E-41FB9E677477}"/>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API 응답: 회차별 필드 확인</a:t>
            </a:r>
          </a:p>
        </p:txBody>
      </p:sp>
      <p:sp>
        <p:nvSpPr>
          <p:cNvPr id="2" name="직사각형 1">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직사각형 2">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그림 3">
            <a:extLst xmlns:a="http://schemas.openxmlformats.org/drawingml/2006/main">
              <a:ext uri="{FF2B5EF4-FFF2-40B4-BE49-F238E27FC236}">
                <a16:creationId xmlns:a16="http://schemas.microsoft.com/office/drawing/2014/main" id="{F64E1C9F-CADE-4234-B074-8B06DBADB1EE}"/>
              </a:ext>
            </a:extLst>
          </p:cNvPr>
          <p:cNvPicPr>
            <a:picLocks xmlns:a="http://schemas.openxmlformats.org/drawingml/2006/main" noChangeAspect="1"/>
          </p:cNvPicPr>
          <p:nvPr/>
        </p:nvPicPr>
        <p:blipFill>
          <a:blip xmlns:r="http://schemas.openxmlformats.org/officeDocument/2006/relationships" xmlns:a="http://schemas.openxmlformats.org/drawingml/2006/main" r:embed="Rabd73c641c1c4d01"/>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58DA6B42-31D5-40C0-94AC-662F5A2F04ED}"/>
              </a:ext>
            </a:extLst>
          </p:cNvPr>
          <p:cNvPicPr>
            <a:picLocks xmlns:a="http://schemas.openxmlformats.org/drawingml/2006/main" noChangeAspect="1"/>
          </p:cNvPicPr>
          <p:nvPr/>
        </p:nvPicPr>
        <p:blipFill>
          <a:blip xmlns:r="http://schemas.openxmlformats.org/officeDocument/2006/relationships" xmlns:a="http://schemas.openxmlformats.org/drawingml/2006/main" r:embed="R10c761ef14724b90"/>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회차 번호 / 제목 / 방송일 / 시놉시스 / 재생 시간</a:t>
            </a:r>
          </a:p>
        </p:txBody>
      </p:sp>
      <p:sp>
        <p:nvSpPr>
          <p:cNvPr id="7" name="직사각형 6">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직사각형 7">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직사각형 8">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4313242E-7B5A-42A8-8155-7D8CB79FB8F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드라마 전체: 상위 20개 수집 결과</a:t>
            </a:r>
          </a:p>
        </p:txBody>
      </p:sp>
      <p:pic>
        <p:nvPicPr>
          <p:cNvPr id="2" name="그림 1">
            <a:extLst xmlns:a="http://schemas.openxmlformats.org/drawingml/2006/main">
              <a:ext uri="{FF2B5EF4-FFF2-40B4-BE49-F238E27FC236}">
                <a16:creationId xmlns:a16="http://schemas.microsoft.com/office/drawing/2014/main" id="{BECB5724-F9EB-4194-A078-D331491FE10F}"/>
              </a:ext>
            </a:extLst>
          </p:cNvPr>
          <p:cNvPicPr>
            <a:picLocks xmlns:a="http://schemas.openxmlformats.org/drawingml/2006/main" noChangeAspect="1"/>
          </p:cNvPicPr>
          <p:nvPr/>
        </p:nvPicPr>
        <p:blipFill>
          <a:blip xmlns:r="http://schemas.openxmlformats.org/officeDocument/2006/relationships" xmlns:a="http://schemas.openxmlformats.org/drawingml/2006/main" r:embed="R0560a397c76a499d"/>
          <a:stretch xmlns:a="http://schemas.openxmlformats.org/drawingml/2006/main"/>
        </p:blipFill>
        <p:spPr>
          <a:xfrm xmlns:a="http://schemas.openxmlformats.org/drawingml/2006/main">
            <a:off x="609600" y="2089717"/>
            <a:ext cx="6715125" cy="2973841"/>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70AB690E-6EAD-43DA-9165-74C1A4B30088}"/>
              </a:ext>
            </a:extLst>
          </p:cNvPr>
          <p:cNvSpPr>
            <a:spLocks xmlns:a="http://schemas.openxmlformats.org/drawingml/2006/main" noGrp="1"/>
          </p:cNvSpPr>
          <p:nvPr/>
        </p:nvSpPr>
        <p:spPr>
          <a:xfrm xmlns:a="http://schemas.openxmlformats.org/drawingml/2006/main">
            <a:off x="7820025" y="1457325"/>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2026.10.07 저장 배치</a:t>
            </a:r>
          </a:p>
        </p:txBody>
      </p:sp>
      <p:graphicFrame>
        <p:nvGraphicFramePr>
          <p:cNvPr id="4" name="표 3">
            <a:extLst xmlns:a="http://schemas.openxmlformats.org/drawingml/2006/main">
              <a:ext uri="{FF2B5EF4-FFF2-40B4-BE49-F238E27FC236}">
                <a16:creationId xmlns:a16="http://schemas.microsoft.com/office/drawing/2014/main" id="{068BA46C-3D33-4A27-B7F9-A48460117998}"/>
              </a:ext>
            </a:extLst>
          </p:cNvPr>
          <p:cNvGraphicFramePr/>
          <p:nvPr/>
        </p:nvGraphicFramePr>
        <p:xfrm>
          <a:off xmlns:a="http://schemas.openxmlformats.org/drawingml/2006/main" x="7820025" y="2162175"/>
          <a:ext xmlns:a="http://schemas.openxmlformats.org/drawingml/2006/main" cx="3762375" cy="2447925"/>
        </p:xfrm>
        <a:graphic xmlns:a="http://schemas.openxmlformats.org/drawingml/2006/main">
          <a:graphicData uri="http://schemas.openxmlformats.org/drawingml/2006/table">
            <a:tbl>
              <a:tblPr/>
              <a:tblGrid>
                <a:gridCol w="2381250"/>
                <a:gridCol w="1381125"/>
              </a:tblGrid>
              <a:tr h="611981">
                <a:tc>
                  <a:txBody>
                    <a:bodyPr/>
                    <a:lstStyle/>
                    <a:p>
                      <a:r>
                        <a:rPr sz="1800"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800" b="1">
                          <a:solidFill>
                            <a:srgbClr val="716095"/>
                          </a:solidFill>
                          <a:latin typeface="Malgun Gothic"/>
                          <a:ea typeface="Malgun Gothic"/>
                          <a:cs typeface="Malgun Gothic"/>
                        </a:rPr>
                        <a:t>결과</a:t>
                      </a:r>
                    </a:p>
                  </a:txBody>
                  <a:tcPr marL="91440" marR="91440" marT="45720" marB="45720" anchor="ctr">
                    <a:solidFill>
                      <a:srgbClr val="EEEBF7"/>
                    </a:solidFill>
                  </a:tcPr>
                </a:tc>
              </a:tr>
              <a:tr h="611981">
                <a:tc>
                  <a:txBody>
                    <a:bodyPr/>
                    <a:lstStyle/>
                    <a:p>
                      <a:r>
                        <a:rPr sz="1800" b="0">
                          <a:solidFill>
                            <a:srgbClr val="303044"/>
                          </a:solidFill>
                          <a:latin typeface="Malgun Gothic"/>
                          <a:ea typeface="Malgun Gothic"/>
                          <a:cs typeface="Malgun Gothic"/>
                        </a:rPr>
                        <a:t>작품</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20개</a:t>
                      </a:r>
                    </a:p>
                  </a:txBody>
                  <a:tcPr marL="91440" marR="91440" marT="45720" marB="45720" anchor="ctr">
                    <a:solidFill>
                      <a:srgbClr val="FFFFFF"/>
                    </a:solidFill>
                  </a:tcPr>
                </a:tc>
              </a:tr>
              <a:tr h="611981">
                <a:tc>
                  <a:txBody>
                    <a:bodyPr/>
                    <a:lstStyle/>
                    <a:p>
                      <a:r>
                        <a:rPr sz="1800" b="0">
                          <a:solidFill>
                            <a:srgbClr val="303044"/>
                          </a:solidFill>
                          <a:latin typeface="Malgun Gothic"/>
                          <a:ea typeface="Malgun Gothic"/>
                          <a:cs typeface="Malgun Gothic"/>
                        </a:rPr>
                        <a:t>회차</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r h="611981">
                <a:tc>
                  <a:txBody>
                    <a:bodyPr/>
                    <a:lstStyle/>
                    <a:p>
                      <a:r>
                        <a:rPr sz="1800" b="0">
                          <a:solidFill>
                            <a:srgbClr val="303044"/>
                          </a:solidFill>
                          <a:latin typeface="Malgun Gothic"/>
                          <a:ea typeface="Malgun Gothic"/>
                          <a:cs typeface="Malgun Gothic"/>
                        </a:rPr>
                        <a:t>회차 시놉시스</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bl>
          </a:graphicData>
        </a:graphic>
      </p:graphicFrame>
      <p:sp>
        <p:nvSpPr>
          <p:cNvPr id="5" name="직사각형 4">
            <a:extLst xmlns:a="http://schemas.openxmlformats.org/drawingml/2006/main">
              <a:ext uri="{FF2B5EF4-FFF2-40B4-BE49-F238E27FC236}">
                <a16:creationId xmlns:a16="http://schemas.microsoft.com/office/drawing/2014/main" id="{3E13A2CC-7E82-4A73-A87E-7A3796F32870}"/>
              </a:ext>
            </a:extLst>
          </p:cNvPr>
          <p:cNvSpPr>
            <a:spLocks xmlns:a="http://schemas.openxmlformats.org/drawingml/2006/main" noGrp="1"/>
          </p:cNvSpPr>
          <p:nvPr/>
        </p:nvSpPr>
        <p:spPr>
          <a:xfrm xmlns:a="http://schemas.openxmlformats.org/drawingml/2006/main">
            <a:off x="7820025" y="5095875"/>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포핸즈 포함</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 시놉시스 확보</a:t>
            </a:r>
          </a:p>
        </p:txBody>
      </p:sp>
      <p:sp>
        <p:nvSpPr>
          <p:cNvPr id="6" name="직사각형 5">
            <a:extLst xmlns:a="http://schemas.openxmlformats.org/drawingml/2006/main">
              <a:ext uri="{FF2B5EF4-FFF2-40B4-BE49-F238E27FC236}">
                <a16:creationId xmlns:a16="http://schemas.microsoft.com/office/drawing/2014/main" id="{B342C951-10EE-4AA5-8B46-9F962ED11E1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캡처는 목록 구조 예시 / 집계와 당시 순위는 저장된 수집 보고서 기준</a:t>
            </a:r>
          </a:p>
        </p:txBody>
      </p:sp>
      <p:sp>
        <p:nvSpPr>
          <p:cNvPr id="7" name="직사각형 6">
            <a:extLst xmlns:a="http://schemas.openxmlformats.org/drawingml/2006/main">
              <a:ext uri="{FF2B5EF4-FFF2-40B4-BE49-F238E27FC236}">
                <a16:creationId xmlns:a16="http://schemas.microsoft.com/office/drawing/2014/main" id="{47B06EF3-B3E3-4DDB-B86D-3708E26B5F1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7789C277-8624-4A67-AF91-4D7394DFB8AF}"/>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기존 수집 검증과 포핸즈 보완 범위</a:t>
            </a:r>
          </a:p>
        </p:txBody>
      </p:sp>
      <p:sp>
        <p:nvSpPr>
          <p:cNvPr id="2" name="직사각형 1">
            <a:extLst xmlns:a="http://schemas.openxmlformats.org/drawingml/2006/main">
              <a:ext uri="{FF2B5EF4-FFF2-40B4-BE49-F238E27FC236}">
                <a16:creationId xmlns:a16="http://schemas.microsoft.com/office/drawing/2014/main" id="{43B8A208-DE56-4E39-9995-C8B82089072A}"/>
              </a:ext>
            </a:extLst>
          </p:cNvPr>
          <p:cNvSpPr>
            <a:spLocks xmlns:a="http://schemas.openxmlformats.org/drawingml/2006/main" noGrp="1"/>
          </p:cNvSpPr>
          <p:nvPr/>
        </p:nvSpPr>
        <p:spPr>
          <a:xfrm xmlns:a="http://schemas.openxmlformats.org/drawingml/2006/main">
            <a:off x="609600" y="1333500"/>
            <a:ext cx="5562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기존 수집 검증</a:t>
            </a:r>
          </a:p>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냉장고를 부탁해</a:t>
            </a:r>
          </a:p>
        </p:txBody>
      </p:sp>
      <p:graphicFrame>
        <p:nvGraphicFramePr>
          <p:cNvPr id="3" name="표 2">
            <a:extLst xmlns:a="http://schemas.openxmlformats.org/drawingml/2006/main">
              <a:ext uri="{FF2B5EF4-FFF2-40B4-BE49-F238E27FC236}">
                <a16:creationId xmlns:a16="http://schemas.microsoft.com/office/drawing/2014/main" id="{1A0C42B4-3F59-45B0-9759-B9A01684FC06}"/>
              </a:ext>
            </a:extLst>
          </p:cNvPr>
          <p:cNvGraphicFramePr/>
          <p:nvPr/>
        </p:nvGraphicFramePr>
        <p:xfrm>
          <a:off xmlns:a="http://schemas.openxmlformats.org/drawingml/2006/main" x="609600" y="2114550"/>
          <a:ext xmlns:a="http://schemas.openxmlformats.org/drawingml/2006/main" cx="5562600" cy="2828925"/>
        </p:xfrm>
        <a:graphic xmlns:a="http://schemas.openxmlformats.org/drawingml/2006/main">
          <a:graphicData uri="http://schemas.openxmlformats.org/drawingml/2006/table">
            <a:tbl>
              <a:tblPr/>
              <a:tblGrid>
                <a:gridCol w="1857375"/>
                <a:gridCol w="3705225"/>
              </a:tblGrid>
              <a:tr h="565785">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저장된 값</a:t>
                      </a:r>
                    </a:p>
                  </a:txBody>
                  <a:tcPr marL="91440" marR="91440" marT="45720" marB="45720" anchor="ctr">
                    <a:solidFill>
                      <a:srgbClr val="EEEBF7"/>
                    </a:solidFill>
                  </a:tcPr>
                </a:tc>
              </a:tr>
              <a:tr h="565785">
                <a:tc>
                  <a:txBody>
                    <a:bodyPr/>
                    <a:lstStyle/>
                    <a:p>
                      <a:r>
                        <a:rPr sz="1725" b="0">
                          <a:solidFill>
                            <a:srgbClr val="303044"/>
                          </a:solidFill>
                          <a:latin typeface="Malgun Gothic"/>
                          <a:ea typeface="Malgun Gothic"/>
                          <a:cs typeface="Malgun Gothic"/>
                        </a:rPr>
                        <a:t>방송사 / 제작사</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JTBC / 미스틱스토리</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진행자</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김성주, 안정환, 정형돈</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총 회차 수</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254회 (시즌 1)</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관련 문서</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링크 저장, 하위 문서 미수집</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3A81F3D3-EAAC-421E-BA6E-0B6D83012ADA}"/>
              </a:ext>
            </a:extLst>
          </p:cNvPr>
          <p:cNvSpPr>
            <a:spLocks xmlns:a="http://schemas.openxmlformats.org/drawingml/2006/main" noGrp="1"/>
          </p:cNvSpPr>
          <p:nvPr/>
        </p:nvSpPr>
        <p:spPr>
          <a:xfrm xmlns:a="http://schemas.openxmlformats.org/drawingml/2006/main">
            <a:off x="6705600" y="1381125"/>
            <a:ext cx="4876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포핸즈의 위키 문서 보완</a:t>
            </a:r>
          </a:p>
        </p:txBody>
      </p:sp>
      <p:sp>
        <p:nvSpPr>
          <p:cNvPr id="5" name="직사각형 4">
            <a:extLst xmlns:a="http://schemas.openxmlformats.org/drawingml/2006/main">
              <a:ext uri="{FF2B5EF4-FFF2-40B4-BE49-F238E27FC236}">
                <a16:creationId xmlns:a16="http://schemas.microsoft.com/office/drawing/2014/main" id="{4E47A19A-0D55-405C-ADCF-330764A0B1D2}"/>
              </a:ext>
            </a:extLst>
          </p:cNvPr>
          <p:cNvSpPr>
            <a:spLocks xmlns:a="http://schemas.openxmlformats.org/drawingml/2006/main" noGrp="1"/>
          </p:cNvSpPr>
          <p:nvPr/>
        </p:nvSpPr>
        <p:spPr>
          <a:xfrm xmlns:a="http://schemas.openxmlformats.org/drawingml/2006/main">
            <a:off x="6705600" y="2466975"/>
            <a:ext cx="48768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사용자가 본문과 하위 문서 존재 확인</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관련 문서를 사람이 확인하고 선택</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선택한 URL에서 추가 데이터 수집</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문서별 출처를 유지해 비교·분석</a:t>
            </a:r>
          </a:p>
        </p:txBody>
      </p:sp>
      <p:sp>
        <p:nvSpPr>
          <p:cNvPr id="6" name="직사각형 5">
            <a:extLst xmlns:a="http://schemas.openxmlformats.org/drawingml/2006/main">
              <a:ext uri="{FF2B5EF4-FFF2-40B4-BE49-F238E27FC236}">
                <a16:creationId xmlns:a16="http://schemas.microsoft.com/office/drawing/2014/main" id="{CE08DA20-9B11-40D7-BE6B-28E4C933503C}"/>
              </a:ext>
            </a:extLst>
          </p:cNvPr>
          <p:cNvSpPr>
            <a:spLocks xmlns:a="http://schemas.openxmlformats.org/drawingml/2006/main" noGrp="1"/>
          </p:cNvSpPr>
          <p:nvPr/>
        </p:nvSpPr>
        <p:spPr>
          <a:xfrm xmlns:a="http://schemas.openxmlformats.org/drawingml/2006/main">
            <a:off x="6705600" y="5124450"/>
            <a:ext cx="4876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716095"/>
                </a:solidFill>
                <a:latin typeface="Malgun Gothic"/>
                <a:ea typeface="Malgun Gothic"/>
                <a:cs typeface="Malgun Gothic"/>
              </a:defRPr>
            </a:defPPr>
          </a:lstStyle>
          <a:p xmlns:a="http://schemas.openxmlformats.org/drawingml/2006/main">
            <a:pPr>
              <a:buNone/>
              <a:defRPr sz="1800" b="1">
                <a:solidFill>
                  <a:srgbClr val="716095"/>
                </a:solidFill>
                <a:latin typeface="Malgun Gothic"/>
                <a:ea typeface="Malgun Gothic"/>
                <a:cs typeface="Malgun Gothic"/>
              </a:defRPr>
            </a:pPr>
            <a:r>
              <a:rPr sz="1800" b="1">
                <a:solidFill>
                  <a:srgbClr val="716095"/>
                </a:solidFill>
                <a:latin typeface="Malgun Gothic"/>
                <a:ea typeface="Malgun Gothic"/>
                <a:cs typeface="Malgun Gothic"/>
              </a:rPr>
              <a:t>포핸즈 본문·하위 문서의 수집은 후속 검증</a:t>
            </a:r>
          </a:p>
        </p:txBody>
      </p:sp>
      <p:sp>
        <p:nvSpPr>
          <p:cNvPr id="7" name="직사각형 6">
            <a:extLst xmlns:a="http://schemas.openxmlformats.org/drawingml/2006/main">
              <a:ext uri="{FF2B5EF4-FFF2-40B4-BE49-F238E27FC236}">
                <a16:creationId xmlns:a16="http://schemas.microsoft.com/office/drawing/2014/main" id="{C3E73CE0-9375-4E03-9280-A15F5FF51EA0}"/>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나무위키 캡처는 제공 폴더에 없음 / 기존 사례 2026.10.08, 포핸즈 보완은 계획</a:t>
            </a:r>
          </a:p>
        </p:txBody>
      </p:sp>
      <p:sp>
        <p:nvSpPr>
          <p:cNvPr id="8" name="직사각형 7">
            <a:extLst xmlns:a="http://schemas.openxmlformats.org/drawingml/2006/main">
              <a:ext uri="{FF2B5EF4-FFF2-40B4-BE49-F238E27FC236}">
                <a16:creationId xmlns:a16="http://schemas.microsoft.com/office/drawing/2014/main" id="{117A5CAD-6075-4085-93DD-A4983EE21A21}"/>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그림 1">
            <a:extLst xmlns:a="http://schemas.openxmlformats.org/drawingml/2006/main">
              <a:ext uri="{FF2B5EF4-FFF2-40B4-BE49-F238E27FC236}">
                <a16:creationId xmlns:a16="http://schemas.microsoft.com/office/drawing/2014/main" id="{0B26AAA3-8C49-473D-BD1F-BBFFFB774D95}"/>
              </a:ext>
            </a:extLst>
          </p:cNvPr>
          <p:cNvPicPr>
            <a:picLocks xmlns:a="http://schemas.openxmlformats.org/drawingml/2006/main" noChangeAspect="1"/>
          </p:cNvPicPr>
          <p:nvPr/>
        </p:nvPicPr>
        <p:blipFill>
          <a:blip xmlns:r="http://schemas.openxmlformats.org/officeDocument/2006/relationships" xmlns:a="http://schemas.openxmlformats.org/drawingml/2006/main" r:embed="Rda1405d7a2ee4b36"/>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직사각형 3">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사람이 확인한 문서로 추가 보완</a:t>
            </a:r>
          </a:p>
        </p:txBody>
      </p:sp>
      <p:sp>
        <p:nvSpPr>
          <p:cNvPr id="5" name="직사각형 4">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직사각형 5">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직사각형 6">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직사각형 1">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직사각형 2">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그림 3">
            <a:extLst xmlns:a="http://schemas.openxmlformats.org/drawingml/2006/main">
              <a:ext uri="{FF2B5EF4-FFF2-40B4-BE49-F238E27FC236}">
                <a16:creationId xmlns:a16="http://schemas.microsoft.com/office/drawing/2014/main" id="{930132D9-2B42-45D2-ADA8-1A950C11C6A1}"/>
              </a:ext>
            </a:extLst>
          </p:cNvPr>
          <p:cNvPicPr>
            <a:picLocks xmlns:a="http://schemas.openxmlformats.org/drawingml/2006/main" noChangeAspect="1"/>
          </p:cNvPicPr>
          <p:nvPr/>
        </p:nvPicPr>
        <p:blipFill>
          <a:blip xmlns:r="http://schemas.openxmlformats.org/officeDocument/2006/relationships" xmlns:a="http://schemas.openxmlformats.org/drawingml/2006/main" r:embed="Reecbe5caf63944f0"/>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C33B78CC-966D-45AD-88AD-DFD586A3179A}"/>
              </a:ext>
            </a:extLst>
          </p:cNvPr>
          <p:cNvPicPr>
            <a:picLocks xmlns:a="http://schemas.openxmlformats.org/drawingml/2006/main" noChangeAspect="1"/>
          </p:cNvPicPr>
          <p:nvPr/>
        </p:nvPicPr>
        <p:blipFill>
          <a:blip xmlns:r="http://schemas.openxmlformats.org/officeDocument/2006/relationships" xmlns:a="http://schemas.openxmlformats.org/drawingml/2006/main" r:embed="R5e31ef02a8f74cad"/>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직사각형 6">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직사각형 7">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직사각형 8">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2026-10-12T00:52:23.0000000Z</dcterms:created>
  <dcterms:modified xsi:type="dcterms:W3CDTF">2026-10-12T00:52:23.0000000Z</dcterms:modified>
</coreProperties>
</file>